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0" r:id="rId3"/>
    <p:sldId id="262" r:id="rId4"/>
    <p:sldId id="256" r:id="rId5"/>
    <p:sldId id="257" r:id="rId6"/>
    <p:sldId id="259" r:id="rId7"/>
    <p:sldId id="25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90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6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5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1E2F2-5518-4696-EDB1-BCA2BABA89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924059-2796-F882-BDDC-7A992ADAAE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D85900-12A8-AFC6-53F1-7AC3B8E8F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86F11-A80E-4576-BDF9-170DB6CF1BA9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6EEA8D-A871-B5E2-B6E2-A86F99A4A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C6E56-6E81-7150-9436-41FDF29B6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CA8F3-5F3D-43B2-AFB0-340DB619DC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997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CA2AD-D3F1-104B-43C4-C98A53DD8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2396D3-F615-112B-0D62-B216537E7D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5F0028-2BA0-AA8B-78A9-2BC0C0719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86F11-A80E-4576-BDF9-170DB6CF1BA9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61E7F3-56EC-9686-1F2A-C2BFC7F00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9B95D5-C089-2C58-BE64-DE27BD34F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CA8F3-5F3D-43B2-AFB0-340DB619DC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0466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9AA9F-247B-F536-BF0B-2C6FBE8E8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6F9E39-0A72-248B-6276-8C4DC73C96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1F9C8B-9D9D-B146-DC8C-2FAE68CB9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86F11-A80E-4576-BDF9-170DB6CF1BA9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9F34AE-3175-21A7-6477-55645B4CE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79119C-C184-89E0-26CF-5AE4CF41C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CA8F3-5F3D-43B2-AFB0-340DB619DC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602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2ECF5-0B40-F74D-C253-2C6CEADFB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143FBD-9120-C9F4-ECD3-ACC2195570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2C599D-354C-3982-1F12-4E8B07DE6C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D2F08E-D9F7-6E63-3DC6-0ADF8EA5C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86F11-A80E-4576-BDF9-170DB6CF1BA9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DDF47E-3C88-6FE2-C085-A656A1BEE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1E744E-ADB0-DE27-9873-A27E9621F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CA8F3-5F3D-43B2-AFB0-340DB619DC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746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B381D-34EA-D7D2-6CED-A02A9E87F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3DC916-9029-DFD3-2006-3E3D24B819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897B6E-E5D3-2A08-8ACF-01A643A84E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F337DA-81BA-13AB-2201-BA0E3C5B04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9C2A7D-69AB-82A3-5151-607066E554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C6754D-85E3-0667-A708-385B58B65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86F11-A80E-4576-BDF9-170DB6CF1BA9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A6469F-3F43-A528-7413-14115B8AA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139F6F-AA04-FD96-F3C4-658B47C1F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CA8F3-5F3D-43B2-AFB0-340DB619DC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518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000BD-7B4C-423C-8CDB-FBF16FD5A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B8289B-3780-CC20-D1D0-C9C041D8C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86F11-A80E-4576-BDF9-170DB6CF1BA9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63A468-C3F4-E8C1-0A8C-5CA8CA304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7C5CA6-6EA9-7486-D2A7-2C7F2629E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CA8F3-5F3D-43B2-AFB0-340DB619DC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1017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4A050E-2A2F-3EC4-5B6F-505903B5A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86F11-A80E-4576-BDF9-170DB6CF1BA9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F5D36B-F4A8-46F5-DFA0-0A5938446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30CCAA-BCBD-CA17-DFDE-098D7E744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CA8F3-5F3D-43B2-AFB0-340DB619DC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886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80C98-DE47-F22E-3F33-2E4065706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836240-87A2-0AB7-F5B7-77D37E2FEF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5C218-A1A4-D833-2515-76C29709C7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8C0DEF-E3DF-9A63-E0CE-912AE7669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86F11-A80E-4576-BDF9-170DB6CF1BA9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445688-A420-23D7-016E-C93F6B771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30EB13-B69E-F8C5-CC8F-E356E2992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CA8F3-5F3D-43B2-AFB0-340DB619DC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6631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92635-6BD6-333E-9AD0-22916A17D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88933B-CE73-EBFE-9DF3-646CF9F7C3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90F3DB-8072-9586-8621-668620A257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81B670-A5F3-42C7-796C-4EB626B1A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86F11-A80E-4576-BDF9-170DB6CF1BA9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7E5724-E406-855B-4136-2B765CAA6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3AE010-25E2-0B8E-1687-4EA26993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CA8F3-5F3D-43B2-AFB0-340DB619DC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245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91931-3430-D9BE-C32E-E2D891DF9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7C0E20-2FB3-4912-9DEC-7170713953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03C54D-1A57-0F12-9C5F-21C86CED0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86F11-A80E-4576-BDF9-170DB6CF1BA9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724992-4B48-1992-A4DF-6D7E543AB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871E17-2848-F9A2-57AC-3513BD248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CA8F3-5F3D-43B2-AFB0-340DB619DC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4232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F34ECE-BACA-66BB-10C3-110FA5ABEE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BB102A-5702-BA8D-AF07-CAF74E3155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9AEB4D-FE00-1500-A5D2-564F677E3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86F11-A80E-4576-BDF9-170DB6CF1BA9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9ED315-2FE0-43BD-BF0F-960E6AC98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CBBE32-810F-D1CC-061A-4E660A45D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CA8F3-5F3D-43B2-AFB0-340DB619DC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202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3CE61E-89C2-C810-276F-F812C44ED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AF8FCF-11EB-03B1-D5C4-020FCBEB2E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675977-BA82-321F-0FF7-D5F56061DC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386F11-A80E-4576-BDF9-170DB6CF1BA9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8F7522-3F29-1FFE-69EB-82487A278E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E9FF44-0D55-31D7-0A3E-77F523F592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7CA8F3-5F3D-43B2-AFB0-340DB619DC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80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3.jpeg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ithub.com/ALSETLab/efmi-pss-use-case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31CFB-030F-DCD8-A26B-1488C27D6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20DE99AB-2590-DA15-00EF-3DBA0302FA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710"/>
          <a:stretch>
            <a:fillRect/>
          </a:stretch>
        </p:blipFill>
        <p:spPr>
          <a:xfrm>
            <a:off x="6849569" y="4533376"/>
            <a:ext cx="4425074" cy="1018311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F5C68C6F-AE0B-81AA-2F0B-FE6A8BF88554}"/>
              </a:ext>
            </a:extLst>
          </p:cNvPr>
          <p:cNvSpPr/>
          <p:nvPr/>
        </p:nvSpPr>
        <p:spPr>
          <a:xfrm>
            <a:off x="8288381" y="4419571"/>
            <a:ext cx="2766767" cy="1211344"/>
          </a:xfrm>
          <a:prstGeom prst="rect">
            <a:avLst/>
          </a:pr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A91523FD-34C8-3566-0CDE-9DADC762D9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710"/>
          <a:stretch>
            <a:fillRect/>
          </a:stretch>
        </p:blipFill>
        <p:spPr>
          <a:xfrm>
            <a:off x="6844844" y="1836777"/>
            <a:ext cx="4425074" cy="1018311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925D9ADD-0C6A-B3DF-33BA-2FEAFD136D5E}"/>
              </a:ext>
            </a:extLst>
          </p:cNvPr>
          <p:cNvSpPr/>
          <p:nvPr/>
        </p:nvSpPr>
        <p:spPr>
          <a:xfrm>
            <a:off x="6891794" y="1673604"/>
            <a:ext cx="1438812" cy="1211344"/>
          </a:xfrm>
          <a:prstGeom prst="rect">
            <a:avLst/>
          </a:prstGeom>
          <a:noFill/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D648C41-E278-4128-4822-AE5AF482A41E}"/>
              </a:ext>
            </a:extLst>
          </p:cNvPr>
          <p:cNvSpPr txBox="1"/>
          <p:nvPr/>
        </p:nvSpPr>
        <p:spPr>
          <a:xfrm>
            <a:off x="6700154" y="2884948"/>
            <a:ext cx="24899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eFMU: </a:t>
            </a:r>
            <a:r>
              <a:rPr lang="en-US" dirty="0" err="1">
                <a:solidFill>
                  <a:schemeClr val="accent3"/>
                </a:solidFill>
              </a:rPr>
              <a:t>efmuPSS</a:t>
            </a:r>
            <a:r>
              <a:rPr lang="en-US" dirty="0">
                <a:solidFill>
                  <a:schemeClr val="accent3"/>
                </a:solidFill>
              </a:rPr>
              <a:t>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95E62DE-0C12-DDE5-3D92-CE237CB027BA}"/>
              </a:ext>
            </a:extLst>
          </p:cNvPr>
          <p:cNvSpPr txBox="1"/>
          <p:nvPr/>
        </p:nvSpPr>
        <p:spPr>
          <a:xfrm>
            <a:off x="8837725" y="5679287"/>
            <a:ext cx="1764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eFMU: </a:t>
            </a:r>
            <a:r>
              <a:rPr lang="en-US" dirty="0" err="1">
                <a:solidFill>
                  <a:srgbClr val="FF0000"/>
                </a:solidFill>
              </a:rPr>
              <a:t>CHILTest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CA7D8B-7378-C67E-F149-4483D53D427D}"/>
              </a:ext>
            </a:extLst>
          </p:cNvPr>
          <p:cNvSpPr/>
          <p:nvPr/>
        </p:nvSpPr>
        <p:spPr>
          <a:xfrm>
            <a:off x="8362248" y="5215623"/>
            <a:ext cx="1103284" cy="369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Model of </a:t>
            </a:r>
            <a:r>
              <a:rPr lang="en-US" sz="1400" dirty="0" err="1"/>
              <a:t>Unitrol</a:t>
            </a:r>
            <a:endParaRPr lang="en-US" sz="1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DFEC73E-0916-B301-0672-B92B7AD23ECD}"/>
              </a:ext>
            </a:extLst>
          </p:cNvPr>
          <p:cNvSpPr/>
          <p:nvPr/>
        </p:nvSpPr>
        <p:spPr>
          <a:xfrm>
            <a:off x="6922326" y="3949296"/>
            <a:ext cx="1219432" cy="3693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stm32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FEE04E0-EAD7-C142-5877-48C6B02CFC93}"/>
              </a:ext>
            </a:extLst>
          </p:cNvPr>
          <p:cNvSpPr/>
          <p:nvPr/>
        </p:nvSpPr>
        <p:spPr>
          <a:xfrm>
            <a:off x="6812636" y="4427717"/>
            <a:ext cx="1438812" cy="1211344"/>
          </a:xfrm>
          <a:prstGeom prst="rect">
            <a:avLst/>
          </a:prstGeom>
          <a:noFill/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7401CE0-F657-EB56-2A56-F9F16D41DEDA}"/>
              </a:ext>
            </a:extLst>
          </p:cNvPr>
          <p:cNvSpPr txBox="1"/>
          <p:nvPr/>
        </p:nvSpPr>
        <p:spPr>
          <a:xfrm>
            <a:off x="6572205" y="5660775"/>
            <a:ext cx="24899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eFMU: </a:t>
            </a:r>
            <a:r>
              <a:rPr lang="en-US" dirty="0" err="1">
                <a:solidFill>
                  <a:schemeClr val="accent3"/>
                </a:solidFill>
              </a:rPr>
              <a:t>efmuPSS</a:t>
            </a:r>
            <a:r>
              <a:rPr lang="en-US" dirty="0">
                <a:solidFill>
                  <a:schemeClr val="accent3"/>
                </a:solidFill>
              </a:rPr>
              <a:t> 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66980175-B8F8-1072-5C2F-1281AB84C689}"/>
              </a:ext>
            </a:extLst>
          </p:cNvPr>
          <p:cNvSpPr/>
          <p:nvPr/>
        </p:nvSpPr>
        <p:spPr>
          <a:xfrm>
            <a:off x="5913247" y="1004619"/>
            <a:ext cx="666750" cy="69532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96BB4667-6451-E1C2-76EC-C65160436C39}"/>
              </a:ext>
            </a:extLst>
          </p:cNvPr>
          <p:cNvSpPr/>
          <p:nvPr/>
        </p:nvSpPr>
        <p:spPr>
          <a:xfrm>
            <a:off x="5913247" y="3703010"/>
            <a:ext cx="666750" cy="69532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5C2683F-8BC5-A2A4-4174-305F42F252BA}"/>
              </a:ext>
            </a:extLst>
          </p:cNvPr>
          <p:cNvSpPr/>
          <p:nvPr/>
        </p:nvSpPr>
        <p:spPr>
          <a:xfrm>
            <a:off x="8282721" y="3949296"/>
            <a:ext cx="2778087" cy="3693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stm32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9C67AA-A4B7-C918-D1D9-5BE75005D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eFMU Deployment (1/2)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40B54FE-8360-334B-0F3F-AC1E0F61F2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75047" cy="435133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000" dirty="0"/>
              <a:t>Software in the Loop Testing: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sz="1800" dirty="0">
                <a:solidFill>
                  <a:schemeClr val="accent3"/>
                </a:solidFill>
              </a:rPr>
              <a:t>Green eFMU </a:t>
            </a:r>
            <a:r>
              <a:rPr lang="en-US" sz="1800" dirty="0"/>
              <a:t>is generated for the PSS controller and the production code is tested within the simulator.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Controller Hardware-in-the-Loop Test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sz="1800" dirty="0">
                <a:solidFill>
                  <a:schemeClr val="accent3"/>
                </a:solidFill>
              </a:rPr>
              <a:t>Green eFMU </a:t>
            </a:r>
            <a:r>
              <a:rPr lang="en-US" sz="1800" dirty="0"/>
              <a:t>is deployed in </a:t>
            </a:r>
            <a:r>
              <a:rPr lang="en-US" sz="1800" dirty="0" err="1"/>
              <a:t>Nucleo</a:t>
            </a:r>
            <a:r>
              <a:rPr lang="en-US" sz="1800" dirty="0"/>
              <a:t> board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sz="1800" dirty="0">
                <a:solidFill>
                  <a:srgbClr val="FF0000"/>
                </a:solidFill>
              </a:rPr>
              <a:t>Red eFMU – </a:t>
            </a:r>
            <a:r>
              <a:rPr lang="en-US" sz="1800" dirty="0" err="1">
                <a:solidFill>
                  <a:srgbClr val="FF0000"/>
                </a:solidFill>
              </a:rPr>
              <a:t>CHILTest</a:t>
            </a:r>
            <a:r>
              <a:rPr lang="en-US" sz="1800" dirty="0"/>
              <a:t> – is deployed in another </a:t>
            </a:r>
            <a:r>
              <a:rPr lang="en-US" sz="1800" dirty="0" err="1"/>
              <a:t>Nucleo</a:t>
            </a:r>
            <a:r>
              <a:rPr lang="en-US" sz="1800" dirty="0"/>
              <a:t> board</a:t>
            </a:r>
          </a:p>
          <a:p>
            <a:pPr marL="971550" lvl="1" indent="-514350">
              <a:buFont typeface="+mj-lt"/>
              <a:buAutoNum type="alphaLcParenR"/>
            </a:pPr>
            <a:endParaRPr lang="en-US" sz="18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3D8677-F7C8-2ABE-5557-EF8D6A965A04}"/>
              </a:ext>
            </a:extLst>
          </p:cNvPr>
          <p:cNvSpPr/>
          <p:nvPr/>
        </p:nvSpPr>
        <p:spPr>
          <a:xfrm>
            <a:off x="6891794" y="1210879"/>
            <a:ext cx="4163354" cy="369333"/>
          </a:xfrm>
          <a:prstGeom prst="rect">
            <a:avLst/>
          </a:prstGeom>
          <a:solidFill>
            <a:srgbClr val="1F90C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All in Simulator : Dymola</a:t>
            </a:r>
          </a:p>
        </p:txBody>
      </p:sp>
      <p:sp>
        <p:nvSpPr>
          <p:cNvPr id="8" name="AutoShape 2" descr="ABB Unitrol 1020-0006 3BHE030579R0006 Automatic Voltage Regulator In ...">
            <a:extLst>
              <a:ext uri="{FF2B5EF4-FFF2-40B4-BE49-F238E27FC236}">
                <a16:creationId xmlns:a16="http://schemas.microsoft.com/office/drawing/2014/main" id="{473FC788-D0A0-63C9-B09B-985D6716711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AutoShape 8">
            <a:extLst>
              <a:ext uri="{FF2B5EF4-FFF2-40B4-BE49-F238E27FC236}">
                <a16:creationId xmlns:a16="http://schemas.microsoft.com/office/drawing/2014/main" id="{36FA0358-B177-E366-6BC6-772C3068181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314686" y="4760927"/>
            <a:ext cx="132805" cy="132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34" name="Picture 10">
            <a:extLst>
              <a:ext uri="{FF2B5EF4-FFF2-40B4-BE49-F238E27FC236}">
                <a16:creationId xmlns:a16="http://schemas.microsoft.com/office/drawing/2014/main" id="{E95784CC-DBB8-EA0B-684A-8169282CFD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9505" y="6930262"/>
            <a:ext cx="1361255" cy="2278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B1A255E0-4752-D42A-51A3-43F86B3B89C9}"/>
              </a:ext>
            </a:extLst>
          </p:cNvPr>
          <p:cNvSpPr txBox="1"/>
          <p:nvPr/>
        </p:nvSpPr>
        <p:spPr>
          <a:xfrm>
            <a:off x="3559757" y="6401799"/>
            <a:ext cx="2144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CHILTest</a:t>
            </a:r>
            <a:r>
              <a:rPr lang="en-US" dirty="0">
                <a:solidFill>
                  <a:srgbClr val="FF0000"/>
                </a:solidFill>
              </a:rPr>
              <a:t> in G474RE</a:t>
            </a:r>
          </a:p>
        </p:txBody>
      </p:sp>
      <p:pic>
        <p:nvPicPr>
          <p:cNvPr id="1040" name="Picture 16" descr="NUCLEO-F303RE | Product - STMicroelectronics">
            <a:extLst>
              <a:ext uri="{FF2B5EF4-FFF2-40B4-BE49-F238E27FC236}">
                <a16:creationId xmlns:a16="http://schemas.microsoft.com/office/drawing/2014/main" id="{45D70069-DFD5-8D34-82DD-773BC39358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3883" y="4427717"/>
            <a:ext cx="1790764" cy="2097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6F78687B-D2F8-4B33-93D3-ED1AC2AFADE5}"/>
              </a:ext>
            </a:extLst>
          </p:cNvPr>
          <p:cNvSpPr txBox="1"/>
          <p:nvPr/>
        </p:nvSpPr>
        <p:spPr>
          <a:xfrm>
            <a:off x="1077607" y="6401799"/>
            <a:ext cx="24899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solidFill>
                  <a:schemeClr val="accent3"/>
                </a:solidFill>
              </a:rPr>
              <a:t>efmuPSS</a:t>
            </a:r>
            <a:r>
              <a:rPr lang="en-US" dirty="0">
                <a:solidFill>
                  <a:schemeClr val="accent3"/>
                </a:solidFill>
              </a:rPr>
              <a:t>  in F303RE</a:t>
            </a:r>
          </a:p>
        </p:txBody>
      </p:sp>
      <p:pic>
        <p:nvPicPr>
          <p:cNvPr id="1042" name="Picture 18" descr="NUCLEO-G474RE - STM32 Nucleo-64 development board with STM32G474RE MCU ...">
            <a:extLst>
              <a:ext uri="{FF2B5EF4-FFF2-40B4-BE49-F238E27FC236}">
                <a16:creationId xmlns:a16="http://schemas.microsoft.com/office/drawing/2014/main" id="{474D2EC2-7281-C609-BC1A-C13DC20008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1278" y="4533376"/>
            <a:ext cx="1705531" cy="1949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0A53A1FA-193A-5177-76A2-C873A64EF857}"/>
              </a:ext>
            </a:extLst>
          </p:cNvPr>
          <p:cNvSpPr/>
          <p:nvPr/>
        </p:nvSpPr>
        <p:spPr>
          <a:xfrm>
            <a:off x="2818949" y="4879248"/>
            <a:ext cx="1450055" cy="719699"/>
          </a:xfrm>
          <a:custGeom>
            <a:avLst/>
            <a:gdLst>
              <a:gd name="csX0" fmla="*/ 0 w 1176769"/>
              <a:gd name="csY0" fmla="*/ 634205 h 719699"/>
              <a:gd name="csX1" fmla="*/ 405799 w 1176769"/>
              <a:gd name="csY1" fmla="*/ 504350 h 719699"/>
              <a:gd name="csX2" fmla="*/ 568118 w 1176769"/>
              <a:gd name="csY2" fmla="*/ 1159 h 719699"/>
              <a:gd name="csX3" fmla="*/ 1120005 w 1176769"/>
              <a:gd name="csY3" fmla="*/ 661259 h 719699"/>
              <a:gd name="csX4" fmla="*/ 1130826 w 1176769"/>
              <a:gd name="csY4" fmla="*/ 645027 h 719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76769" h="719699">
                <a:moveTo>
                  <a:pt x="0" y="634205"/>
                </a:moveTo>
                <a:cubicBezTo>
                  <a:pt x="155556" y="622031"/>
                  <a:pt x="311113" y="609858"/>
                  <a:pt x="405799" y="504350"/>
                </a:cubicBezTo>
                <a:cubicBezTo>
                  <a:pt x="500485" y="398842"/>
                  <a:pt x="449084" y="-24993"/>
                  <a:pt x="568118" y="1159"/>
                </a:cubicBezTo>
                <a:cubicBezTo>
                  <a:pt x="687152" y="27310"/>
                  <a:pt x="1026220" y="553948"/>
                  <a:pt x="1120005" y="661259"/>
                </a:cubicBezTo>
                <a:cubicBezTo>
                  <a:pt x="1213790" y="768570"/>
                  <a:pt x="1172308" y="706798"/>
                  <a:pt x="1130826" y="645027"/>
                </a:cubicBezTo>
              </a:path>
            </a:pathLst>
          </a:cu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82CBBD45-3AFD-E374-8825-6FB29C99FF1D}"/>
              </a:ext>
            </a:extLst>
          </p:cNvPr>
          <p:cNvSpPr/>
          <p:nvPr/>
        </p:nvSpPr>
        <p:spPr>
          <a:xfrm>
            <a:off x="2818965" y="5463933"/>
            <a:ext cx="1450039" cy="719699"/>
          </a:xfrm>
          <a:custGeom>
            <a:avLst/>
            <a:gdLst>
              <a:gd name="csX0" fmla="*/ 0 w 1176769"/>
              <a:gd name="csY0" fmla="*/ 634205 h 719699"/>
              <a:gd name="csX1" fmla="*/ 405799 w 1176769"/>
              <a:gd name="csY1" fmla="*/ 504350 h 719699"/>
              <a:gd name="csX2" fmla="*/ 568118 w 1176769"/>
              <a:gd name="csY2" fmla="*/ 1159 h 719699"/>
              <a:gd name="csX3" fmla="*/ 1120005 w 1176769"/>
              <a:gd name="csY3" fmla="*/ 661259 h 719699"/>
              <a:gd name="csX4" fmla="*/ 1130826 w 1176769"/>
              <a:gd name="csY4" fmla="*/ 645027 h 719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76769" h="719699">
                <a:moveTo>
                  <a:pt x="0" y="634205"/>
                </a:moveTo>
                <a:cubicBezTo>
                  <a:pt x="155556" y="622031"/>
                  <a:pt x="311113" y="609858"/>
                  <a:pt x="405799" y="504350"/>
                </a:cubicBezTo>
                <a:cubicBezTo>
                  <a:pt x="500485" y="398842"/>
                  <a:pt x="449084" y="-24993"/>
                  <a:pt x="568118" y="1159"/>
                </a:cubicBezTo>
                <a:cubicBezTo>
                  <a:pt x="687152" y="27310"/>
                  <a:pt x="1026220" y="553948"/>
                  <a:pt x="1120005" y="661259"/>
                </a:cubicBezTo>
                <a:cubicBezTo>
                  <a:pt x="1213790" y="768570"/>
                  <a:pt x="1172308" y="706798"/>
                  <a:pt x="1130826" y="645027"/>
                </a:cubicBezTo>
              </a:path>
            </a:pathLst>
          </a:cu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CD4F3D2-5F14-39A3-2DD0-C05EBEF89DA0}"/>
              </a:ext>
            </a:extLst>
          </p:cNvPr>
          <p:cNvSpPr txBox="1"/>
          <p:nvPr/>
        </p:nvSpPr>
        <p:spPr>
          <a:xfrm>
            <a:off x="3003806" y="5133636"/>
            <a:ext cx="1143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Analog IO</a:t>
            </a:r>
          </a:p>
        </p:txBody>
      </p:sp>
    </p:spTree>
    <p:extLst>
      <p:ext uri="{BB962C8B-B14F-4D97-AF65-F5344CB8AC3E}">
        <p14:creationId xmlns:p14="http://schemas.microsoft.com/office/powerpoint/2010/main" val="41747701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BC4AE8BC-5965-AB68-5C88-849BC5B80F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710"/>
          <a:stretch>
            <a:fillRect/>
          </a:stretch>
        </p:blipFill>
        <p:spPr>
          <a:xfrm>
            <a:off x="-1555360" y="10594320"/>
            <a:ext cx="4425074" cy="1018311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5B036BD1-AE4C-7FF6-DCEF-DAEC764B67E6}"/>
              </a:ext>
            </a:extLst>
          </p:cNvPr>
          <p:cNvSpPr/>
          <p:nvPr/>
        </p:nvSpPr>
        <p:spPr>
          <a:xfrm>
            <a:off x="1090083" y="10480515"/>
            <a:ext cx="1560136" cy="1211344"/>
          </a:xfrm>
          <a:prstGeom prst="rect">
            <a:avLst/>
          </a:pr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3EFD130-0886-10D5-E76C-6FFD5426C366}"/>
              </a:ext>
            </a:extLst>
          </p:cNvPr>
          <p:cNvSpPr txBox="1"/>
          <p:nvPr/>
        </p:nvSpPr>
        <p:spPr>
          <a:xfrm>
            <a:off x="986736" y="10111183"/>
            <a:ext cx="17668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eFMU: Grid4HIL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123B30-B219-F2A4-0C27-C71F03841A87}"/>
              </a:ext>
            </a:extLst>
          </p:cNvPr>
          <p:cNvSpPr/>
          <p:nvPr/>
        </p:nvSpPr>
        <p:spPr>
          <a:xfrm>
            <a:off x="-1445670" y="10295846"/>
            <a:ext cx="1219432" cy="3693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stm32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6FDBAEF-0788-AE32-9928-864E7F3513B1}"/>
              </a:ext>
            </a:extLst>
          </p:cNvPr>
          <p:cNvSpPr/>
          <p:nvPr/>
        </p:nvSpPr>
        <p:spPr>
          <a:xfrm>
            <a:off x="-177794" y="10295846"/>
            <a:ext cx="1219432" cy="3693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Unitrol</a:t>
            </a:r>
            <a:endParaRPr lang="en-US" dirty="0"/>
          </a:p>
        </p:txBody>
      </p:sp>
      <p:pic>
        <p:nvPicPr>
          <p:cNvPr id="13" name="Picture 12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9E439FE8-6A88-01A3-3DFA-8A94AF8FBB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710"/>
          <a:stretch>
            <a:fillRect/>
          </a:stretch>
        </p:blipFill>
        <p:spPr>
          <a:xfrm>
            <a:off x="-1555360" y="8725730"/>
            <a:ext cx="4425074" cy="1018311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B173D409-FDBC-ED1B-AA94-A9D535E282AA}"/>
              </a:ext>
            </a:extLst>
          </p:cNvPr>
          <p:cNvSpPr/>
          <p:nvPr/>
        </p:nvSpPr>
        <p:spPr>
          <a:xfrm>
            <a:off x="-1445670" y="8193062"/>
            <a:ext cx="1219432" cy="3693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stm32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49B3119-8B55-D4A7-9721-1CA92824BAA9}"/>
              </a:ext>
            </a:extLst>
          </p:cNvPr>
          <p:cNvSpPr/>
          <p:nvPr/>
        </p:nvSpPr>
        <p:spPr>
          <a:xfrm>
            <a:off x="-1646264" y="10207052"/>
            <a:ext cx="1438812" cy="1211344"/>
          </a:xfrm>
          <a:prstGeom prst="rect">
            <a:avLst/>
          </a:prstGeom>
          <a:noFill/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9FDBF81-2717-C573-A644-43139521B12C}"/>
              </a:ext>
            </a:extLst>
          </p:cNvPr>
          <p:cNvSpPr txBox="1"/>
          <p:nvPr/>
        </p:nvSpPr>
        <p:spPr>
          <a:xfrm>
            <a:off x="-1905745" y="9539364"/>
            <a:ext cx="24899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eFMU: </a:t>
            </a:r>
            <a:r>
              <a:rPr lang="en-US" dirty="0" err="1">
                <a:solidFill>
                  <a:schemeClr val="accent3"/>
                </a:solidFill>
              </a:rPr>
              <a:t>efmuPSS</a:t>
            </a:r>
            <a:r>
              <a:rPr lang="en-US" dirty="0">
                <a:solidFill>
                  <a:schemeClr val="accent3"/>
                </a:solidFill>
              </a:rPr>
              <a:t> 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6349BD0-0DDB-60AC-4CF8-AD21DB6E4294}"/>
              </a:ext>
            </a:extLst>
          </p:cNvPr>
          <p:cNvSpPr/>
          <p:nvPr/>
        </p:nvSpPr>
        <p:spPr>
          <a:xfrm>
            <a:off x="-1613831" y="8704015"/>
            <a:ext cx="1406379" cy="918825"/>
          </a:xfrm>
          <a:prstGeom prst="rect">
            <a:avLst/>
          </a:prstGeom>
          <a:noFill/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6B1B71C-3AFB-B89B-28A3-CC7C3A401DF1}"/>
              </a:ext>
            </a:extLst>
          </p:cNvPr>
          <p:cNvSpPr txBox="1"/>
          <p:nvPr/>
        </p:nvSpPr>
        <p:spPr>
          <a:xfrm>
            <a:off x="-1734295" y="11592510"/>
            <a:ext cx="24899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eFMU: </a:t>
            </a:r>
            <a:r>
              <a:rPr lang="en-US" dirty="0" err="1">
                <a:solidFill>
                  <a:schemeClr val="accent3"/>
                </a:solidFill>
              </a:rPr>
              <a:t>efmuPSS</a:t>
            </a:r>
            <a:r>
              <a:rPr lang="en-US" dirty="0">
                <a:solidFill>
                  <a:schemeClr val="accent3"/>
                </a:solidFill>
              </a:rPr>
              <a:t> 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C7EFA42-BF84-D966-13D2-172D833A1B17}"/>
              </a:ext>
            </a:extLst>
          </p:cNvPr>
          <p:cNvSpPr/>
          <p:nvPr/>
        </p:nvSpPr>
        <p:spPr>
          <a:xfrm>
            <a:off x="-139046" y="8176620"/>
            <a:ext cx="1219432" cy="3693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Unitrol</a:t>
            </a:r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BC5510E-4550-F5C4-343B-9C759CEBA5CE}"/>
              </a:ext>
            </a:extLst>
          </p:cNvPr>
          <p:cNvSpPr/>
          <p:nvPr/>
        </p:nvSpPr>
        <p:spPr>
          <a:xfrm>
            <a:off x="1167578" y="8176620"/>
            <a:ext cx="1312289" cy="3693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Gen + Grid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8892FEFA-4E46-F66E-78C4-292C8FEFE887}"/>
              </a:ext>
            </a:extLst>
          </p:cNvPr>
          <p:cNvSpPr/>
          <p:nvPr/>
        </p:nvSpPr>
        <p:spPr>
          <a:xfrm>
            <a:off x="2857625" y="10665179"/>
            <a:ext cx="666750" cy="695325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86D06A4C-1CE2-D00C-618A-74D5FA3A1CBA}"/>
              </a:ext>
            </a:extLst>
          </p:cNvPr>
          <p:cNvSpPr/>
          <p:nvPr/>
        </p:nvSpPr>
        <p:spPr>
          <a:xfrm>
            <a:off x="2906571" y="8727901"/>
            <a:ext cx="666750" cy="695325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A0A31671-4F30-5AB1-C446-D4CDAC5FDF15}"/>
              </a:ext>
            </a:extLst>
          </p:cNvPr>
          <p:cNvSpPr/>
          <p:nvPr/>
        </p:nvSpPr>
        <p:spPr>
          <a:xfrm>
            <a:off x="1060603" y="11775457"/>
            <a:ext cx="1589616" cy="246341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Typhoon-HIL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845872E-9165-CEE9-55DD-8C88FBB59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eFMU Deployment (2/2)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A0CE523-8D23-2482-90A3-AA74547B0A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75047" cy="4351338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en-US" dirty="0"/>
              <a:t>Hardware-in-the-loop Experiment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sz="1800" dirty="0">
                <a:solidFill>
                  <a:schemeClr val="accent3"/>
                </a:solidFill>
              </a:rPr>
              <a:t>Green eFMU </a:t>
            </a:r>
            <a:r>
              <a:rPr lang="en-US" sz="1800" dirty="0"/>
              <a:t>is deployed in </a:t>
            </a:r>
            <a:r>
              <a:rPr lang="en-US" sz="1800" dirty="0" err="1"/>
              <a:t>Nucleo</a:t>
            </a:r>
            <a:r>
              <a:rPr lang="en-US" sz="1800" dirty="0"/>
              <a:t> board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sz="1800" dirty="0">
                <a:solidFill>
                  <a:schemeClr val="accent5"/>
                </a:solidFill>
              </a:rPr>
              <a:t>Magenta eFMU – Grid4HIL </a:t>
            </a:r>
            <a:r>
              <a:rPr lang="en-US" sz="1800" dirty="0"/>
              <a:t>– is deployed in another </a:t>
            </a:r>
            <a:r>
              <a:rPr lang="en-US" sz="1800" dirty="0" err="1"/>
              <a:t>Nucleo</a:t>
            </a:r>
            <a:r>
              <a:rPr lang="en-US" sz="1800" dirty="0"/>
              <a:t> board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sz="1800" dirty="0"/>
              <a:t>An </a:t>
            </a:r>
            <a:r>
              <a:rPr lang="en-US" sz="1800" dirty="0" err="1"/>
              <a:t>Unitrol</a:t>
            </a:r>
            <a:r>
              <a:rPr lang="en-US" sz="1800" dirty="0"/>
              <a:t> is a “real-world”  generator excitation control system receives the input from the PSS via analog input, and the </a:t>
            </a:r>
            <a:r>
              <a:rPr lang="en-US" sz="1800" dirty="0" err="1"/>
              <a:t>Unitrol</a:t>
            </a:r>
            <a:r>
              <a:rPr lang="en-US" sz="1800" dirty="0"/>
              <a:t> is interfaced with the Typhoon-HIL real-time simulator using a HIL-Connect box for signal conditioning.</a:t>
            </a:r>
            <a:endParaRPr lang="en-US" dirty="0"/>
          </a:p>
          <a:p>
            <a:pPr marL="514350" indent="-514350">
              <a:buFont typeface="+mj-lt"/>
              <a:buAutoNum type="arabicPeriod" startAt="3"/>
            </a:pPr>
            <a:r>
              <a:rPr lang="en-US" dirty="0"/>
              <a:t>Controller Deployment in the field</a:t>
            </a:r>
          </a:p>
          <a:p>
            <a:pPr lvl="1"/>
            <a:r>
              <a:rPr lang="en-US" sz="1800" dirty="0"/>
              <a:t>We won’t do this yet; we need a fully physical generator setup to test it…</a:t>
            </a:r>
          </a:p>
        </p:txBody>
      </p:sp>
      <p:pic>
        <p:nvPicPr>
          <p:cNvPr id="10" name="Picture 9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246FBB5F-C147-4F53-69B5-526A727AA2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710"/>
          <a:stretch>
            <a:fillRect/>
          </a:stretch>
        </p:blipFill>
        <p:spPr>
          <a:xfrm>
            <a:off x="7004848" y="2308762"/>
            <a:ext cx="4507773" cy="101831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CE362B1-B624-B2F9-8653-6BAA73A07CA0}"/>
              </a:ext>
            </a:extLst>
          </p:cNvPr>
          <p:cNvSpPr/>
          <p:nvPr/>
        </p:nvSpPr>
        <p:spPr>
          <a:xfrm>
            <a:off x="9732990" y="2194957"/>
            <a:ext cx="1560136" cy="1211344"/>
          </a:xfrm>
          <a:prstGeom prst="rect">
            <a:avLst/>
          </a:prstGeom>
          <a:noFill/>
          <a:ln w="28575">
            <a:solidFill>
              <a:schemeClr val="accent5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66B99EE-7295-C5FE-4E55-472677629515}"/>
              </a:ext>
            </a:extLst>
          </p:cNvPr>
          <p:cNvSpPr txBox="1"/>
          <p:nvPr/>
        </p:nvSpPr>
        <p:spPr>
          <a:xfrm>
            <a:off x="9629643" y="3448524"/>
            <a:ext cx="17668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eFMU: Grid4HIL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FC901A8-2425-1CD0-E276-BAE7ACACF185}"/>
              </a:ext>
            </a:extLst>
          </p:cNvPr>
          <p:cNvSpPr/>
          <p:nvPr/>
        </p:nvSpPr>
        <p:spPr>
          <a:xfrm>
            <a:off x="7098321" y="1310592"/>
            <a:ext cx="1219432" cy="3693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stm32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35719B6-A25C-F091-B11D-832E112C81A1}"/>
              </a:ext>
            </a:extLst>
          </p:cNvPr>
          <p:cNvSpPr/>
          <p:nvPr/>
        </p:nvSpPr>
        <p:spPr>
          <a:xfrm>
            <a:off x="8479633" y="1291637"/>
            <a:ext cx="1219432" cy="3693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Unitrol</a:t>
            </a:r>
            <a:endParaRPr lang="en-US" dirty="0"/>
          </a:p>
        </p:txBody>
      </p:sp>
      <p:pic>
        <p:nvPicPr>
          <p:cNvPr id="38" name="Picture 37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8DB873B3-0568-D943-445B-53539D65C6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710"/>
          <a:stretch>
            <a:fillRect/>
          </a:stretch>
        </p:blipFill>
        <p:spPr>
          <a:xfrm>
            <a:off x="7063319" y="4698885"/>
            <a:ext cx="4425074" cy="1018311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DC65243A-BD3D-2C0E-B3F7-EDC21EBA312D}"/>
              </a:ext>
            </a:extLst>
          </p:cNvPr>
          <p:cNvSpPr/>
          <p:nvPr/>
        </p:nvSpPr>
        <p:spPr>
          <a:xfrm>
            <a:off x="6908612" y="4166217"/>
            <a:ext cx="1483829" cy="3693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stm32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6A9FBAF-F578-25EE-72C4-8985500BD757}"/>
              </a:ext>
            </a:extLst>
          </p:cNvPr>
          <p:cNvSpPr/>
          <p:nvPr/>
        </p:nvSpPr>
        <p:spPr>
          <a:xfrm>
            <a:off x="7098321" y="2250874"/>
            <a:ext cx="1262446" cy="903304"/>
          </a:xfrm>
          <a:prstGeom prst="rect">
            <a:avLst/>
          </a:prstGeom>
          <a:noFill/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105A279-FB58-ACCC-ACC6-66FDC685290F}"/>
              </a:ext>
            </a:extLst>
          </p:cNvPr>
          <p:cNvSpPr txBox="1"/>
          <p:nvPr/>
        </p:nvSpPr>
        <p:spPr>
          <a:xfrm>
            <a:off x="6712934" y="5512519"/>
            <a:ext cx="24899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eFMU: </a:t>
            </a:r>
            <a:r>
              <a:rPr lang="en-US" dirty="0" err="1">
                <a:solidFill>
                  <a:schemeClr val="accent3"/>
                </a:solidFill>
              </a:rPr>
              <a:t>efmuPSS</a:t>
            </a:r>
            <a:r>
              <a:rPr lang="en-US" dirty="0">
                <a:solidFill>
                  <a:schemeClr val="accent3"/>
                </a:solidFill>
              </a:rPr>
              <a:t> 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E790544-2F8F-5883-B7A0-D60BE235AF69}"/>
              </a:ext>
            </a:extLst>
          </p:cNvPr>
          <p:cNvSpPr/>
          <p:nvPr/>
        </p:nvSpPr>
        <p:spPr>
          <a:xfrm>
            <a:off x="7004848" y="4677170"/>
            <a:ext cx="1406379" cy="918825"/>
          </a:xfrm>
          <a:prstGeom prst="rect">
            <a:avLst/>
          </a:prstGeom>
          <a:noFill/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98B5E7B-2D65-A6A2-E85E-4D1153445B09}"/>
              </a:ext>
            </a:extLst>
          </p:cNvPr>
          <p:cNvSpPr txBox="1"/>
          <p:nvPr/>
        </p:nvSpPr>
        <p:spPr>
          <a:xfrm>
            <a:off x="6908612" y="3306952"/>
            <a:ext cx="1885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eFMU: </a:t>
            </a:r>
            <a:r>
              <a:rPr lang="en-US" dirty="0" err="1">
                <a:solidFill>
                  <a:schemeClr val="accent3"/>
                </a:solidFill>
              </a:rPr>
              <a:t>efmuPSS</a:t>
            </a:r>
            <a:r>
              <a:rPr lang="en-US" dirty="0">
                <a:solidFill>
                  <a:schemeClr val="accent3"/>
                </a:solidFill>
              </a:rPr>
              <a:t> 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CEFFB10-536E-7B81-06D5-5FF969E6D9C7}"/>
              </a:ext>
            </a:extLst>
          </p:cNvPr>
          <p:cNvSpPr/>
          <p:nvPr/>
        </p:nvSpPr>
        <p:spPr>
          <a:xfrm>
            <a:off x="8479633" y="4149775"/>
            <a:ext cx="1219432" cy="3693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Unitrol</a:t>
            </a:r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1A28DAD-284F-50F3-394A-A8BE3782947E}"/>
              </a:ext>
            </a:extLst>
          </p:cNvPr>
          <p:cNvSpPr/>
          <p:nvPr/>
        </p:nvSpPr>
        <p:spPr>
          <a:xfrm>
            <a:off x="9786257" y="4149775"/>
            <a:ext cx="1312289" cy="3693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Gen + Grid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177749E5-FE99-16B9-27F0-BC451A14EE92}"/>
              </a:ext>
            </a:extLst>
          </p:cNvPr>
          <p:cNvSpPr/>
          <p:nvPr/>
        </p:nvSpPr>
        <p:spPr>
          <a:xfrm>
            <a:off x="6075127" y="1130300"/>
            <a:ext cx="666750" cy="69532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B0011941-2DA7-6E94-3052-8E3381FA6911}"/>
              </a:ext>
            </a:extLst>
          </p:cNvPr>
          <p:cNvSpPr/>
          <p:nvPr/>
        </p:nvSpPr>
        <p:spPr>
          <a:xfrm>
            <a:off x="6095905" y="4003560"/>
            <a:ext cx="666750" cy="69532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53A3E4E6-4293-2FDC-D272-B60A01EA8649}"/>
              </a:ext>
            </a:extLst>
          </p:cNvPr>
          <p:cNvSpPr/>
          <p:nvPr/>
        </p:nvSpPr>
        <p:spPr>
          <a:xfrm>
            <a:off x="9804319" y="1302153"/>
            <a:ext cx="1589616" cy="367814"/>
          </a:xfrm>
          <a:prstGeom prst="roundRect">
            <a:avLst>
              <a:gd name="adj" fmla="val 0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Typhoon-HIL</a:t>
            </a:r>
          </a:p>
        </p:txBody>
      </p:sp>
      <p:pic>
        <p:nvPicPr>
          <p:cNvPr id="51" name="Picture 50" descr="A close-up of a machine&#10;&#10;AI-generated content may be incorrect.">
            <a:extLst>
              <a:ext uri="{FF2B5EF4-FFF2-40B4-BE49-F238E27FC236}">
                <a16:creationId xmlns:a16="http://schemas.microsoft.com/office/drawing/2014/main" id="{5A423409-4F5C-1D9C-6EC3-815AB7BB79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4427" y="95277"/>
            <a:ext cx="687214" cy="1150245"/>
          </a:xfrm>
          <a:prstGeom prst="rect">
            <a:avLst/>
          </a:prstGeom>
        </p:spPr>
      </p:pic>
      <p:pic>
        <p:nvPicPr>
          <p:cNvPr id="2050" name="Picture 2" descr="Brochure – Quarbz Info Systems">
            <a:extLst>
              <a:ext uri="{FF2B5EF4-FFF2-40B4-BE49-F238E27FC236}">
                <a16:creationId xmlns:a16="http://schemas.microsoft.com/office/drawing/2014/main" id="{886526C7-1518-82E3-350A-72C4246C9D9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506" b="31891"/>
          <a:stretch>
            <a:fillRect/>
          </a:stretch>
        </p:blipFill>
        <p:spPr bwMode="auto">
          <a:xfrm>
            <a:off x="9709861" y="185348"/>
            <a:ext cx="1778532" cy="971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Picture 16" descr="NUCLEO-F303RE | Product - STMicroelectronics">
            <a:extLst>
              <a:ext uri="{FF2B5EF4-FFF2-40B4-BE49-F238E27FC236}">
                <a16:creationId xmlns:a16="http://schemas.microsoft.com/office/drawing/2014/main" id="{F25F14E9-BD2A-D45D-3240-DB70DC8D7D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6269" y="84650"/>
            <a:ext cx="979219" cy="1146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5A11E4CA-81CC-486F-EA1B-5268EB9491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8534860" y="4950709"/>
            <a:ext cx="2489901" cy="2489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Picture 16" descr="NUCLEO-F303RE | Product - STMicroelectronics">
            <a:extLst>
              <a:ext uri="{FF2B5EF4-FFF2-40B4-BE49-F238E27FC236}">
                <a16:creationId xmlns:a16="http://schemas.microsoft.com/office/drawing/2014/main" id="{2608B03D-79BC-947E-D470-7EC6D055BE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5265" y="5881851"/>
            <a:ext cx="815963" cy="955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B35EFBA7-51C9-E0A9-703C-3A4B01E531E1}"/>
              </a:ext>
            </a:extLst>
          </p:cNvPr>
          <p:cNvSpPr/>
          <p:nvPr/>
        </p:nvSpPr>
        <p:spPr>
          <a:xfrm>
            <a:off x="8146254" y="205898"/>
            <a:ext cx="666758" cy="285688"/>
          </a:xfrm>
          <a:custGeom>
            <a:avLst/>
            <a:gdLst>
              <a:gd name="csX0" fmla="*/ 0 w 1176769"/>
              <a:gd name="csY0" fmla="*/ 634205 h 719699"/>
              <a:gd name="csX1" fmla="*/ 405799 w 1176769"/>
              <a:gd name="csY1" fmla="*/ 504350 h 719699"/>
              <a:gd name="csX2" fmla="*/ 568118 w 1176769"/>
              <a:gd name="csY2" fmla="*/ 1159 h 719699"/>
              <a:gd name="csX3" fmla="*/ 1120005 w 1176769"/>
              <a:gd name="csY3" fmla="*/ 661259 h 719699"/>
              <a:gd name="csX4" fmla="*/ 1130826 w 1176769"/>
              <a:gd name="csY4" fmla="*/ 645027 h 719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76769" h="719699">
                <a:moveTo>
                  <a:pt x="0" y="634205"/>
                </a:moveTo>
                <a:cubicBezTo>
                  <a:pt x="155556" y="622031"/>
                  <a:pt x="311113" y="609858"/>
                  <a:pt x="405799" y="504350"/>
                </a:cubicBezTo>
                <a:cubicBezTo>
                  <a:pt x="500485" y="398842"/>
                  <a:pt x="449084" y="-24993"/>
                  <a:pt x="568118" y="1159"/>
                </a:cubicBezTo>
                <a:cubicBezTo>
                  <a:pt x="687152" y="27310"/>
                  <a:pt x="1026220" y="553948"/>
                  <a:pt x="1120005" y="661259"/>
                </a:cubicBezTo>
                <a:cubicBezTo>
                  <a:pt x="1213790" y="768570"/>
                  <a:pt x="1172308" y="706798"/>
                  <a:pt x="1130826" y="645027"/>
                </a:cubicBezTo>
              </a:path>
            </a:pathLst>
          </a:cu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943A083A-F355-4790-EA76-53396D032E7A}"/>
              </a:ext>
            </a:extLst>
          </p:cNvPr>
          <p:cNvSpPr/>
          <p:nvPr/>
        </p:nvSpPr>
        <p:spPr>
          <a:xfrm>
            <a:off x="8146269" y="790583"/>
            <a:ext cx="666751" cy="285688"/>
          </a:xfrm>
          <a:custGeom>
            <a:avLst/>
            <a:gdLst>
              <a:gd name="csX0" fmla="*/ 0 w 1176769"/>
              <a:gd name="csY0" fmla="*/ 634205 h 719699"/>
              <a:gd name="csX1" fmla="*/ 405799 w 1176769"/>
              <a:gd name="csY1" fmla="*/ 504350 h 719699"/>
              <a:gd name="csX2" fmla="*/ 568118 w 1176769"/>
              <a:gd name="csY2" fmla="*/ 1159 h 719699"/>
              <a:gd name="csX3" fmla="*/ 1120005 w 1176769"/>
              <a:gd name="csY3" fmla="*/ 661259 h 719699"/>
              <a:gd name="csX4" fmla="*/ 1130826 w 1176769"/>
              <a:gd name="csY4" fmla="*/ 645027 h 719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76769" h="719699">
                <a:moveTo>
                  <a:pt x="0" y="634205"/>
                </a:moveTo>
                <a:cubicBezTo>
                  <a:pt x="155556" y="622031"/>
                  <a:pt x="311113" y="609858"/>
                  <a:pt x="405799" y="504350"/>
                </a:cubicBezTo>
                <a:cubicBezTo>
                  <a:pt x="500485" y="398842"/>
                  <a:pt x="449084" y="-24993"/>
                  <a:pt x="568118" y="1159"/>
                </a:cubicBezTo>
                <a:cubicBezTo>
                  <a:pt x="687152" y="27310"/>
                  <a:pt x="1026220" y="553948"/>
                  <a:pt x="1120005" y="661259"/>
                </a:cubicBezTo>
                <a:cubicBezTo>
                  <a:pt x="1213790" y="768570"/>
                  <a:pt x="1172308" y="706798"/>
                  <a:pt x="1130826" y="645027"/>
                </a:cubicBezTo>
              </a:path>
            </a:pathLst>
          </a:cu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01D8C824-D43D-AE43-7401-F22D2A0A2CD6}"/>
              </a:ext>
            </a:extLst>
          </p:cNvPr>
          <p:cNvSpPr/>
          <p:nvPr/>
        </p:nvSpPr>
        <p:spPr>
          <a:xfrm>
            <a:off x="9481641" y="169928"/>
            <a:ext cx="666758" cy="285688"/>
          </a:xfrm>
          <a:custGeom>
            <a:avLst/>
            <a:gdLst>
              <a:gd name="csX0" fmla="*/ 0 w 1176769"/>
              <a:gd name="csY0" fmla="*/ 634205 h 719699"/>
              <a:gd name="csX1" fmla="*/ 405799 w 1176769"/>
              <a:gd name="csY1" fmla="*/ 504350 h 719699"/>
              <a:gd name="csX2" fmla="*/ 568118 w 1176769"/>
              <a:gd name="csY2" fmla="*/ 1159 h 719699"/>
              <a:gd name="csX3" fmla="*/ 1120005 w 1176769"/>
              <a:gd name="csY3" fmla="*/ 661259 h 719699"/>
              <a:gd name="csX4" fmla="*/ 1130826 w 1176769"/>
              <a:gd name="csY4" fmla="*/ 645027 h 719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76769" h="719699">
                <a:moveTo>
                  <a:pt x="0" y="634205"/>
                </a:moveTo>
                <a:cubicBezTo>
                  <a:pt x="155556" y="622031"/>
                  <a:pt x="311113" y="609858"/>
                  <a:pt x="405799" y="504350"/>
                </a:cubicBezTo>
                <a:cubicBezTo>
                  <a:pt x="500485" y="398842"/>
                  <a:pt x="449084" y="-24993"/>
                  <a:pt x="568118" y="1159"/>
                </a:cubicBezTo>
                <a:cubicBezTo>
                  <a:pt x="687152" y="27310"/>
                  <a:pt x="1026220" y="553948"/>
                  <a:pt x="1120005" y="661259"/>
                </a:cubicBezTo>
                <a:cubicBezTo>
                  <a:pt x="1213790" y="768570"/>
                  <a:pt x="1172308" y="706798"/>
                  <a:pt x="1130826" y="645027"/>
                </a:cubicBezTo>
              </a:path>
            </a:pathLst>
          </a:cu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620DF81F-76BD-8690-5035-1E0689B47F70}"/>
              </a:ext>
            </a:extLst>
          </p:cNvPr>
          <p:cNvSpPr/>
          <p:nvPr/>
        </p:nvSpPr>
        <p:spPr>
          <a:xfrm>
            <a:off x="9481656" y="754613"/>
            <a:ext cx="666751" cy="285688"/>
          </a:xfrm>
          <a:custGeom>
            <a:avLst/>
            <a:gdLst>
              <a:gd name="csX0" fmla="*/ 0 w 1176769"/>
              <a:gd name="csY0" fmla="*/ 634205 h 719699"/>
              <a:gd name="csX1" fmla="*/ 405799 w 1176769"/>
              <a:gd name="csY1" fmla="*/ 504350 h 719699"/>
              <a:gd name="csX2" fmla="*/ 568118 w 1176769"/>
              <a:gd name="csY2" fmla="*/ 1159 h 719699"/>
              <a:gd name="csX3" fmla="*/ 1120005 w 1176769"/>
              <a:gd name="csY3" fmla="*/ 661259 h 719699"/>
              <a:gd name="csX4" fmla="*/ 1130826 w 1176769"/>
              <a:gd name="csY4" fmla="*/ 645027 h 719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76769" h="719699">
                <a:moveTo>
                  <a:pt x="0" y="634205"/>
                </a:moveTo>
                <a:cubicBezTo>
                  <a:pt x="155556" y="622031"/>
                  <a:pt x="311113" y="609858"/>
                  <a:pt x="405799" y="504350"/>
                </a:cubicBezTo>
                <a:cubicBezTo>
                  <a:pt x="500485" y="398842"/>
                  <a:pt x="449084" y="-24993"/>
                  <a:pt x="568118" y="1159"/>
                </a:cubicBezTo>
                <a:cubicBezTo>
                  <a:pt x="687152" y="27310"/>
                  <a:pt x="1026220" y="553948"/>
                  <a:pt x="1120005" y="661259"/>
                </a:cubicBezTo>
                <a:cubicBezTo>
                  <a:pt x="1213790" y="768570"/>
                  <a:pt x="1172308" y="706798"/>
                  <a:pt x="1130826" y="645027"/>
                </a:cubicBezTo>
              </a:path>
            </a:pathLst>
          </a:cu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51" name="Group 2050">
            <a:extLst>
              <a:ext uri="{FF2B5EF4-FFF2-40B4-BE49-F238E27FC236}">
                <a16:creationId xmlns:a16="http://schemas.microsoft.com/office/drawing/2014/main" id="{895B5CCD-91B6-FDB4-727E-452AA644991C}"/>
              </a:ext>
            </a:extLst>
          </p:cNvPr>
          <p:cNvGrpSpPr/>
          <p:nvPr/>
        </p:nvGrpSpPr>
        <p:grpSpPr>
          <a:xfrm>
            <a:off x="8077844" y="5850576"/>
            <a:ext cx="666766" cy="870373"/>
            <a:chOff x="9634041" y="322328"/>
            <a:chExt cx="666766" cy="870373"/>
          </a:xfrm>
        </p:grpSpPr>
        <p:sp>
          <p:nvSpPr>
            <p:cNvPr id="2048" name="Freeform: Shape 2047">
              <a:extLst>
                <a:ext uri="{FF2B5EF4-FFF2-40B4-BE49-F238E27FC236}">
                  <a16:creationId xmlns:a16="http://schemas.microsoft.com/office/drawing/2014/main" id="{40CA73F6-B740-CA56-9C02-2AFFB35766B9}"/>
                </a:ext>
              </a:extLst>
            </p:cNvPr>
            <p:cNvSpPr/>
            <p:nvPr/>
          </p:nvSpPr>
          <p:spPr>
            <a:xfrm>
              <a:off x="9634041" y="322328"/>
              <a:ext cx="666758" cy="285688"/>
            </a:xfrm>
            <a:custGeom>
              <a:avLst/>
              <a:gdLst>
                <a:gd name="csX0" fmla="*/ 0 w 1176769"/>
                <a:gd name="csY0" fmla="*/ 634205 h 719699"/>
                <a:gd name="csX1" fmla="*/ 405799 w 1176769"/>
                <a:gd name="csY1" fmla="*/ 504350 h 719699"/>
                <a:gd name="csX2" fmla="*/ 568118 w 1176769"/>
                <a:gd name="csY2" fmla="*/ 1159 h 719699"/>
                <a:gd name="csX3" fmla="*/ 1120005 w 1176769"/>
                <a:gd name="csY3" fmla="*/ 661259 h 719699"/>
                <a:gd name="csX4" fmla="*/ 1130826 w 1176769"/>
                <a:gd name="csY4" fmla="*/ 645027 h 7196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176769" h="719699">
                  <a:moveTo>
                    <a:pt x="0" y="634205"/>
                  </a:moveTo>
                  <a:cubicBezTo>
                    <a:pt x="155556" y="622031"/>
                    <a:pt x="311113" y="609858"/>
                    <a:pt x="405799" y="504350"/>
                  </a:cubicBezTo>
                  <a:cubicBezTo>
                    <a:pt x="500485" y="398842"/>
                    <a:pt x="449084" y="-24993"/>
                    <a:pt x="568118" y="1159"/>
                  </a:cubicBezTo>
                  <a:cubicBezTo>
                    <a:pt x="687152" y="27310"/>
                    <a:pt x="1026220" y="553948"/>
                    <a:pt x="1120005" y="661259"/>
                  </a:cubicBezTo>
                  <a:cubicBezTo>
                    <a:pt x="1213790" y="768570"/>
                    <a:pt x="1172308" y="706798"/>
                    <a:pt x="1130826" y="645027"/>
                  </a:cubicBezTo>
                </a:path>
              </a:pathLst>
            </a:custGeom>
            <a:ln/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49" name="Freeform: Shape 2048">
              <a:extLst>
                <a:ext uri="{FF2B5EF4-FFF2-40B4-BE49-F238E27FC236}">
                  <a16:creationId xmlns:a16="http://schemas.microsoft.com/office/drawing/2014/main" id="{2905AD5A-E5AE-46B1-531D-DEDD1C41C2D9}"/>
                </a:ext>
              </a:extLst>
            </p:cNvPr>
            <p:cNvSpPr/>
            <p:nvPr/>
          </p:nvSpPr>
          <p:spPr>
            <a:xfrm>
              <a:off x="9634056" y="907013"/>
              <a:ext cx="666751" cy="285688"/>
            </a:xfrm>
            <a:custGeom>
              <a:avLst/>
              <a:gdLst>
                <a:gd name="csX0" fmla="*/ 0 w 1176769"/>
                <a:gd name="csY0" fmla="*/ 634205 h 719699"/>
                <a:gd name="csX1" fmla="*/ 405799 w 1176769"/>
                <a:gd name="csY1" fmla="*/ 504350 h 719699"/>
                <a:gd name="csX2" fmla="*/ 568118 w 1176769"/>
                <a:gd name="csY2" fmla="*/ 1159 h 719699"/>
                <a:gd name="csX3" fmla="*/ 1120005 w 1176769"/>
                <a:gd name="csY3" fmla="*/ 661259 h 719699"/>
                <a:gd name="csX4" fmla="*/ 1130826 w 1176769"/>
                <a:gd name="csY4" fmla="*/ 645027 h 7196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176769" h="719699">
                  <a:moveTo>
                    <a:pt x="0" y="634205"/>
                  </a:moveTo>
                  <a:cubicBezTo>
                    <a:pt x="155556" y="622031"/>
                    <a:pt x="311113" y="609858"/>
                    <a:pt x="405799" y="504350"/>
                  </a:cubicBezTo>
                  <a:cubicBezTo>
                    <a:pt x="500485" y="398842"/>
                    <a:pt x="449084" y="-24993"/>
                    <a:pt x="568118" y="1159"/>
                  </a:cubicBezTo>
                  <a:cubicBezTo>
                    <a:pt x="687152" y="27310"/>
                    <a:pt x="1026220" y="553948"/>
                    <a:pt x="1120005" y="661259"/>
                  </a:cubicBezTo>
                  <a:cubicBezTo>
                    <a:pt x="1213790" y="768570"/>
                    <a:pt x="1172308" y="706798"/>
                    <a:pt x="1130826" y="645027"/>
                  </a:cubicBezTo>
                </a:path>
              </a:pathLst>
            </a:custGeom>
            <a:ln/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113523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99DC7-A61A-197F-EA6F-9EC9A1BC5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50F0D4-2278-68EB-4A48-1D31B8E983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13904" cy="4351338"/>
          </a:xfrm>
        </p:spPr>
        <p:txBody>
          <a:bodyPr/>
          <a:lstStyle/>
          <a:p>
            <a:pPr marL="514350" indent="-514350">
              <a:buFont typeface="+mj-lt"/>
              <a:buAutoNum type="alphaUcPeriod"/>
            </a:pP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eFMU: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</a:rPr>
              <a:t>efmuPSS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>
                <a:solidFill>
                  <a:srgbClr val="FF0000"/>
                </a:solidFill>
              </a:rPr>
              <a:t>eFMU: </a:t>
            </a:r>
            <a:r>
              <a:rPr lang="en-US" dirty="0" err="1">
                <a:solidFill>
                  <a:srgbClr val="FF0000"/>
                </a:solidFill>
              </a:rPr>
              <a:t>CHILTest</a:t>
            </a:r>
            <a:endParaRPr lang="en-US" dirty="0">
              <a:solidFill>
                <a:srgbClr val="FF0000"/>
              </a:solidFill>
            </a:endParaRPr>
          </a:p>
          <a:p>
            <a:endParaRPr lang="en-US" dirty="0">
              <a:solidFill>
                <a:schemeClr val="accent6"/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2C5F3B3-2B51-19EF-5A88-4349F475BD9E}"/>
              </a:ext>
            </a:extLst>
          </p:cNvPr>
          <p:cNvCxnSpPr>
            <a:cxnSpLocks/>
            <a:endCxn id="31" idx="1"/>
          </p:cNvCxnSpPr>
          <p:nvPr/>
        </p:nvCxnSpPr>
        <p:spPr>
          <a:xfrm flipV="1">
            <a:off x="4950746" y="2375848"/>
            <a:ext cx="3344629" cy="1366634"/>
          </a:xfrm>
          <a:prstGeom prst="curvedConnector3">
            <a:avLst>
              <a:gd name="adj1" fmla="val 76369"/>
            </a:avLst>
          </a:prstGeom>
          <a:ln>
            <a:solidFill>
              <a:schemeClr val="accent5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E78287BB-774F-7C63-9A67-C691A7F308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949"/>
          <a:stretch>
            <a:fillRect/>
          </a:stretch>
        </p:blipFill>
        <p:spPr>
          <a:xfrm>
            <a:off x="8295376" y="4253284"/>
            <a:ext cx="3125779" cy="2604716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4A5771DB-4417-379D-785E-0E0157CABC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5375" y="750401"/>
            <a:ext cx="3125779" cy="3250893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AC2ADBDD-C2F4-44BC-BDF6-A11094316EB3}"/>
              </a:ext>
            </a:extLst>
          </p:cNvPr>
          <p:cNvSpPr txBox="1"/>
          <p:nvPr/>
        </p:nvSpPr>
        <p:spPr>
          <a:xfrm>
            <a:off x="5330934" y="3816628"/>
            <a:ext cx="28439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Analog Output </a:t>
            </a:r>
          </a:p>
          <a:p>
            <a:r>
              <a:rPr lang="en-US" dirty="0">
                <a:solidFill>
                  <a:schemeClr val="accent5"/>
                </a:solidFill>
              </a:rPr>
              <a:t>from A to B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4D454D4C-5023-E26F-8440-6E26DE8487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252" y="3385365"/>
            <a:ext cx="4217687" cy="67421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5F83C3-DECE-729D-0B74-906525E6B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CHIL Test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A7206B8-FC81-6847-5612-83191C598890}"/>
              </a:ext>
            </a:extLst>
          </p:cNvPr>
          <p:cNvSpPr/>
          <p:nvPr/>
        </p:nvSpPr>
        <p:spPr>
          <a:xfrm>
            <a:off x="8588400" y="2017497"/>
            <a:ext cx="556181" cy="537328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C589238-0889-7EEA-21BE-0FF5195790E8}"/>
              </a:ext>
            </a:extLst>
          </p:cNvPr>
          <p:cNvCxnSpPr>
            <a:cxnSpLocks/>
          </p:cNvCxnSpPr>
          <p:nvPr/>
        </p:nvCxnSpPr>
        <p:spPr>
          <a:xfrm flipH="1">
            <a:off x="8295375" y="2568417"/>
            <a:ext cx="545629" cy="168486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DBC3049-D2FF-F753-C7FB-1CA336A23997}"/>
              </a:ext>
            </a:extLst>
          </p:cNvPr>
          <p:cNvCxnSpPr>
            <a:cxnSpLocks/>
          </p:cNvCxnSpPr>
          <p:nvPr/>
        </p:nvCxnSpPr>
        <p:spPr>
          <a:xfrm>
            <a:off x="8841004" y="2568417"/>
            <a:ext cx="2512796" cy="173475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8" name="Group 27">
            <a:extLst>
              <a:ext uri="{FF2B5EF4-FFF2-40B4-BE49-F238E27FC236}">
                <a16:creationId xmlns:a16="http://schemas.microsoft.com/office/drawing/2014/main" id="{EBDD2A63-921A-8CCA-80E9-80DDD6A50000}"/>
              </a:ext>
            </a:extLst>
          </p:cNvPr>
          <p:cNvGrpSpPr/>
          <p:nvPr/>
        </p:nvGrpSpPr>
        <p:grpSpPr>
          <a:xfrm>
            <a:off x="933252" y="4862936"/>
            <a:ext cx="3609324" cy="1790221"/>
            <a:chOff x="770845" y="4437465"/>
            <a:chExt cx="4720912" cy="2383930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A09D192-3296-9C92-51B4-38C2824C3D1C}"/>
                </a:ext>
              </a:extLst>
            </p:cNvPr>
            <p:cNvSpPr txBox="1"/>
            <p:nvPr/>
          </p:nvSpPr>
          <p:spPr>
            <a:xfrm>
              <a:off x="3252995" y="6411547"/>
              <a:ext cx="2238762" cy="4098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>
                  <a:solidFill>
                    <a:srgbClr val="FF0000"/>
                  </a:solidFill>
                </a:rPr>
                <a:t>CHILTest</a:t>
              </a:r>
              <a:r>
                <a:rPr lang="en-US" sz="1400" dirty="0">
                  <a:solidFill>
                    <a:srgbClr val="FF0000"/>
                  </a:solidFill>
                </a:rPr>
                <a:t> in G474RE</a:t>
              </a:r>
            </a:p>
          </p:txBody>
        </p:sp>
        <p:pic>
          <p:nvPicPr>
            <p:cNvPr id="21" name="Picture 16" descr="NUCLEO-F303RE | Product - STMicroelectronics">
              <a:extLst>
                <a:ext uri="{FF2B5EF4-FFF2-40B4-BE49-F238E27FC236}">
                  <a16:creationId xmlns:a16="http://schemas.microsoft.com/office/drawing/2014/main" id="{FC8A7B1F-FF2D-0AA3-1F70-E2C06A429FE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7121" y="4437465"/>
              <a:ext cx="1790764" cy="209707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3FFB8F4-ADC2-D812-B908-09902D5FA669}"/>
                </a:ext>
              </a:extLst>
            </p:cNvPr>
            <p:cNvSpPr txBox="1"/>
            <p:nvPr/>
          </p:nvSpPr>
          <p:spPr>
            <a:xfrm>
              <a:off x="770845" y="6411547"/>
              <a:ext cx="2489901" cy="4098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err="1">
                  <a:solidFill>
                    <a:schemeClr val="accent3"/>
                  </a:solidFill>
                </a:rPr>
                <a:t>efmuPSS</a:t>
              </a:r>
              <a:r>
                <a:rPr lang="en-US" sz="1400" dirty="0">
                  <a:solidFill>
                    <a:schemeClr val="accent3"/>
                  </a:solidFill>
                </a:rPr>
                <a:t>  in F303RE</a:t>
              </a:r>
            </a:p>
          </p:txBody>
        </p:sp>
        <p:pic>
          <p:nvPicPr>
            <p:cNvPr id="24" name="Picture 18" descr="NUCLEO-G474RE - STM32 Nucleo-64 development board with STM32G474RE MCU ...">
              <a:extLst>
                <a:ext uri="{FF2B5EF4-FFF2-40B4-BE49-F238E27FC236}">
                  <a16:creationId xmlns:a16="http://schemas.microsoft.com/office/drawing/2014/main" id="{BF73A8E3-98DB-C44E-01F9-8F5ED3ADFF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04516" y="4543124"/>
              <a:ext cx="1705531" cy="19497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9EC5438-62D0-8AC7-520D-373B140F2562}"/>
                </a:ext>
              </a:extLst>
            </p:cNvPr>
            <p:cNvSpPr/>
            <p:nvPr/>
          </p:nvSpPr>
          <p:spPr>
            <a:xfrm>
              <a:off x="2512187" y="4888996"/>
              <a:ext cx="1450055" cy="719699"/>
            </a:xfrm>
            <a:custGeom>
              <a:avLst/>
              <a:gdLst>
                <a:gd name="csX0" fmla="*/ 0 w 1176769"/>
                <a:gd name="csY0" fmla="*/ 634205 h 719699"/>
                <a:gd name="csX1" fmla="*/ 405799 w 1176769"/>
                <a:gd name="csY1" fmla="*/ 504350 h 719699"/>
                <a:gd name="csX2" fmla="*/ 568118 w 1176769"/>
                <a:gd name="csY2" fmla="*/ 1159 h 719699"/>
                <a:gd name="csX3" fmla="*/ 1120005 w 1176769"/>
                <a:gd name="csY3" fmla="*/ 661259 h 719699"/>
                <a:gd name="csX4" fmla="*/ 1130826 w 1176769"/>
                <a:gd name="csY4" fmla="*/ 645027 h 7196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176769" h="719699">
                  <a:moveTo>
                    <a:pt x="0" y="634205"/>
                  </a:moveTo>
                  <a:cubicBezTo>
                    <a:pt x="155556" y="622031"/>
                    <a:pt x="311113" y="609858"/>
                    <a:pt x="405799" y="504350"/>
                  </a:cubicBezTo>
                  <a:cubicBezTo>
                    <a:pt x="500485" y="398842"/>
                    <a:pt x="449084" y="-24993"/>
                    <a:pt x="568118" y="1159"/>
                  </a:cubicBezTo>
                  <a:cubicBezTo>
                    <a:pt x="687152" y="27310"/>
                    <a:pt x="1026220" y="553948"/>
                    <a:pt x="1120005" y="661259"/>
                  </a:cubicBezTo>
                  <a:cubicBezTo>
                    <a:pt x="1213790" y="768570"/>
                    <a:pt x="1172308" y="706798"/>
                    <a:pt x="1130826" y="645027"/>
                  </a:cubicBezTo>
                </a:path>
              </a:pathLst>
            </a:custGeom>
            <a:ln/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B784F66-531D-5976-4238-0BC29495C15C}"/>
                </a:ext>
              </a:extLst>
            </p:cNvPr>
            <p:cNvSpPr/>
            <p:nvPr/>
          </p:nvSpPr>
          <p:spPr>
            <a:xfrm>
              <a:off x="2512203" y="5473681"/>
              <a:ext cx="1450039" cy="719699"/>
            </a:xfrm>
            <a:custGeom>
              <a:avLst/>
              <a:gdLst>
                <a:gd name="csX0" fmla="*/ 0 w 1176769"/>
                <a:gd name="csY0" fmla="*/ 634205 h 719699"/>
                <a:gd name="csX1" fmla="*/ 405799 w 1176769"/>
                <a:gd name="csY1" fmla="*/ 504350 h 719699"/>
                <a:gd name="csX2" fmla="*/ 568118 w 1176769"/>
                <a:gd name="csY2" fmla="*/ 1159 h 719699"/>
                <a:gd name="csX3" fmla="*/ 1120005 w 1176769"/>
                <a:gd name="csY3" fmla="*/ 661259 h 719699"/>
                <a:gd name="csX4" fmla="*/ 1130826 w 1176769"/>
                <a:gd name="csY4" fmla="*/ 645027 h 7196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176769" h="719699">
                  <a:moveTo>
                    <a:pt x="0" y="634205"/>
                  </a:moveTo>
                  <a:cubicBezTo>
                    <a:pt x="155556" y="622031"/>
                    <a:pt x="311113" y="609858"/>
                    <a:pt x="405799" y="504350"/>
                  </a:cubicBezTo>
                  <a:cubicBezTo>
                    <a:pt x="500485" y="398842"/>
                    <a:pt x="449084" y="-24993"/>
                    <a:pt x="568118" y="1159"/>
                  </a:cubicBezTo>
                  <a:cubicBezTo>
                    <a:pt x="687152" y="27310"/>
                    <a:pt x="1026220" y="553948"/>
                    <a:pt x="1120005" y="661259"/>
                  </a:cubicBezTo>
                  <a:cubicBezTo>
                    <a:pt x="1213790" y="768570"/>
                    <a:pt x="1172308" y="706798"/>
                    <a:pt x="1130826" y="645027"/>
                  </a:cubicBezTo>
                </a:path>
              </a:pathLst>
            </a:custGeom>
            <a:ln/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191DBE9-C4C5-303F-4213-83953F89134E}"/>
                </a:ext>
              </a:extLst>
            </p:cNvPr>
            <p:cNvSpPr txBox="1"/>
            <p:nvPr/>
          </p:nvSpPr>
          <p:spPr>
            <a:xfrm>
              <a:off x="2697044" y="5143383"/>
              <a:ext cx="1220694" cy="4098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Analog IO</a:t>
              </a:r>
            </a:p>
          </p:txBody>
        </p:sp>
      </p:grp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AF1613B6-4065-C531-0849-E99631EAEB0C}"/>
              </a:ext>
            </a:extLst>
          </p:cNvPr>
          <p:cNvSpPr/>
          <p:nvPr/>
        </p:nvSpPr>
        <p:spPr>
          <a:xfrm>
            <a:off x="113644" y="441673"/>
            <a:ext cx="11809664" cy="3334961"/>
          </a:xfrm>
          <a:custGeom>
            <a:avLst/>
            <a:gdLst>
              <a:gd name="csX0" fmla="*/ 11167563 w 11809664"/>
              <a:gd name="csY0" fmla="*/ 873115 h 3334961"/>
              <a:gd name="csX1" fmla="*/ 11567951 w 11809664"/>
              <a:gd name="csY1" fmla="*/ 835241 h 3334961"/>
              <a:gd name="csX2" fmla="*/ 11421864 w 11809664"/>
              <a:gd name="csY2" fmla="*/ 83160 h 3334961"/>
              <a:gd name="csX3" fmla="*/ 7066290 w 11809664"/>
              <a:gd name="csY3" fmla="*/ 202194 h 3334961"/>
              <a:gd name="csX4" fmla="*/ 4696425 w 11809664"/>
              <a:gd name="csY4" fmla="*/ 1711766 h 3334961"/>
              <a:gd name="csX5" fmla="*/ 4214877 w 11809664"/>
              <a:gd name="csY5" fmla="*/ 2728968 h 3334961"/>
              <a:gd name="csX6" fmla="*/ 189352 w 11809664"/>
              <a:gd name="csY6" fmla="*/ 2880467 h 3334961"/>
              <a:gd name="csX7" fmla="*/ 1028003 w 11809664"/>
              <a:gd name="csY7" fmla="*/ 3334961 h 333496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1809664" h="3334961">
                <a:moveTo>
                  <a:pt x="11167563" y="873115"/>
                </a:moveTo>
                <a:cubicBezTo>
                  <a:pt x="11346565" y="920007"/>
                  <a:pt x="11525568" y="966900"/>
                  <a:pt x="11567951" y="835241"/>
                </a:cubicBezTo>
                <a:cubicBezTo>
                  <a:pt x="11610334" y="703582"/>
                  <a:pt x="12172141" y="188668"/>
                  <a:pt x="11421864" y="83160"/>
                </a:cubicBezTo>
                <a:cubicBezTo>
                  <a:pt x="10671587" y="-22348"/>
                  <a:pt x="8187196" y="-69240"/>
                  <a:pt x="7066290" y="202194"/>
                </a:cubicBezTo>
                <a:cubicBezTo>
                  <a:pt x="5945384" y="473628"/>
                  <a:pt x="5171660" y="1290637"/>
                  <a:pt x="4696425" y="1711766"/>
                </a:cubicBezTo>
                <a:cubicBezTo>
                  <a:pt x="4221190" y="2132895"/>
                  <a:pt x="4966056" y="2534184"/>
                  <a:pt x="4214877" y="2728968"/>
                </a:cubicBezTo>
                <a:cubicBezTo>
                  <a:pt x="3463698" y="2923752"/>
                  <a:pt x="720498" y="2779468"/>
                  <a:pt x="189352" y="2880467"/>
                </a:cubicBezTo>
                <a:cubicBezTo>
                  <a:pt x="-341794" y="2981466"/>
                  <a:pt x="343104" y="3158213"/>
                  <a:pt x="1028003" y="3334961"/>
                </a:cubicBezTo>
              </a:path>
            </a:pathLst>
          </a:custGeom>
          <a:noFill/>
          <a:ln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9DBC33A-5F31-AF23-8351-4DAAA27B3410}"/>
              </a:ext>
            </a:extLst>
          </p:cNvPr>
          <p:cNvSpPr txBox="1"/>
          <p:nvPr/>
        </p:nvSpPr>
        <p:spPr>
          <a:xfrm>
            <a:off x="5223146" y="1631239"/>
            <a:ext cx="28439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Analog Output </a:t>
            </a:r>
          </a:p>
          <a:p>
            <a:r>
              <a:rPr lang="en-US" dirty="0">
                <a:solidFill>
                  <a:schemeClr val="accent4"/>
                </a:solidFill>
              </a:rPr>
              <a:t>from B to A</a:t>
            </a:r>
          </a:p>
        </p:txBody>
      </p:sp>
    </p:spTree>
    <p:extLst>
      <p:ext uri="{BB962C8B-B14F-4D97-AF65-F5344CB8AC3E}">
        <p14:creationId xmlns:p14="http://schemas.microsoft.com/office/powerpoint/2010/main" val="40537664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1C3B048-5B2B-AC1B-AD9C-89AC9597CE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85"/>
          <a:stretch>
            <a:fillRect/>
          </a:stretch>
        </p:blipFill>
        <p:spPr>
          <a:xfrm>
            <a:off x="37706" y="7189"/>
            <a:ext cx="2685263" cy="685800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6ADD67B-9BDB-135E-3B7C-555A68B1305D}"/>
              </a:ext>
            </a:extLst>
          </p:cNvPr>
          <p:cNvCxnSpPr/>
          <p:nvPr/>
        </p:nvCxnSpPr>
        <p:spPr>
          <a:xfrm>
            <a:off x="1477992" y="1541253"/>
            <a:ext cx="209334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C44C911-4942-2577-4860-BADACD4087DB}"/>
              </a:ext>
            </a:extLst>
          </p:cNvPr>
          <p:cNvCxnSpPr/>
          <p:nvPr/>
        </p:nvCxnSpPr>
        <p:spPr>
          <a:xfrm>
            <a:off x="1441856" y="3362197"/>
            <a:ext cx="209334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03EF89D-EDF2-9D2F-315A-F8D86BAF48E3}"/>
              </a:ext>
            </a:extLst>
          </p:cNvPr>
          <p:cNvCxnSpPr/>
          <p:nvPr/>
        </p:nvCxnSpPr>
        <p:spPr>
          <a:xfrm>
            <a:off x="1676298" y="6003273"/>
            <a:ext cx="209334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31D5804-3FC1-2833-C87D-B57AD79AC747}"/>
              </a:ext>
            </a:extLst>
          </p:cNvPr>
          <p:cNvSpPr txBox="1"/>
          <p:nvPr/>
        </p:nvSpPr>
        <p:spPr>
          <a:xfrm>
            <a:off x="3643460" y="1343320"/>
            <a:ext cx="25310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Plant for Hardware-in-the-Loop Testing with Actual </a:t>
            </a:r>
            <a:r>
              <a:rPr lang="en-US" dirty="0" err="1"/>
              <a:t>Unitrol</a:t>
            </a:r>
            <a:r>
              <a:rPr lang="en-US" dirty="0"/>
              <a:t> 1020 and external PSS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826AC9-7C83-8A0D-826C-891F9F6171DA}"/>
              </a:ext>
            </a:extLst>
          </p:cNvPr>
          <p:cNvSpPr txBox="1"/>
          <p:nvPr/>
        </p:nvSpPr>
        <p:spPr>
          <a:xfrm>
            <a:off x="3643460" y="3211631"/>
            <a:ext cx="25310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Plant for Controller HIL using </a:t>
            </a:r>
            <a:r>
              <a:rPr lang="en-US" dirty="0" err="1"/>
              <a:t>Nucleo</a:t>
            </a:r>
            <a:r>
              <a:rPr lang="en-US" dirty="0"/>
              <a:t> Board with PSS/Controller model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F1A9D1-C8C4-4D1E-AE5C-E77BAAE7313A}"/>
              </a:ext>
            </a:extLst>
          </p:cNvPr>
          <p:cNvSpPr txBox="1"/>
          <p:nvPr/>
        </p:nvSpPr>
        <p:spPr>
          <a:xfrm>
            <a:off x="3838280" y="5818607"/>
            <a:ext cx="2531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PSS / Controller FMU</a:t>
            </a:r>
          </a:p>
        </p:txBody>
      </p:sp>
      <p:pic>
        <p:nvPicPr>
          <p:cNvPr id="46" name="Picture 45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6FD9FE0C-7988-030A-F49F-0C5848AB8C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710"/>
          <a:stretch>
            <a:fillRect/>
          </a:stretch>
        </p:blipFill>
        <p:spPr>
          <a:xfrm>
            <a:off x="7037312" y="755905"/>
            <a:ext cx="4507773" cy="1018311"/>
          </a:xfrm>
          <a:prstGeom prst="rect">
            <a:avLst/>
          </a:prstGeom>
        </p:spPr>
      </p:pic>
      <p:sp>
        <p:nvSpPr>
          <p:cNvPr id="47" name="Rectangle 46">
            <a:extLst>
              <a:ext uri="{FF2B5EF4-FFF2-40B4-BE49-F238E27FC236}">
                <a16:creationId xmlns:a16="http://schemas.microsoft.com/office/drawing/2014/main" id="{0A710879-3B9A-B515-BF21-CD0FF1322B34}"/>
              </a:ext>
            </a:extLst>
          </p:cNvPr>
          <p:cNvSpPr/>
          <p:nvPr/>
        </p:nvSpPr>
        <p:spPr>
          <a:xfrm>
            <a:off x="9765454" y="642100"/>
            <a:ext cx="1560136" cy="1211344"/>
          </a:xfrm>
          <a:prstGeom prst="rect">
            <a:avLst/>
          </a:pr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7242153-EFB2-6CD6-205C-1B8C4BBD107C}"/>
              </a:ext>
            </a:extLst>
          </p:cNvPr>
          <p:cNvSpPr txBox="1"/>
          <p:nvPr/>
        </p:nvSpPr>
        <p:spPr>
          <a:xfrm>
            <a:off x="9662107" y="1895667"/>
            <a:ext cx="17668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eFMU: Grid4HIL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1A9A0D7-7BFD-CA41-0CA0-A0561562DBC2}"/>
              </a:ext>
            </a:extLst>
          </p:cNvPr>
          <p:cNvSpPr/>
          <p:nvPr/>
        </p:nvSpPr>
        <p:spPr>
          <a:xfrm>
            <a:off x="7130785" y="698017"/>
            <a:ext cx="1262446" cy="903304"/>
          </a:xfrm>
          <a:prstGeom prst="rect">
            <a:avLst/>
          </a:prstGeom>
          <a:noFill/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9BFAB1B-399E-5E5A-640A-1D752972A36E}"/>
              </a:ext>
            </a:extLst>
          </p:cNvPr>
          <p:cNvSpPr txBox="1"/>
          <p:nvPr/>
        </p:nvSpPr>
        <p:spPr>
          <a:xfrm>
            <a:off x="6941076" y="1754095"/>
            <a:ext cx="1885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eFMU: </a:t>
            </a:r>
            <a:r>
              <a:rPr lang="en-US" dirty="0" err="1">
                <a:solidFill>
                  <a:schemeClr val="accent3"/>
                </a:solidFill>
              </a:rPr>
              <a:t>efmuPSS</a:t>
            </a:r>
            <a:r>
              <a:rPr lang="en-US" dirty="0">
                <a:solidFill>
                  <a:schemeClr val="accent3"/>
                </a:solidFill>
              </a:rPr>
              <a:t> </a:t>
            </a:r>
          </a:p>
        </p:txBody>
      </p:sp>
      <p:pic>
        <p:nvPicPr>
          <p:cNvPr id="51" name="Picture 50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589914EE-F23B-22E8-D7E0-F7B24B1D5A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710"/>
          <a:stretch>
            <a:fillRect/>
          </a:stretch>
        </p:blipFill>
        <p:spPr>
          <a:xfrm>
            <a:off x="7223358" y="3568542"/>
            <a:ext cx="4425074" cy="1018311"/>
          </a:xfrm>
          <a:prstGeom prst="rect">
            <a:avLst/>
          </a:prstGeom>
        </p:spPr>
      </p:pic>
      <p:sp>
        <p:nvSpPr>
          <p:cNvPr id="52" name="Rectangle 51">
            <a:extLst>
              <a:ext uri="{FF2B5EF4-FFF2-40B4-BE49-F238E27FC236}">
                <a16:creationId xmlns:a16="http://schemas.microsoft.com/office/drawing/2014/main" id="{E3584DF3-ADF4-7604-DB3A-033F124A6460}"/>
              </a:ext>
            </a:extLst>
          </p:cNvPr>
          <p:cNvSpPr/>
          <p:nvPr/>
        </p:nvSpPr>
        <p:spPr>
          <a:xfrm>
            <a:off x="8662170" y="3454737"/>
            <a:ext cx="2766767" cy="1211344"/>
          </a:xfrm>
          <a:prstGeom prst="rect">
            <a:avLst/>
          </a:pr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E274E3C-1B61-DD04-7DB9-326136A7E6F8}"/>
              </a:ext>
            </a:extLst>
          </p:cNvPr>
          <p:cNvSpPr txBox="1"/>
          <p:nvPr/>
        </p:nvSpPr>
        <p:spPr>
          <a:xfrm>
            <a:off x="9211514" y="4714453"/>
            <a:ext cx="1764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eFMU: </a:t>
            </a:r>
            <a:r>
              <a:rPr lang="en-US" dirty="0" err="1">
                <a:solidFill>
                  <a:srgbClr val="FF0000"/>
                </a:solidFill>
              </a:rPr>
              <a:t>CHILTest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5699D6A-C7F8-63F7-E825-88614E6D6AB7}"/>
              </a:ext>
            </a:extLst>
          </p:cNvPr>
          <p:cNvSpPr/>
          <p:nvPr/>
        </p:nvSpPr>
        <p:spPr>
          <a:xfrm>
            <a:off x="8736037" y="4250789"/>
            <a:ext cx="1103284" cy="369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Model of </a:t>
            </a:r>
            <a:r>
              <a:rPr lang="en-US" sz="1400" dirty="0" err="1"/>
              <a:t>Unitrol</a:t>
            </a:r>
            <a:endParaRPr lang="en-US" sz="1400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C4FA743-50B6-49A1-4936-83DE29AF1750}"/>
              </a:ext>
            </a:extLst>
          </p:cNvPr>
          <p:cNvSpPr/>
          <p:nvPr/>
        </p:nvSpPr>
        <p:spPr>
          <a:xfrm>
            <a:off x="7186425" y="3462883"/>
            <a:ext cx="1438812" cy="1211344"/>
          </a:xfrm>
          <a:prstGeom prst="rect">
            <a:avLst/>
          </a:prstGeom>
          <a:noFill/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1CDEFFA-AF12-872B-885D-CA00B00CA1FA}"/>
              </a:ext>
            </a:extLst>
          </p:cNvPr>
          <p:cNvSpPr txBox="1"/>
          <p:nvPr/>
        </p:nvSpPr>
        <p:spPr>
          <a:xfrm>
            <a:off x="6945994" y="4695941"/>
            <a:ext cx="24899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eFMU: </a:t>
            </a:r>
            <a:r>
              <a:rPr lang="en-US" dirty="0" err="1">
                <a:solidFill>
                  <a:schemeClr val="accent3"/>
                </a:solidFill>
              </a:rPr>
              <a:t>efmuPSS</a:t>
            </a:r>
            <a:r>
              <a:rPr lang="en-US" dirty="0">
                <a:solidFill>
                  <a:schemeClr val="accent3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522477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36CB2-D5ED-65A0-0C6A-01034CCDF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C8706CE-E739-B708-1C84-38BD10AFC6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85"/>
          <a:stretch>
            <a:fillRect/>
          </a:stretch>
        </p:blipFill>
        <p:spPr>
          <a:xfrm>
            <a:off x="37706" y="7189"/>
            <a:ext cx="2685263" cy="685800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0000B12-EA00-ACED-EE33-BF5FC257D3C0}"/>
              </a:ext>
            </a:extLst>
          </p:cNvPr>
          <p:cNvCxnSpPr/>
          <p:nvPr/>
        </p:nvCxnSpPr>
        <p:spPr>
          <a:xfrm>
            <a:off x="1477992" y="1541253"/>
            <a:ext cx="209334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B04BD67-570C-519E-DB05-942AC18714FF}"/>
              </a:ext>
            </a:extLst>
          </p:cNvPr>
          <p:cNvCxnSpPr/>
          <p:nvPr/>
        </p:nvCxnSpPr>
        <p:spPr>
          <a:xfrm>
            <a:off x="1441856" y="3362197"/>
            <a:ext cx="209334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865A5B9-6D8B-433E-1E8E-3A162595C1C0}"/>
              </a:ext>
            </a:extLst>
          </p:cNvPr>
          <p:cNvCxnSpPr/>
          <p:nvPr/>
        </p:nvCxnSpPr>
        <p:spPr>
          <a:xfrm>
            <a:off x="1676298" y="6003273"/>
            <a:ext cx="209334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6D4D2717-EB2F-BF20-09F6-29F8C9322F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9642" y="242710"/>
            <a:ext cx="2237596" cy="2286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EEE2040-8856-6E28-D103-C58EB1D860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067" y="242710"/>
            <a:ext cx="2526631" cy="2286000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F5D7BC09-49E1-4BC2-2D01-CD916DE3B743}"/>
              </a:ext>
            </a:extLst>
          </p:cNvPr>
          <p:cNvSpPr/>
          <p:nvPr/>
        </p:nvSpPr>
        <p:spPr>
          <a:xfrm>
            <a:off x="3935691" y="1112363"/>
            <a:ext cx="556181" cy="537328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8688798-DFA7-5F46-DC73-C3CB02CC5076}"/>
              </a:ext>
            </a:extLst>
          </p:cNvPr>
          <p:cNvCxnSpPr>
            <a:cxnSpLocks/>
            <a:stCxn id="13" idx="5"/>
          </p:cNvCxnSpPr>
          <p:nvPr/>
        </p:nvCxnSpPr>
        <p:spPr>
          <a:xfrm>
            <a:off x="4410421" y="1571001"/>
            <a:ext cx="2358024" cy="22480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F55599EE-2A81-D711-7EA5-4A0B5BE9F2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6473" y="2835112"/>
            <a:ext cx="2497817" cy="22860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EEF1D48E-2FB4-E1A1-7330-262867BA1C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9217" y="2835112"/>
            <a:ext cx="2198021" cy="2286000"/>
          </a:xfrm>
          <a:prstGeom prst="rect">
            <a:avLst/>
          </a:prstGeom>
        </p:spPr>
      </p:pic>
      <p:sp>
        <p:nvSpPr>
          <p:cNvPr id="32" name="Oval 31">
            <a:extLst>
              <a:ext uri="{FF2B5EF4-FFF2-40B4-BE49-F238E27FC236}">
                <a16:creationId xmlns:a16="http://schemas.microsoft.com/office/drawing/2014/main" id="{80F1CA34-3F6E-CC60-B9BE-F523A2B5F03F}"/>
              </a:ext>
            </a:extLst>
          </p:cNvPr>
          <p:cNvSpPr/>
          <p:nvPr/>
        </p:nvSpPr>
        <p:spPr>
          <a:xfrm>
            <a:off x="4017142" y="3645848"/>
            <a:ext cx="556181" cy="537328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0DFF16D-17A5-9B4F-4BA9-715D11C12B73}"/>
              </a:ext>
            </a:extLst>
          </p:cNvPr>
          <p:cNvCxnSpPr>
            <a:cxnSpLocks/>
            <a:stCxn id="32" idx="5"/>
          </p:cNvCxnSpPr>
          <p:nvPr/>
        </p:nvCxnSpPr>
        <p:spPr>
          <a:xfrm>
            <a:off x="4491872" y="4104486"/>
            <a:ext cx="2358024" cy="22480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97CFA0BC-C5FA-C399-D532-4F3617D41434}"/>
              </a:ext>
            </a:extLst>
          </p:cNvPr>
          <p:cNvSpPr txBox="1"/>
          <p:nvPr/>
        </p:nvSpPr>
        <p:spPr>
          <a:xfrm>
            <a:off x="1699812" y="1611140"/>
            <a:ext cx="17668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eFMU: Grid4HIL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7F21515-505D-BE44-3484-F56E198F3116}"/>
              </a:ext>
            </a:extLst>
          </p:cNvPr>
          <p:cNvSpPr txBox="1"/>
          <p:nvPr/>
        </p:nvSpPr>
        <p:spPr>
          <a:xfrm>
            <a:off x="2001971" y="6021154"/>
            <a:ext cx="24899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eFMU: </a:t>
            </a:r>
            <a:r>
              <a:rPr lang="en-US" dirty="0" err="1">
                <a:solidFill>
                  <a:srgbClr val="FF0000"/>
                </a:solidFill>
              </a:rPr>
              <a:t>efmuPSS</a:t>
            </a:r>
            <a:r>
              <a:rPr lang="en-US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D6724F9-7625-9E7E-2054-A08364EBE092}"/>
              </a:ext>
            </a:extLst>
          </p:cNvPr>
          <p:cNvSpPr txBox="1"/>
          <p:nvPr/>
        </p:nvSpPr>
        <p:spPr>
          <a:xfrm>
            <a:off x="1840484" y="3461182"/>
            <a:ext cx="1764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eFMU: </a:t>
            </a:r>
            <a:r>
              <a:rPr lang="en-US" dirty="0" err="1">
                <a:solidFill>
                  <a:srgbClr val="FF0000"/>
                </a:solidFill>
              </a:rPr>
              <a:t>CHILTest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C02767B1-E470-39F5-457E-89384A9FFED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06392" y="5598665"/>
            <a:ext cx="4754324" cy="759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3146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9DFC8-BA19-4E4F-7993-DE150D22C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96B3779-2255-1F7E-3A87-2C3EC1EDB2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2608" y="2111516"/>
            <a:ext cx="5905654" cy="242757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98C0D6E-28BE-3D2D-E5D8-128CC440FC2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85"/>
          <a:stretch>
            <a:fillRect/>
          </a:stretch>
        </p:blipFill>
        <p:spPr>
          <a:xfrm>
            <a:off x="37706" y="7189"/>
            <a:ext cx="2685263" cy="685800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5086FF6-53DA-DA0D-3515-8D7FA146EA90}"/>
              </a:ext>
            </a:extLst>
          </p:cNvPr>
          <p:cNvCxnSpPr>
            <a:cxnSpLocks/>
          </p:cNvCxnSpPr>
          <p:nvPr/>
        </p:nvCxnSpPr>
        <p:spPr>
          <a:xfrm>
            <a:off x="1477992" y="1541253"/>
            <a:ext cx="3395666" cy="21681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B832303-9846-ABE4-414B-EBBC66723D0E}"/>
              </a:ext>
            </a:extLst>
          </p:cNvPr>
          <p:cNvCxnSpPr>
            <a:cxnSpLocks/>
          </p:cNvCxnSpPr>
          <p:nvPr/>
        </p:nvCxnSpPr>
        <p:spPr>
          <a:xfrm>
            <a:off x="1441856" y="3362197"/>
            <a:ext cx="3370528" cy="6253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7D7625B-AB4C-814F-9B54-B0D9F94F5B9C}"/>
              </a:ext>
            </a:extLst>
          </p:cNvPr>
          <p:cNvCxnSpPr>
            <a:cxnSpLocks/>
          </p:cNvCxnSpPr>
          <p:nvPr/>
        </p:nvCxnSpPr>
        <p:spPr>
          <a:xfrm flipV="1">
            <a:off x="1676298" y="4312763"/>
            <a:ext cx="3136086" cy="16905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6FFE2399-4665-08B1-CA68-38C342479D21}"/>
              </a:ext>
            </a:extLst>
          </p:cNvPr>
          <p:cNvSpPr txBox="1"/>
          <p:nvPr/>
        </p:nvSpPr>
        <p:spPr>
          <a:xfrm>
            <a:off x="2000846" y="1582860"/>
            <a:ext cx="17668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eFMU: Grid4HIL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A6FBAEA-52AC-7D39-9ACC-63D212AD9B26}"/>
              </a:ext>
            </a:extLst>
          </p:cNvPr>
          <p:cNvSpPr txBox="1"/>
          <p:nvPr/>
        </p:nvSpPr>
        <p:spPr>
          <a:xfrm>
            <a:off x="1676298" y="6143703"/>
            <a:ext cx="24899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eFMU: </a:t>
            </a:r>
            <a:r>
              <a:rPr lang="en-US" dirty="0" err="1">
                <a:solidFill>
                  <a:srgbClr val="FF0000"/>
                </a:solidFill>
              </a:rPr>
              <a:t>efmuPSS</a:t>
            </a:r>
            <a:r>
              <a:rPr lang="en-US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F815F9E-BF1D-24AE-8C89-97D75FFFF452}"/>
              </a:ext>
            </a:extLst>
          </p:cNvPr>
          <p:cNvSpPr txBox="1"/>
          <p:nvPr/>
        </p:nvSpPr>
        <p:spPr>
          <a:xfrm>
            <a:off x="1701672" y="3107316"/>
            <a:ext cx="1764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eFMU: </a:t>
            </a:r>
            <a:r>
              <a:rPr lang="en-US" dirty="0" err="1">
                <a:solidFill>
                  <a:srgbClr val="FF0000"/>
                </a:solidFill>
              </a:rPr>
              <a:t>CHILTest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DAB6EC-44B2-97E5-0886-584C47B9EFFA}"/>
              </a:ext>
            </a:extLst>
          </p:cNvPr>
          <p:cNvSpPr txBox="1"/>
          <p:nvPr/>
        </p:nvSpPr>
        <p:spPr>
          <a:xfrm>
            <a:off x="4938467" y="1541253"/>
            <a:ext cx="60967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4"/>
              </a:rPr>
              <a:t>https://github.com/ALSETLab/efmi-pss-use-case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929759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9DA78-BFE8-7B32-6491-6AB2C72D3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D0604B7-9732-79C9-8ECA-8BE8CAD9FC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85"/>
          <a:stretch>
            <a:fillRect/>
          </a:stretch>
        </p:blipFill>
        <p:spPr>
          <a:xfrm>
            <a:off x="37706" y="7189"/>
            <a:ext cx="2685263" cy="685800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C956E14-0CA3-8F63-472D-E453BAC9E465}"/>
              </a:ext>
            </a:extLst>
          </p:cNvPr>
          <p:cNvCxnSpPr/>
          <p:nvPr/>
        </p:nvCxnSpPr>
        <p:spPr>
          <a:xfrm>
            <a:off x="1477992" y="1541253"/>
            <a:ext cx="209334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97E1108-9642-6EF2-423F-65ECEB17613C}"/>
              </a:ext>
            </a:extLst>
          </p:cNvPr>
          <p:cNvCxnSpPr/>
          <p:nvPr/>
        </p:nvCxnSpPr>
        <p:spPr>
          <a:xfrm>
            <a:off x="1441856" y="3362197"/>
            <a:ext cx="209334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6BF4319-4678-EC02-56BB-A770033E8BF5}"/>
              </a:ext>
            </a:extLst>
          </p:cNvPr>
          <p:cNvCxnSpPr/>
          <p:nvPr/>
        </p:nvCxnSpPr>
        <p:spPr>
          <a:xfrm>
            <a:off x="1676298" y="6003273"/>
            <a:ext cx="209334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3FFB7D74-42C0-4C79-22A2-126AACEB0397}"/>
              </a:ext>
            </a:extLst>
          </p:cNvPr>
          <p:cNvSpPr txBox="1"/>
          <p:nvPr/>
        </p:nvSpPr>
        <p:spPr>
          <a:xfrm>
            <a:off x="1699812" y="1611140"/>
            <a:ext cx="17668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eFMU: Grid4HIL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9EFE34E-E8F4-FF1D-32A4-75AF50595251}"/>
              </a:ext>
            </a:extLst>
          </p:cNvPr>
          <p:cNvSpPr txBox="1"/>
          <p:nvPr/>
        </p:nvSpPr>
        <p:spPr>
          <a:xfrm>
            <a:off x="2001971" y="6021154"/>
            <a:ext cx="24899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eFMU: </a:t>
            </a:r>
            <a:r>
              <a:rPr lang="en-US" dirty="0" err="1">
                <a:solidFill>
                  <a:srgbClr val="FF0000"/>
                </a:solidFill>
              </a:rPr>
              <a:t>efmuPSS</a:t>
            </a:r>
            <a:r>
              <a:rPr lang="en-US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5BD9EC7-1A67-371E-1E78-B14BD5854BBD}"/>
              </a:ext>
            </a:extLst>
          </p:cNvPr>
          <p:cNvSpPr txBox="1"/>
          <p:nvPr/>
        </p:nvSpPr>
        <p:spPr>
          <a:xfrm>
            <a:off x="1840484" y="3461182"/>
            <a:ext cx="1764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eFMU: </a:t>
            </a:r>
            <a:r>
              <a:rPr lang="en-US" dirty="0" err="1">
                <a:solidFill>
                  <a:srgbClr val="FF0000"/>
                </a:solidFill>
              </a:rPr>
              <a:t>CHILTest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9C1C8C9-81EB-F061-EE51-C8E4A099281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1711"/>
          <a:stretch>
            <a:fillRect/>
          </a:stretch>
        </p:blipFill>
        <p:spPr>
          <a:xfrm>
            <a:off x="3689514" y="3140904"/>
            <a:ext cx="7133378" cy="74293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DAA8822-938D-F2C4-06AB-A37589A191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9513" y="1190179"/>
            <a:ext cx="7254133" cy="67614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041A706-EA57-3F71-8218-6375FD4A56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7137" y="5631937"/>
            <a:ext cx="6933645" cy="57089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48074DC-6F35-6588-E581-4D2F7A0506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96628" y="3268152"/>
            <a:ext cx="4157666" cy="1617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8916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309</Words>
  <Application>Microsoft Office PowerPoint</Application>
  <PresentationFormat>Widescreen</PresentationFormat>
  <Paragraphs>75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eFMU Deployment (1/2)</vt:lpstr>
      <vt:lpstr>eFMU Deployment (2/2)</vt:lpstr>
      <vt:lpstr>CHIL Test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Vanfretti, Luigi</dc:creator>
  <cp:lastModifiedBy>Vanfretti, Luigi</cp:lastModifiedBy>
  <cp:revision>15</cp:revision>
  <dcterms:created xsi:type="dcterms:W3CDTF">2025-11-17T13:21:17Z</dcterms:created>
  <dcterms:modified xsi:type="dcterms:W3CDTF">2025-12-19T18:53:13Z</dcterms:modified>
</cp:coreProperties>
</file>