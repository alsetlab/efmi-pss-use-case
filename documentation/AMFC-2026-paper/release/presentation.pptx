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59" r:id="rId1"/>
    <p:sldMasterId id="2147483718" r:id="rId2"/>
  </p:sldMasterIdLst>
  <p:notesMasterIdLst>
    <p:notesMasterId r:id="rId4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97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388" r:id="rId45"/>
  </p:sldIdLst>
  <p:sldSz cx="12192000" cy="6858000"/>
  <p:notesSz cx="6858000" cy="9144000"/>
  <p:embeddedFontLst>
    <p:embeddedFont>
      <p:font typeface="CMU Typewriter Text" panose="020B0604020202020204" charset="0"/>
      <p:regular r:id="rId47"/>
      <p:bold r:id="rId48"/>
      <p:italic r:id="rId49"/>
      <p:boldItalic r:id="rId50"/>
    </p:embeddedFont>
    <p:embeddedFont>
      <p:font typeface="Geist" panose="020B0604020202020204" charset="0"/>
      <p:regular r:id="rId51"/>
      <p:bold r:id="rId52"/>
      <p:italic r:id="rId53"/>
      <p:boldItalic r:id="rId54"/>
    </p:embeddedFont>
    <p:embeddedFont>
      <p:font typeface="Malvinas Sans" panose="020B0604020202020204" charset="0"/>
      <p:regular r:id="rId5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+mn-lt"/>
      <a:defRPr sz="1400" b="0" i="0" u="none" strike="noStrike" cap="none">
        <a:solidFill>
          <a:srgbClr val="000000"/>
        </a:solidFill>
        <a:latin typeface="+mn-lt"/>
        <a:ea typeface="+mn-ea"/>
        <a:cs typeface="+mn-cs"/>
        <a:sym typeface="+mn-lt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+mn-lt"/>
      <a:defRPr sz="1400" b="0" i="0" u="none" strike="noStrike" cap="none">
        <a:solidFill>
          <a:srgbClr val="000000"/>
        </a:solidFill>
        <a:latin typeface="+mn-lt"/>
        <a:ea typeface="+mn-ea"/>
        <a:cs typeface="+mn-cs"/>
        <a:sym typeface="+mn-lt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+mn-lt"/>
      <a:defRPr sz="1400" b="0" i="0" u="none" strike="noStrike" cap="none">
        <a:solidFill>
          <a:srgbClr val="000000"/>
        </a:solidFill>
        <a:latin typeface="+mn-lt"/>
        <a:ea typeface="+mn-ea"/>
        <a:cs typeface="+mn-cs"/>
        <a:sym typeface="+mn-lt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+mn-lt"/>
      <a:defRPr sz="1400" b="0" i="0" u="none" strike="noStrike" cap="none">
        <a:solidFill>
          <a:srgbClr val="000000"/>
        </a:solidFill>
        <a:latin typeface="+mn-lt"/>
        <a:ea typeface="+mn-ea"/>
        <a:cs typeface="+mn-cs"/>
        <a:sym typeface="+mn-lt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+mn-lt"/>
      <a:defRPr sz="1400" b="0" i="0" u="none" strike="noStrike" cap="none">
        <a:solidFill>
          <a:srgbClr val="000000"/>
        </a:solidFill>
        <a:latin typeface="+mn-lt"/>
        <a:ea typeface="+mn-ea"/>
        <a:cs typeface="+mn-cs"/>
        <a:sym typeface="+mn-lt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+mn-lt"/>
      <a:defRPr sz="1400" b="0" i="0" u="none" strike="noStrike" cap="none">
        <a:solidFill>
          <a:srgbClr val="000000"/>
        </a:solidFill>
        <a:latin typeface="+mn-lt"/>
        <a:ea typeface="+mn-ea"/>
        <a:cs typeface="+mn-cs"/>
        <a:sym typeface="+mn-lt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+mn-lt"/>
      <a:defRPr sz="1400" b="0" i="0" u="none" strike="noStrike" cap="none">
        <a:solidFill>
          <a:srgbClr val="000000"/>
        </a:solidFill>
        <a:latin typeface="+mn-lt"/>
        <a:ea typeface="+mn-ea"/>
        <a:cs typeface="+mn-cs"/>
        <a:sym typeface="+mn-lt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+mn-lt"/>
      <a:defRPr sz="1400" b="0" i="0" u="none" strike="noStrike" cap="none">
        <a:solidFill>
          <a:srgbClr val="000000"/>
        </a:solidFill>
        <a:latin typeface="+mn-lt"/>
        <a:ea typeface="+mn-ea"/>
        <a:cs typeface="+mn-cs"/>
        <a:sym typeface="+mn-lt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+mn-lt"/>
      <a:defRPr sz="1400" b="0" i="0" u="none" strike="noStrike" cap="none">
        <a:solidFill>
          <a:srgbClr val="000000"/>
        </a:solidFill>
        <a:latin typeface="+mn-lt"/>
        <a:ea typeface="+mn-ea"/>
        <a:cs typeface="+mn-cs"/>
        <a:sym typeface="+mn-lt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FF0000"/>
    <a:srgbClr val="FF9E27"/>
    <a:srgbClr val="3131FF"/>
    <a:srgbClr val="E57000"/>
    <a:srgbClr val="9A4CC7"/>
    <a:srgbClr val="0057D9"/>
    <a:srgbClr val="008A45"/>
    <a:srgbClr val="D600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81" autoAdjust="0"/>
    <p:restoredTop sz="85491" autoAdjust="0"/>
  </p:normalViewPr>
  <p:slideViewPr>
    <p:cSldViewPr snapToGrid="0">
      <p:cViewPr varScale="1">
        <p:scale>
          <a:sx n="63" d="100"/>
          <a:sy n="63" d="100"/>
        </p:scale>
        <p:origin x="592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55" Type="http://schemas.openxmlformats.org/officeDocument/2006/relationships/font" Target="fonts/font9.fnt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font" Target="fonts/font7.fntdata"/><Relationship Id="rId58" Type="http://schemas.openxmlformats.org/officeDocument/2006/relationships/theme" Target="theme/theme1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font" Target="fonts/font2.fntdata"/><Relationship Id="rId56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font" Target="fonts/font5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notesMaster" Target="notesMasters/notesMaster1.xml"/><Relationship Id="rId59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3.fntdata"/><Relationship Id="rId57" Type="http://schemas.openxmlformats.org/officeDocument/2006/relationships/viewProps" Target="view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+mn-lt"/>
              <a:buChar char="●"/>
              <a:defRPr sz="1100" b="0" i="0" u="none" strike="noStrike" cap="none">
                <a:solidFill>
                  <a:srgbClr val="000000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+mn-lt"/>
              <a:buChar char="○"/>
              <a:defRPr sz="1100" b="0" i="0" u="none" strike="noStrike" cap="none">
                <a:solidFill>
                  <a:srgbClr val="000000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+mn-lt"/>
              <a:buChar char="■"/>
              <a:defRPr sz="1100" b="0" i="0" u="none" strike="noStrike" cap="none">
                <a:solidFill>
                  <a:srgbClr val="000000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+mn-lt"/>
              <a:buChar char="●"/>
              <a:defRPr sz="1100" b="0" i="0" u="none" strike="noStrike" cap="none">
                <a:solidFill>
                  <a:srgbClr val="000000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+mn-lt"/>
              <a:buChar char="○"/>
              <a:defRPr sz="1100" b="0" i="0" u="none" strike="noStrike" cap="none">
                <a:solidFill>
                  <a:srgbClr val="000000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+mn-lt"/>
              <a:buChar char="■"/>
              <a:defRPr sz="1100" b="0" i="0" u="none" strike="noStrike" cap="none">
                <a:solidFill>
                  <a:srgbClr val="000000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+mn-lt"/>
              <a:buChar char="●"/>
              <a:defRPr sz="1100" b="0" i="0" u="none" strike="noStrike" cap="none">
                <a:solidFill>
                  <a:srgbClr val="000000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+mn-lt"/>
              <a:buChar char="○"/>
              <a:defRPr sz="1100" b="0" i="0" u="none" strike="noStrike" cap="none">
                <a:solidFill>
                  <a:srgbClr val="000000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+mn-lt"/>
              <a:buChar char="■"/>
              <a:defRPr sz="1100" b="0" i="0" u="none" strike="noStrike" cap="none">
                <a:solidFill>
                  <a:srgbClr val="000000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+mn-lt"/>
      <a:defRPr sz="1400" b="0" i="0" u="none" strike="noStrike" cap="none">
        <a:solidFill>
          <a:srgbClr val="000000"/>
        </a:solidFill>
        <a:latin typeface="+mn-lt"/>
        <a:ea typeface="+mn-ea"/>
        <a:cs typeface="+mn-cs"/>
        <a:sym typeface="+mn-lt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+mn-lt"/>
      <a:defRPr sz="1400" b="0" i="0" u="none" strike="noStrike" cap="none">
        <a:solidFill>
          <a:srgbClr val="000000"/>
        </a:solidFill>
        <a:latin typeface="+mn-lt"/>
        <a:ea typeface="+mn-ea"/>
        <a:cs typeface="+mn-cs"/>
        <a:sym typeface="+mn-lt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+mn-lt"/>
      <a:defRPr sz="1400" b="0" i="0" u="none" strike="noStrike" cap="none">
        <a:solidFill>
          <a:srgbClr val="000000"/>
        </a:solidFill>
        <a:latin typeface="+mn-lt"/>
        <a:ea typeface="+mn-ea"/>
        <a:cs typeface="+mn-cs"/>
        <a:sym typeface="+mn-lt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+mn-lt"/>
      <a:defRPr sz="1400" b="0" i="0" u="none" strike="noStrike" cap="none">
        <a:solidFill>
          <a:srgbClr val="000000"/>
        </a:solidFill>
        <a:latin typeface="+mn-lt"/>
        <a:ea typeface="+mn-ea"/>
        <a:cs typeface="+mn-cs"/>
        <a:sym typeface="+mn-lt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+mn-lt"/>
      <a:defRPr sz="1400" b="0" i="0" u="none" strike="noStrike" cap="none">
        <a:solidFill>
          <a:srgbClr val="000000"/>
        </a:solidFill>
        <a:latin typeface="+mn-lt"/>
        <a:ea typeface="+mn-ea"/>
        <a:cs typeface="+mn-cs"/>
        <a:sym typeface="+mn-lt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+mn-lt"/>
      <a:defRPr sz="1400" b="0" i="0" u="none" strike="noStrike" cap="none">
        <a:solidFill>
          <a:srgbClr val="000000"/>
        </a:solidFill>
        <a:latin typeface="+mn-lt"/>
        <a:ea typeface="+mn-ea"/>
        <a:cs typeface="+mn-cs"/>
        <a:sym typeface="+mn-lt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+mn-lt"/>
      <a:defRPr sz="1400" b="0" i="0" u="none" strike="noStrike" cap="none">
        <a:solidFill>
          <a:srgbClr val="000000"/>
        </a:solidFill>
        <a:latin typeface="+mn-lt"/>
        <a:ea typeface="+mn-ea"/>
        <a:cs typeface="+mn-cs"/>
        <a:sym typeface="+mn-lt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+mn-lt"/>
      <a:defRPr sz="1400" b="0" i="0" u="none" strike="noStrike" cap="none">
        <a:solidFill>
          <a:srgbClr val="000000"/>
        </a:solidFill>
        <a:latin typeface="+mn-lt"/>
        <a:ea typeface="+mn-ea"/>
        <a:cs typeface="+mn-cs"/>
        <a:sym typeface="+mn-lt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+mn-lt"/>
      <a:defRPr sz="1400" b="0" i="0" u="none" strike="noStrike" cap="none">
        <a:solidFill>
          <a:srgbClr val="000000"/>
        </a:solidFill>
        <a:latin typeface="+mn-lt"/>
        <a:ea typeface="+mn-ea"/>
        <a:cs typeface="+mn-cs"/>
        <a:sym typeface="+mn-lt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00:00 — 0:20</a:t>
            </a:r>
          </a:p>
          <a:p>
            <a:r>
              <a:t>• Good morning. This talk is about closing the gap between where a damping controller is designed and where it actually runs.</a:t>
            </a:r>
          </a:p>
          <a:p>
            <a:r>
              <a:t>• Joint work with Christoff Bürger at Dassault Systèmes and three students at RPI.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00:20 — 1:05</a:t>
            </a:r>
          </a:p>
          <a:p>
            <a:r>
              <a:t>• The PSS sits ahead of the excitation control system and feeds generator speed back to add damping. Bottom left is the arrangement; the box on the right is where it actually lives — inside the exciter's firmware, a vendor product.</a:t>
            </a:r>
          </a:p>
          <a:p>
            <a:r>
              <a:t>• Europe 2016 and 2017: inter-area oscillations. Iberia 2025: 0.63 and 0.2 Hz. The incident report is explicit that the *absence of detailed models of active damping controls* limited what operators could foresee.</a:t>
            </a:r>
          </a:p>
          <a:p>
            <a:r>
              <a:t>• The structure of a PSS is fixed; its parameters are not — and they are set once, at commissioning.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01:05 — 1:50</a:t>
            </a:r>
          </a:p>
          <a:p>
            <a:r>
              <a:t>• This is our own measurement, from a Dominion plant during MOD-25 testing.</a:t>
            </a:r>
          </a:p>
          <a:p>
            <a:r>
              <a:t>• A change of voltage set-point pushed the excitation system into leading power factor.</a:t>
            </a:r>
          </a:p>
          <a:p>
            <a:r>
              <a:t>• P and Q both oscillate — P participates through the P–V coupling of the synchronous machine.</a:t>
            </a:r>
          </a:p>
          <a:p>
            <a:r>
              <a:t>• It does not grow without bound: the over-excitation limiter turns it into a limit cycle.</a:t>
            </a:r>
          </a:p>
          <a:p>
            <a:r>
              <a:t>• The plant model was correct. The PSS was simply not tuned for light load in the leading-p.f. region. That is the whole argument for this talk.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01:50 — 2:35</a:t>
            </a:r>
          </a:p>
          <a:p>
            <a:r>
              <a:t>• Say what the photo is: our own bench, and the boxed unit is a commercial excitation controller with its PSS.</a:t>
            </a:r>
          </a:p>
          <a:p>
            <a:r>
              <a:t>• Today, getting a redesigned PSS onto hardware means re-implementing it by hand in somebody else's tool, against somebody else's fixed block structure.</a:t>
            </a:r>
          </a:p>
          <a:p>
            <a:r>
              <a:t>• And to test it you need a real-time plant model, which is where the $50,000 goes.</a:t>
            </a:r>
          </a:p>
          <a:p>
            <a:r>
              <a:t>• Our claim: one physics model, generated all the way down, on $50 of hardware.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02:35 — 3:20</a:t>
            </a:r>
          </a:p>
          <a:p>
            <a:r>
              <a:t>• Read the chain left to right: physics model, eFMU, microcontroller.</a:t>
            </a:r>
          </a:p>
          <a:p>
            <a:r>
              <a:t>• The important word is *generated*. Nothing in the chain is re-typed.</a:t>
            </a:r>
          </a:p>
          <a:p>
            <a:r>
              <a:t>• The second row is the validation ladder; each rung is checked before the next.</a:t>
            </a:r>
          </a:p>
          <a:p>
            <a:r>
              <a:t>• Note that the plant goes on a microcontroller too — that is the unusual part.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03:20 — 4:05</a:t>
            </a:r>
          </a:p>
          <a:p>
            <a:r>
              <a:rPr dirty="0"/>
              <a:t>• </a:t>
            </a:r>
            <a:r>
              <a:rPr dirty="0" err="1"/>
              <a:t>eFMI</a:t>
            </a:r>
            <a:r>
              <a:rPr dirty="0"/>
              <a:t> is a Modelica Association standard for stepwise, model-transformation-based development of control functions for safety-critical real-time targets.</a:t>
            </a:r>
          </a:p>
          <a:p>
            <a:r>
              <a:rPr dirty="0"/>
              <a:t>• Four container types, one </a:t>
            </a:r>
            <a:r>
              <a:rPr dirty="0" err="1"/>
              <a:t>eFMU</a:t>
            </a:r>
            <a:r>
              <a:rPr dirty="0"/>
              <a:t>. GALEC is the pivot: computationally safe, self-contained, no foreign function interface.</a:t>
            </a:r>
          </a:p>
          <a:p>
            <a:r>
              <a:rPr dirty="0"/>
              <a:t>• The point for this audience: every container links back to one </a:t>
            </a:r>
            <a:r>
              <a:rPr dirty="0" err="1"/>
              <a:t>standardised</a:t>
            </a:r>
            <a:r>
              <a:rPr dirty="0"/>
              <a:t> block interface. That is what makes traceability structural rather than documentary.</a:t>
            </a:r>
            <a:endParaRPr lang="en-US" dirty="0"/>
          </a:p>
          <a:p>
            <a:r>
              <a:rPr lang="en-US" dirty="0"/>
              <a:t>Guaranteed algorithmic real time execution</a:t>
            </a:r>
          </a:p>
          <a:p>
            <a:r>
              <a:rPr lang="en-US" dirty="0"/>
              <a:t>Error handling: can’t ignore errors, you must signal them or do something (error handling) </a:t>
            </a:r>
            <a:r>
              <a:rPr lang="en-US" dirty="0">
                <a:sym typeface="Wingdings" panose="05000000000000000000" pitchFamily="2" charset="2"/>
              </a:rPr>
              <a:t> as part of normal control-flow</a:t>
            </a:r>
            <a:br>
              <a:rPr lang="en-US" dirty="0"/>
            </a:b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04:05 — 4:50</a:t>
            </a:r>
          </a:p>
          <a:p>
            <a:r>
              <a:rPr dirty="0"/>
              <a:t>• OpenIPSL 3.1.0 is our open-source phasor-domain power system library.</a:t>
            </a:r>
          </a:p>
          <a:p>
            <a:r>
              <a:rPr dirty="0"/>
              <a:t>• </a:t>
            </a:r>
            <a:r>
              <a:rPr dirty="0" err="1"/>
              <a:t>OpenIPSL_CHIL</a:t>
            </a:r>
            <a:r>
              <a:rPr dirty="0"/>
              <a:t> is new with this paper: the extensions needed to take those models into the embedded domain.</a:t>
            </a:r>
          </a:p>
          <a:p>
            <a:r>
              <a:rPr dirty="0"/>
              <a:t>• Every sub-package ships its own </a:t>
            </a:r>
            <a:r>
              <a:rPr dirty="0" err="1"/>
              <a:t>eFMU</a:t>
            </a:r>
            <a:r>
              <a:rPr dirty="0"/>
              <a:t> generation configuration and unit tests, so the whole thing is reproducible from the repository.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04:50 — 5:35</a:t>
            </a:r>
          </a:p>
          <a:p>
            <a:r>
              <a:rPr dirty="0"/>
              <a:t>• Four variants, left to right in the figure.</a:t>
            </a:r>
          </a:p>
          <a:p>
            <a:r>
              <a:rPr dirty="0"/>
              <a:t>• (A) is the textbook PSAT Type II, equivalently PSS®E STAB1. (B) is the OpenIPSL implementation.</a:t>
            </a:r>
          </a:p>
          <a:p>
            <a:r>
              <a:rPr dirty="0"/>
              <a:t>• (C) adds what the hardware forces on us: input-dependent </a:t>
            </a:r>
            <a:r>
              <a:rPr dirty="0" err="1"/>
              <a:t>initialisation</a:t>
            </a:r>
            <a:r>
              <a:rPr dirty="0"/>
              <a:t>, the ×10 scaling to use the DAC range, and a 5 Hz low-pass against analog noise.</a:t>
            </a:r>
          </a:p>
          <a:p>
            <a:r>
              <a:rPr dirty="0"/>
              <a:t>• (D) swaps the washout for a plain first-order high-pass. Same frequency response as an ideal derivative, one state, no differentiation.</a:t>
            </a:r>
          </a:p>
          <a:p>
            <a:r>
              <a:rPr dirty="0"/>
              <a:t>• </a:t>
            </a:r>
            <a:r>
              <a:rPr dirty="0" err="1"/>
              <a:t>Emphasise</a:t>
            </a:r>
            <a:r>
              <a:rPr dirty="0"/>
              <a:t>: all four changes are *model-level*. We never touched generated code.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05:35 — 6:20</a:t>
            </a:r>
          </a:p>
          <a:p>
            <a:r>
              <a:rPr dirty="0"/>
              <a:t>• The plant is the generator with its excitation control system plus the rest of the grid — everything except the PSS.</a:t>
            </a:r>
          </a:p>
          <a:p>
            <a:r>
              <a:rPr dirty="0"/>
              <a:t>• Three changes were needed for GALEC. atan3 does not exist in GALEC; since the phase angle is always zero in OpenIPSL, atan2 is mathematically identical.</a:t>
            </a:r>
          </a:p>
          <a:p>
            <a:r>
              <a:rPr dirty="0"/>
              <a:t>• The time-based fault and line switches had to go: there is no global clock in CHiL, and we want the fault triggered by a button.</a:t>
            </a:r>
          </a:p>
          <a:p>
            <a:r>
              <a:rPr dirty="0"/>
              <a:t>• The signal conditioning is the part people underestimate: without it the speed deviation sits on the </a:t>
            </a:r>
            <a:r>
              <a:rPr dirty="0" err="1"/>
              <a:t>quantisation</a:t>
            </a:r>
            <a:r>
              <a:rPr dirty="0"/>
              <a:t> floor.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06:20 — 7:05</a:t>
            </a:r>
          </a:p>
          <a:p>
            <a:r>
              <a:rPr dirty="0"/>
              <a:t>• Five simulation cases, from the textbook reference model through to the clocked CHiL representation.</a:t>
            </a:r>
          </a:p>
          <a:p>
            <a:r>
              <a:rPr dirty="0"/>
              <a:t>• Panel (A): the traces are visually indistinguishable. Panel (B) and (C): the errors.</a:t>
            </a:r>
          </a:p>
          <a:p>
            <a:r>
              <a:rPr dirty="0"/>
              <a:t>• The number that matters is on the </a:t>
            </a:r>
            <a:r>
              <a:rPr lang="en-US" dirty="0"/>
              <a:t>bottom</a:t>
            </a:r>
            <a:r>
              <a:rPr dirty="0"/>
              <a:t>. The worst deviation introduced by every refactoring we did for </a:t>
            </a:r>
            <a:r>
              <a:rPr dirty="0" err="1"/>
              <a:t>eFMI</a:t>
            </a:r>
            <a:r>
              <a:rPr dirty="0"/>
              <a:t> is well under the hardware's own </a:t>
            </a:r>
            <a:r>
              <a:rPr dirty="0" err="1"/>
              <a:t>quantisation</a:t>
            </a:r>
            <a:r>
              <a:rPr dirty="0"/>
              <a:t> step.</a:t>
            </a:r>
          </a:p>
          <a:p>
            <a:r>
              <a:rPr dirty="0"/>
              <a:t>• So the structural changes cost nothing the hardware can see.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07:05 — 7:50</a:t>
            </a:r>
          </a:p>
          <a:p>
            <a:r>
              <a:rPr dirty="0"/>
              <a:t>• </a:t>
            </a:r>
            <a:r>
              <a:rPr dirty="0" err="1"/>
              <a:t>eFMU</a:t>
            </a:r>
            <a:r>
              <a:rPr dirty="0"/>
              <a:t> export is configured as an ordinary Modelica package extending </a:t>
            </a:r>
            <a:r>
              <a:rPr dirty="0" err="1"/>
              <a:t>DymolaEmbedded.EmbeddedConfiguration</a:t>
            </a:r>
            <a:r>
              <a:rPr dirty="0"/>
              <a:t> — so it is scriptable in .</a:t>
            </a:r>
            <a:r>
              <a:rPr dirty="0" err="1"/>
              <a:t>mos</a:t>
            </a:r>
            <a:r>
              <a:rPr dirty="0"/>
              <a:t> files like anything else.</a:t>
            </a:r>
          </a:p>
          <a:p>
            <a:r>
              <a:rPr dirty="0"/>
              <a:t>• The part I want to stress: </a:t>
            </a:r>
            <a:r>
              <a:rPr dirty="0" err="1"/>
              <a:t>SiL</a:t>
            </a:r>
            <a:r>
              <a:rPr dirty="0"/>
              <a:t> tests are *derived* from the </a:t>
            </a:r>
            <a:r>
              <a:rPr dirty="0" err="1"/>
              <a:t>MiL</a:t>
            </a:r>
            <a:r>
              <a:rPr dirty="0"/>
              <a:t> experiments. </a:t>
            </a:r>
            <a:r>
              <a:rPr dirty="0" err="1"/>
              <a:t>build_tests</a:t>
            </a:r>
            <a:r>
              <a:rPr dirty="0"/>
              <a:t>() takes an existing experiment, records the reference trajectories, and generates the test package. The only extra input is the tolerance.</a:t>
            </a:r>
          </a:p>
          <a:p>
            <a:r>
              <a:rPr dirty="0"/>
              <a:t>• 32-</a:t>
            </a:r>
            <a:r>
              <a:rPr lang="en-US" dirty="0"/>
              <a:t>Bit</a:t>
            </a:r>
            <a:r>
              <a:rPr dirty="0"/>
              <a:t> is what goes on the hardware: the L476RG only accelerates single precision.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[OMISSION CANDIDATE — drop if time is short]</a:t>
            </a:r>
          </a:p>
          <a:p>
            <a:r>
              <a:t>07:50 — 8:20</a:t>
            </a:r>
          </a:p>
          <a:p>
            <a:r>
              <a:t>• A quick aside on size, because it is what makes the code fit at all.</a:t>
            </a:r>
          </a:p>
          <a:p>
            <a:r>
              <a:t>• The eFMU production code exported as a source FMU is 31 kB. The same model exported as an ordinary Dymola source FMU is 5.41 MB.</a:t>
            </a:r>
          </a:p>
          <a:p>
            <a:r>
              <a:t>• And no library dependency beyond math.h — which is why the same artefact drops straight into dSPACE ConfigurationDesk, TwinCAT or Silver.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[OMISSION CANDIDATE — drop if time is short]</a:t>
            </a:r>
          </a:p>
          <a:p>
            <a:r>
              <a:t>08:20 — 9:05</a:t>
            </a:r>
          </a:p>
          <a:p>
            <a:r>
              <a:t>• This is the slide that separates eFMI from ordinary code generation.</a:t>
            </a:r>
          </a:p>
          <a:p>
            <a:r>
              <a:t>• Cppcheck Premium at exhaustive level, with MISRA C:2023 and SEI CERT C enabled, plus clang-tidy with everything on bar four justified exclusions.</a:t>
            </a:r>
          </a:p>
          <a:p>
            <a:r>
              <a:t>• 204 reports sounds alarming. Go through the categories: 159 are an advisory rule about external linkage, and our built-ins are deliberately a shared library. 23 are magic numbers in physics equations. 3 are provably impossible.</a:t>
            </a:r>
          </a:p>
          <a:p>
            <a:r>
              <a:t>• The one genuine-looking report turned out to be a Cppcheck bug, which they fixed in 26.6.0 on our finding.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09:05 — 9:50</a:t>
            </a:r>
          </a:p>
          <a:p>
            <a:r>
              <a:t>• Two boards: the controller on an 80 MHz Cortex-M4, the plant on a 550 MHz Cortex-M7 because of the linear algebra.</a:t>
            </a:r>
          </a:p>
          <a:p>
            <a:r>
              <a:t>• The integration trick worth stealing: the Production Code containers are symbolically linked into the CubeIDE projects. Re-export from Dymola, refresh the project, done. No manual re-import in the loop.</a:t>
            </a:r>
          </a:p>
          <a:p>
            <a:r>
              <a:t>• The timer has to match the eFMU sampling period exactly — that equation is the whole of it.</a:t>
            </a:r>
          </a:p>
          <a:p>
            <a:r>
              <a:t>• Buttons inject the fault and toggle the PSS, so the demo is interactive.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09:50 — 10:35</a:t>
            </a:r>
          </a:p>
          <a:p>
            <a:r>
              <a:t>• Left: PSS disengaged. The plant is an undamped pendulum; a second fault drives it unstable.</a:t>
            </a:r>
          </a:p>
          <a:p>
            <a:r>
              <a:t>• Right: PSS engaged. The controller voltage in orange, the speed in blue. Damped to steady state within seconds.</a:t>
            </a:r>
          </a:p>
          <a:p>
            <a:r>
              <a:t>• The number: with the PSS it recovers from a ±0.2 pu speed deviation. Without, ±0.1 pu is enough to lose it. We deliberately held the fault button down long enough to find the limit.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[OMISSION CANDIDATE — drop if time is short]</a:t>
            </a:r>
          </a:p>
          <a:p>
            <a:r>
              <a:t>10:35 — 11:20</a:t>
            </a:r>
          </a:p>
          <a:p>
            <a:r>
              <a:t>• We also wanted the closed-loop frequency response of the two-board system, not just the time domain.</a:t>
            </a:r>
          </a:p>
          <a:p>
            <a:r>
              <a:t>• The STM32 ADC cannot take negative voltages, so a MAX474 summing amplifier biases a ±50 mV sweep onto the plant's 1.0 V DC speed output — 0.95 to 1.05 V into the ADC.</a:t>
            </a:r>
          </a:p>
          <a:p>
            <a:r>
              <a:t>• The match is good through the resonance. The flattening above about 5 Hz is the Analog Discovery's noise floor and the onboard converters, not the model.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11:20 — 12:05</a:t>
            </a:r>
          </a:p>
          <a:p>
            <a:r>
              <a:rPr dirty="0"/>
              <a:t>• A GPIO pin goes high when a sampling starts and low when it finishes; a second pin toggles on every timer tick. The oscilloscope then measures the true computation time against the sampling period.</a:t>
            </a:r>
          </a:p>
          <a:p>
            <a:r>
              <a:rPr dirty="0"/>
              <a:t>• Plant, release build: 96 µs in steady state, 133 µs under sustained fault. The difference is sparsity — without a fault, A and b in </a:t>
            </a:r>
            <a:r>
              <a:rPr dirty="0" err="1"/>
              <a:t>solveLinearEquations</a:t>
            </a:r>
            <a:r>
              <a:rPr dirty="0"/>
              <a:t> are sparse and the solver skips the zeros.</a:t>
            </a:r>
          </a:p>
          <a:p>
            <a:r>
              <a:rPr dirty="0"/>
              <a:t>• That is why the fault case is the real test, even though the plant is beyond recovery there.</a:t>
            </a:r>
          </a:p>
          <a:p>
            <a:r>
              <a:rPr dirty="0"/>
              <a:t>• The debug build overruns by 19.5 %. That is the argument for </a:t>
            </a:r>
            <a:r>
              <a:rPr dirty="0" err="1"/>
              <a:t>SiL</a:t>
            </a:r>
            <a:r>
              <a:rPr dirty="0"/>
              <a:t>: debug functional problems offline, not on the target.</a:t>
            </a:r>
            <a:endParaRPr lang="en-US" dirty="0"/>
          </a:p>
          <a:p>
            <a:r>
              <a:rPr lang="en-US" dirty="0"/>
              <a:t>What is -O0 (No optimizations), -O3 (Applies all optimization)</a:t>
            </a:r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12:05 — 12:50</a:t>
            </a:r>
          </a:p>
          <a:p>
            <a:r>
              <a:t>• A complete MBSE chain from acausal physics to MISRA-compliant embedded C, with traceability preserved by construction.</a:t>
            </a:r>
          </a:p>
          <a:p>
            <a:r>
              <a:t>• The surprise: eFMI works for hard real-time *plant* simulation, not just controllers. We only tried it out of curiosity, expecting to buy a dSPACE box for the plant.</a:t>
            </a:r>
          </a:p>
          <a:p>
            <a:r>
              <a:t>• Everything is open: models, eFMUs, CubeIDE projects, raw measurements, analysis logs.</a:t>
            </a:r>
          </a:p>
          <a:p>
            <a:r>
              <a:t>• Please take it and build on it — that is why it is there.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12:50 — end</a:t>
            </a:r>
          </a:p>
          <a:p>
            <a:r>
              <a:t>• Leave this up through Q&amp;A: the QR is the repository.</a:t>
            </a:r>
          </a:p>
          <a:p>
            <a:r>
              <a:t>• Back-up slides follow if a question needs one.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 shown unless a question calls for one.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gi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gi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Rensselaer wordmark"/>
          <p:cNvPicPr preferRelativeResize="0"/>
          <p:nvPr/>
        </p:nvPicPr>
        <p:blipFill rotWithShape="1">
          <a:blip r:embed="rId2"/>
          <a:srcRect/>
          <a:stretch/>
        </p:blipFill>
        <p:spPr>
          <a:xfrm>
            <a:off x="365760" y="201168"/>
            <a:ext cx="3017520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ALSETLab logo"/>
          <p:cNvPicPr preferRelativeResize="0"/>
          <p:nvPr/>
        </p:nvPicPr>
        <p:blipFill rotWithShape="1">
          <a:blip r:embed="rId3"/>
          <a:srcRect/>
          <a:stretch/>
        </p:blipFill>
        <p:spPr>
          <a:xfrm>
            <a:off x="9692640" y="292608"/>
            <a:ext cx="2103120" cy="508406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Red block"/>
          <p:cNvSpPr/>
          <p:nvPr/>
        </p:nvSpPr>
        <p:spPr>
          <a:xfrm>
            <a:off x="0" y="3154680"/>
            <a:ext cx="12191695" cy="3703320"/>
          </a:xfrm>
          <a:prstGeom prst="rect">
            <a:avLst/>
          </a:prstGeom>
          <a:solidFill>
            <a:srgbClr val="D6001C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104" name="Block rule"/>
          <p:cNvCxnSpPr/>
          <p:nvPr/>
        </p:nvCxnSpPr>
        <p:spPr>
          <a:xfrm>
            <a:off x="0" y="3108960"/>
            <a:ext cx="12191695" cy="0"/>
          </a:xfrm>
          <a:prstGeom prst="straightConnector1">
            <a:avLst/>
          </a:prstGeom>
          <a:noFill/>
          <a:ln w="19050">
            <a:solidFill>
              <a:srgbClr val="D6001C"/>
            </a:solidFill>
          </a:ln>
        </p:spPr>
      </p:cxnSp>
      <p:sp>
        <p:nvSpPr>
          <p:cNvPr id="105" name="Title"/>
          <p:cNvSpPr>
            <a:spLocks noGrp="1"/>
          </p:cNvSpPr>
          <p:nvPr>
            <p:ph type="ctrTitle"/>
          </p:nvPr>
        </p:nvSpPr>
        <p:spPr>
          <a:xfrm>
            <a:off x="548640" y="1005840"/>
            <a:ext cx="11091672" cy="1325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 i="0">
                <a:solidFill>
                  <a:schemeClr val="tx2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400"/>
              </a:spcBef>
              <a:buNone/>
              <a:defRPr sz="1700" b="0" i="0">
                <a:solidFill>
                  <a:schemeClr val="tx2"/>
                </a:solidFill>
              </a:defRPr>
            </a:lvl2pPr>
          </a:lstStyle>
          <a:p>
            <a:endParaRPr/>
          </a:p>
        </p:txBody>
      </p:sp>
      <p:sp>
        <p:nvSpPr>
          <p:cNvPr id="106" name="Authors"/>
          <p:cNvSpPr>
            <a:spLocks noGrp="1"/>
          </p:cNvSpPr>
          <p:nvPr>
            <p:ph type="body" idx="1"/>
          </p:nvPr>
        </p:nvSpPr>
        <p:spPr>
          <a:xfrm>
            <a:off x="548640" y="2395728"/>
            <a:ext cx="11091672" cy="685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>
                <a:solidFill>
                  <a:schemeClr val="tx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200"/>
              </a:spcBef>
              <a:buNone/>
              <a:defRPr sz="1300" b="0" i="0">
                <a:solidFill>
                  <a:schemeClr val="accent3"/>
                </a:solidFill>
              </a:defRPr>
            </a:lvl2pPr>
          </a:lstStyle>
          <a:p>
            <a:endParaRPr/>
          </a:p>
        </p:txBody>
      </p:sp>
      <p:sp>
        <p:nvSpPr>
          <p:cNvPr id="107" name="Event"/>
          <p:cNvSpPr>
            <a:spLocks noGrp="1"/>
          </p:cNvSpPr>
          <p:nvPr>
            <p:ph type="body" idx="4"/>
          </p:nvPr>
        </p:nvSpPr>
        <p:spPr>
          <a:xfrm>
            <a:off x="731520" y="3310128"/>
            <a:ext cx="10725912" cy="105156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1" i="0">
                <a:solidFill>
                  <a:schemeClr val="bg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200"/>
              </a:spcBef>
              <a:buNone/>
              <a:defRPr sz="1300" b="0" i="0">
                <a:solidFill>
                  <a:schemeClr val="bg1"/>
                </a:solidFill>
              </a:defRPr>
            </a:lvl2pPr>
          </a:lstStyle>
          <a:p>
            <a:endParaRPr/>
          </a:p>
        </p:txBody>
      </p:sp>
      <p:pic>
        <p:nvPicPr>
          <p:cNvPr id="108" name="RPI animated"/>
          <p:cNvPicPr preferRelativeResize="0"/>
          <p:nvPr/>
        </p:nvPicPr>
        <p:blipFill rotWithShape="1">
          <a:blip r:embed="rId4"/>
          <a:srcRect l="35938" t="34722" r="35938" b="34722"/>
          <a:stretch/>
        </p:blipFill>
        <p:spPr>
          <a:xfrm>
            <a:off x="3383280" y="4526280"/>
            <a:ext cx="2194560" cy="134112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Contact"/>
          <p:cNvSpPr>
            <a:spLocks noGrp="1"/>
          </p:cNvSpPr>
          <p:nvPr>
            <p:ph type="body" idx="6"/>
          </p:nvPr>
        </p:nvSpPr>
        <p:spPr>
          <a:xfrm>
            <a:off x="5852160" y="4480560"/>
            <a:ext cx="4023360" cy="1463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 i="0">
                <a:solidFill>
                  <a:schemeClr val="bg1"/>
                </a:solidFill>
              </a:defRPr>
            </a:lvl1pPr>
            <a:lvl2pPr marL="0" indent="0" algn="l">
              <a:lnSpc>
                <a:spcPct val="100000"/>
              </a:lnSpc>
              <a:spcBef>
                <a:spcPts val="200"/>
              </a:spcBef>
              <a:buNone/>
              <a:defRPr sz="1200" b="0" i="0">
                <a:solidFill>
                  <a:schemeClr val="bg1"/>
                </a:solidFill>
              </a:defRPr>
            </a:lvl2pPr>
          </a:lstStyle>
          <a:p>
            <a:endParaRPr/>
          </a:p>
        </p:txBody>
      </p:sp>
      <p:sp>
        <p:nvSpPr>
          <p:cNvPr id="110" name="QR"/>
          <p:cNvSpPr>
            <a:spLocks noGrp="1"/>
          </p:cNvSpPr>
          <p:nvPr>
            <p:ph type="pic" idx="7"/>
          </p:nvPr>
        </p:nvSpPr>
        <p:spPr>
          <a:xfrm>
            <a:off x="10058400" y="4572000"/>
            <a:ext cx="1463040" cy="14630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accent3"/>
                </a:solidFill>
              </a:defRPr>
            </a:lvl1pPr>
          </a:lstStyle>
          <a:p>
            <a:r>
              <a:rPr lang="en-US"/>
              <a:t>Figure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1" name="Title rule"/>
          <p:cNvCxnSpPr/>
          <p:nvPr/>
        </p:nvCxnSpPr>
        <p:spPr>
          <a:xfrm>
            <a:off x="0" y="768096"/>
            <a:ext cx="12191695" cy="0"/>
          </a:xfrm>
          <a:prstGeom prst="straightConnector1">
            <a:avLst/>
          </a:prstGeom>
          <a:noFill/>
          <a:ln w="9525">
            <a:solidFill>
              <a:srgbClr val="D6001C"/>
            </a:solidFill>
          </a:ln>
        </p:spPr>
      </p:cxnSp>
      <p:sp>
        <p:nvSpPr>
          <p:cNvPr id="112" name="Footer band"/>
          <p:cNvSpPr/>
          <p:nvPr/>
        </p:nvSpPr>
        <p:spPr>
          <a:xfrm>
            <a:off x="-9144" y="6455664"/>
            <a:ext cx="12209983" cy="402336"/>
          </a:xfrm>
          <a:prstGeom prst="rect">
            <a:avLst/>
          </a:prstGeom>
          <a:solidFill>
            <a:srgbClr val="DB091C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13" name="RPI logo"/>
          <p:cNvPicPr preferRelativeResize="0"/>
          <p:nvPr/>
        </p:nvPicPr>
        <p:blipFill rotWithShape="1">
          <a:blip r:embed="rId2"/>
          <a:srcRect/>
          <a:stretch/>
        </p:blipFill>
        <p:spPr>
          <a:xfrm>
            <a:off x="164592" y="6519672"/>
            <a:ext cx="45720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ALSETLab logo"/>
          <p:cNvPicPr preferRelativeResize="0"/>
          <p:nvPr/>
        </p:nvPicPr>
        <p:blipFill rotWithShape="1">
          <a:blip r:embed="rId3"/>
          <a:srcRect/>
          <a:stretch/>
        </p:blipFill>
        <p:spPr>
          <a:xfrm>
            <a:off x="9875520" y="128016"/>
            <a:ext cx="2103120" cy="508406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Section band"/>
          <p:cNvSpPr/>
          <p:nvPr/>
        </p:nvSpPr>
        <p:spPr>
          <a:xfrm>
            <a:off x="365760" y="2505456"/>
            <a:ext cx="11460175" cy="1591056"/>
          </a:xfrm>
          <a:prstGeom prst="roundRect">
            <a:avLst/>
          </a:prstGeom>
          <a:solidFill>
            <a:srgbClr val="D6001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6" name="Title"/>
          <p:cNvSpPr>
            <a:spLocks noGrp="1"/>
          </p:cNvSpPr>
          <p:nvPr>
            <p:ph type="ctrTitle"/>
          </p:nvPr>
        </p:nvSpPr>
        <p:spPr>
          <a:xfrm>
            <a:off x="640080" y="2505456"/>
            <a:ext cx="10927080" cy="1591056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000" b="1" i="0"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117" name="Subtitle"/>
          <p:cNvSpPr>
            <a:spLocks noGrp="1"/>
          </p:cNvSpPr>
          <p:nvPr>
            <p:ph type="body" idx="1"/>
          </p:nvPr>
        </p:nvSpPr>
        <p:spPr>
          <a:xfrm>
            <a:off x="640080" y="4297680"/>
            <a:ext cx="1092708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i="1">
                <a:solidFill>
                  <a:schemeClr val="accent3"/>
                </a:solidFill>
              </a:defRPr>
            </a:lvl1pPr>
          </a:lstStyle>
          <a:p>
            <a:endParaRPr/>
          </a:p>
        </p:txBody>
      </p:sp>
      <p:sp>
        <p:nvSpPr>
          <p:cNvPr id="118" name="Footer"/>
          <p:cNvSpPr>
            <a:spLocks noGrp="1"/>
          </p:cNvSpPr>
          <p:nvPr>
            <p:ph type="ftr" sz="quarter" idx="11"/>
          </p:nvPr>
        </p:nvSpPr>
        <p:spPr>
          <a:xfrm>
            <a:off x="6400800" y="6675120"/>
            <a:ext cx="5486400" cy="16459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19" name="Slide Number"/>
          <p:cNvSpPr>
            <a:spLocks noGrp="1"/>
          </p:cNvSpPr>
          <p:nvPr>
            <p:ph type="sldNum" sz="quarter" idx="12"/>
          </p:nvPr>
        </p:nvSpPr>
        <p:spPr>
          <a:xfrm>
            <a:off x="11018520" y="6501384"/>
            <a:ext cx="868680" cy="20116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itle"/>
          <p:cNvSpPr>
            <a:spLocks noGrp="1"/>
          </p:cNvSpPr>
          <p:nvPr>
            <p:ph type="title"/>
          </p:nvPr>
        </p:nvSpPr>
        <p:spPr>
          <a:xfrm>
            <a:off x="365760" y="128016"/>
            <a:ext cx="937260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>
            <a:normAutofit/>
          </a:bodyPr>
          <a:lstStyle/>
          <a:p>
            <a:endParaRPr/>
          </a:p>
        </p:txBody>
      </p:sp>
      <p:sp>
        <p:nvSpPr>
          <p:cNvPr id="120" name="Content"/>
          <p:cNvSpPr>
            <a:spLocks noGrp="1"/>
          </p:cNvSpPr>
          <p:nvPr>
            <p:ph type="body" idx="1"/>
          </p:nvPr>
        </p:nvSpPr>
        <p:spPr>
          <a:xfrm>
            <a:off x="365760" y="914400"/>
            <a:ext cx="11460175" cy="5303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p:sp>
        <p:nvSpPr>
          <p:cNvPr id="122" name="Footer"/>
          <p:cNvSpPr>
            <a:spLocks noGrp="1"/>
          </p:cNvSpPr>
          <p:nvPr>
            <p:ph type="ftr" sz="quarter" idx="11"/>
          </p:nvPr>
        </p:nvSpPr>
        <p:spPr>
          <a:xfrm>
            <a:off x="6400800" y="6675120"/>
            <a:ext cx="5486400" cy="16459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23" name="Slide Number"/>
          <p:cNvSpPr>
            <a:spLocks noGrp="1"/>
          </p:cNvSpPr>
          <p:nvPr>
            <p:ph type="sldNum" sz="quarter" idx="12"/>
          </p:nvPr>
        </p:nvSpPr>
        <p:spPr>
          <a:xfrm>
            <a:off x="11018520" y="6501384"/>
            <a:ext cx="868680" cy="20116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le"/>
          <p:cNvSpPr>
            <a:spLocks noGrp="1"/>
          </p:cNvSpPr>
          <p:nvPr>
            <p:ph type="title"/>
          </p:nvPr>
        </p:nvSpPr>
        <p:spPr>
          <a:xfrm>
            <a:off x="365760" y="128016"/>
            <a:ext cx="937260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>
            <a:normAutofit/>
          </a:bodyPr>
          <a:lstStyle/>
          <a:p>
            <a:endParaRPr/>
          </a:p>
        </p:txBody>
      </p:sp>
      <p:sp>
        <p:nvSpPr>
          <p:cNvPr id="124" name="Content"/>
          <p:cNvSpPr>
            <a:spLocks noGrp="1"/>
          </p:cNvSpPr>
          <p:nvPr>
            <p:ph type="body" idx="1"/>
          </p:nvPr>
        </p:nvSpPr>
        <p:spPr>
          <a:xfrm>
            <a:off x="365760" y="914400"/>
            <a:ext cx="6126480" cy="5303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p:sp>
        <p:nvSpPr>
          <p:cNvPr id="125" name="Figure"/>
          <p:cNvSpPr>
            <a:spLocks noGrp="1"/>
          </p:cNvSpPr>
          <p:nvPr>
            <p:ph type="pic" idx="2"/>
          </p:nvPr>
        </p:nvSpPr>
        <p:spPr>
          <a:xfrm>
            <a:off x="6720840" y="914400"/>
            <a:ext cx="5105095" cy="491947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accent3"/>
                </a:solidFill>
              </a:defRPr>
            </a:lvl1pPr>
          </a:lstStyle>
          <a:p>
            <a:r>
              <a:rPr lang="en-US"/>
              <a:t>Figure</a:t>
            </a:r>
          </a:p>
        </p:txBody>
      </p:sp>
      <p:sp>
        <p:nvSpPr>
          <p:cNvPr id="126" name="Caption"/>
          <p:cNvSpPr>
            <a:spLocks noGrp="1"/>
          </p:cNvSpPr>
          <p:nvPr>
            <p:ph type="body" idx="4"/>
          </p:nvPr>
        </p:nvSpPr>
        <p:spPr>
          <a:xfrm>
            <a:off x="6720840" y="5870448"/>
            <a:ext cx="5105095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200"/>
              </a:spcBef>
              <a:buNone/>
              <a:defRPr sz="1100" b="0" i="1">
                <a:solidFill>
                  <a:schemeClr val="accent3"/>
                </a:solidFill>
              </a:defRPr>
            </a:lvl1pPr>
          </a:lstStyle>
          <a:p>
            <a:endParaRPr/>
          </a:p>
        </p:txBody>
      </p:sp>
      <p:sp>
        <p:nvSpPr>
          <p:cNvPr id="128" name="Footer"/>
          <p:cNvSpPr>
            <a:spLocks noGrp="1"/>
          </p:cNvSpPr>
          <p:nvPr>
            <p:ph type="ftr" sz="quarter" idx="11"/>
          </p:nvPr>
        </p:nvSpPr>
        <p:spPr>
          <a:xfrm>
            <a:off x="6400800" y="6675120"/>
            <a:ext cx="5486400" cy="16459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29" name="Slide Number"/>
          <p:cNvSpPr>
            <a:spLocks noGrp="1"/>
          </p:cNvSpPr>
          <p:nvPr>
            <p:ph type="sldNum" sz="quarter" idx="12"/>
          </p:nvPr>
        </p:nvSpPr>
        <p:spPr>
          <a:xfrm>
            <a:off x="11018520" y="6501384"/>
            <a:ext cx="868680" cy="20116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gur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itle"/>
          <p:cNvSpPr>
            <a:spLocks noGrp="1"/>
          </p:cNvSpPr>
          <p:nvPr>
            <p:ph type="title"/>
          </p:nvPr>
        </p:nvSpPr>
        <p:spPr>
          <a:xfrm>
            <a:off x="365760" y="128016"/>
            <a:ext cx="937260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>
            <a:normAutofit/>
          </a:bodyPr>
          <a:lstStyle/>
          <a:p>
            <a:endParaRPr/>
          </a:p>
        </p:txBody>
      </p:sp>
      <p:sp>
        <p:nvSpPr>
          <p:cNvPr id="130" name="Figure"/>
          <p:cNvSpPr>
            <a:spLocks noGrp="1"/>
          </p:cNvSpPr>
          <p:nvPr>
            <p:ph type="pic" idx="2"/>
          </p:nvPr>
        </p:nvSpPr>
        <p:spPr>
          <a:xfrm>
            <a:off x="365760" y="914400"/>
            <a:ext cx="11460175" cy="249631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accent3"/>
                </a:solidFill>
              </a:defRPr>
            </a:lvl1pPr>
          </a:lstStyle>
          <a:p>
            <a:r>
              <a:rPr lang="en-US"/>
              <a:t>Figure</a:t>
            </a:r>
          </a:p>
        </p:txBody>
      </p:sp>
      <p:sp>
        <p:nvSpPr>
          <p:cNvPr id="131" name="Caption"/>
          <p:cNvSpPr>
            <a:spLocks noGrp="1"/>
          </p:cNvSpPr>
          <p:nvPr>
            <p:ph type="body" idx="4"/>
          </p:nvPr>
        </p:nvSpPr>
        <p:spPr>
          <a:xfrm>
            <a:off x="365760" y="3447288"/>
            <a:ext cx="11460175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200"/>
              </a:spcBef>
              <a:buNone/>
              <a:defRPr sz="1100" b="0" i="1">
                <a:solidFill>
                  <a:schemeClr val="accent3"/>
                </a:solidFill>
              </a:defRPr>
            </a:lvl1pPr>
          </a:lstStyle>
          <a:p>
            <a:endParaRPr/>
          </a:p>
        </p:txBody>
      </p:sp>
      <p:sp>
        <p:nvSpPr>
          <p:cNvPr id="132" name="Content"/>
          <p:cNvSpPr>
            <a:spLocks noGrp="1"/>
          </p:cNvSpPr>
          <p:nvPr>
            <p:ph type="body" idx="1"/>
          </p:nvPr>
        </p:nvSpPr>
        <p:spPr>
          <a:xfrm>
            <a:off x="365760" y="3776472"/>
            <a:ext cx="11460175" cy="24414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p:sp>
        <p:nvSpPr>
          <p:cNvPr id="134" name="Footer"/>
          <p:cNvSpPr>
            <a:spLocks noGrp="1"/>
          </p:cNvSpPr>
          <p:nvPr>
            <p:ph type="ftr" sz="quarter" idx="11"/>
          </p:nvPr>
        </p:nvSpPr>
        <p:spPr>
          <a:xfrm>
            <a:off x="6400800" y="6675120"/>
            <a:ext cx="5486400" cy="16459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35" name="Slide Number"/>
          <p:cNvSpPr>
            <a:spLocks noGrp="1"/>
          </p:cNvSpPr>
          <p:nvPr>
            <p:ph type="sldNum" sz="quarter" idx="12"/>
          </p:nvPr>
        </p:nvSpPr>
        <p:spPr>
          <a:xfrm>
            <a:off x="11018520" y="6501384"/>
            <a:ext cx="868680" cy="20116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gur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itle"/>
          <p:cNvSpPr>
            <a:spLocks noGrp="1"/>
          </p:cNvSpPr>
          <p:nvPr>
            <p:ph type="title"/>
          </p:nvPr>
        </p:nvSpPr>
        <p:spPr>
          <a:xfrm>
            <a:off x="365760" y="128016"/>
            <a:ext cx="937260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>
            <a:normAutofit/>
          </a:bodyPr>
          <a:lstStyle/>
          <a:p>
            <a:endParaRPr/>
          </a:p>
        </p:txBody>
      </p:sp>
      <p:sp>
        <p:nvSpPr>
          <p:cNvPr id="136" name="Figure"/>
          <p:cNvSpPr>
            <a:spLocks noGrp="1"/>
          </p:cNvSpPr>
          <p:nvPr>
            <p:ph type="pic" idx="2"/>
          </p:nvPr>
        </p:nvSpPr>
        <p:spPr>
          <a:xfrm>
            <a:off x="365760" y="914400"/>
            <a:ext cx="5615788" cy="280720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accent3"/>
                </a:solidFill>
              </a:defRPr>
            </a:lvl1pPr>
          </a:lstStyle>
          <a:p>
            <a:r>
              <a:rPr lang="en-US"/>
              <a:t>Figure</a:t>
            </a:r>
          </a:p>
        </p:txBody>
      </p:sp>
      <p:sp>
        <p:nvSpPr>
          <p:cNvPr id="137" name="Figure Right"/>
          <p:cNvSpPr>
            <a:spLocks noGrp="1"/>
          </p:cNvSpPr>
          <p:nvPr>
            <p:ph type="pic" idx="3"/>
          </p:nvPr>
        </p:nvSpPr>
        <p:spPr>
          <a:xfrm>
            <a:off x="6210148" y="914400"/>
            <a:ext cx="5615788" cy="280720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accent3"/>
                </a:solidFill>
              </a:defRPr>
            </a:lvl1pPr>
          </a:lstStyle>
          <a:p>
            <a:r>
              <a:rPr lang="en-US"/>
              <a:t>Figure</a:t>
            </a:r>
          </a:p>
        </p:txBody>
      </p:sp>
      <p:sp>
        <p:nvSpPr>
          <p:cNvPr id="138" name="Caption"/>
          <p:cNvSpPr>
            <a:spLocks noGrp="1"/>
          </p:cNvSpPr>
          <p:nvPr>
            <p:ph type="body" idx="4"/>
          </p:nvPr>
        </p:nvSpPr>
        <p:spPr>
          <a:xfrm>
            <a:off x="365760" y="3758184"/>
            <a:ext cx="11460175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200"/>
              </a:spcBef>
              <a:buNone/>
              <a:defRPr sz="1100" b="0" i="1">
                <a:solidFill>
                  <a:schemeClr val="accent3"/>
                </a:solidFill>
              </a:defRPr>
            </a:lvl1pPr>
          </a:lstStyle>
          <a:p>
            <a:endParaRPr/>
          </a:p>
        </p:txBody>
      </p:sp>
      <p:sp>
        <p:nvSpPr>
          <p:cNvPr id="139" name="Content"/>
          <p:cNvSpPr>
            <a:spLocks noGrp="1"/>
          </p:cNvSpPr>
          <p:nvPr>
            <p:ph type="body" idx="1"/>
          </p:nvPr>
        </p:nvSpPr>
        <p:spPr>
          <a:xfrm>
            <a:off x="365760" y="4087368"/>
            <a:ext cx="11460175" cy="213055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p:sp>
        <p:nvSpPr>
          <p:cNvPr id="141" name="Footer"/>
          <p:cNvSpPr>
            <a:spLocks noGrp="1"/>
          </p:cNvSpPr>
          <p:nvPr>
            <p:ph type="ftr" sz="quarter" idx="11"/>
          </p:nvPr>
        </p:nvSpPr>
        <p:spPr>
          <a:xfrm>
            <a:off x="6400800" y="6675120"/>
            <a:ext cx="5486400" cy="16459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42" name="Slide Number"/>
          <p:cNvSpPr>
            <a:spLocks noGrp="1"/>
          </p:cNvSpPr>
          <p:nvPr>
            <p:ph type="sldNum" sz="quarter" idx="12"/>
          </p:nvPr>
        </p:nvSpPr>
        <p:spPr>
          <a:xfrm>
            <a:off x="11018520" y="6501384"/>
            <a:ext cx="868680" cy="20116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itle"/>
          <p:cNvSpPr>
            <a:spLocks noGrp="1"/>
          </p:cNvSpPr>
          <p:nvPr>
            <p:ph type="title"/>
          </p:nvPr>
        </p:nvSpPr>
        <p:spPr>
          <a:xfrm>
            <a:off x="365760" y="128016"/>
            <a:ext cx="937260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>
            <a:normAutofit/>
          </a:bodyPr>
          <a:lstStyle/>
          <a:p>
            <a:endParaRPr/>
          </a:p>
        </p:txBody>
      </p:sp>
      <p:sp>
        <p:nvSpPr>
          <p:cNvPr id="143" name="Content Left"/>
          <p:cNvSpPr>
            <a:spLocks noGrp="1"/>
          </p:cNvSpPr>
          <p:nvPr>
            <p:ph type="body" idx="1"/>
          </p:nvPr>
        </p:nvSpPr>
        <p:spPr>
          <a:xfrm>
            <a:off x="365760" y="914400"/>
            <a:ext cx="5615788" cy="5303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p:sp>
        <p:nvSpPr>
          <p:cNvPr id="144" name="Content Right"/>
          <p:cNvSpPr>
            <a:spLocks noGrp="1"/>
          </p:cNvSpPr>
          <p:nvPr>
            <p:ph type="body" idx="2"/>
          </p:nvPr>
        </p:nvSpPr>
        <p:spPr>
          <a:xfrm>
            <a:off x="6210148" y="914400"/>
            <a:ext cx="5615788" cy="5303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p:sp>
        <p:nvSpPr>
          <p:cNvPr id="146" name="Footer"/>
          <p:cNvSpPr>
            <a:spLocks noGrp="1"/>
          </p:cNvSpPr>
          <p:nvPr>
            <p:ph type="ftr" sz="quarter" idx="11"/>
          </p:nvPr>
        </p:nvSpPr>
        <p:spPr>
          <a:xfrm>
            <a:off x="6400800" y="6675120"/>
            <a:ext cx="5486400" cy="16459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47" name="Slide Number"/>
          <p:cNvSpPr>
            <a:spLocks noGrp="1"/>
          </p:cNvSpPr>
          <p:nvPr>
            <p:ph type="sldNum" sz="quarter" idx="12"/>
          </p:nvPr>
        </p:nvSpPr>
        <p:spPr>
          <a:xfrm>
            <a:off x="11018520" y="6501384"/>
            <a:ext cx="868680" cy="20116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Ca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itle"/>
          <p:cNvSpPr>
            <a:spLocks noGrp="1"/>
          </p:cNvSpPr>
          <p:nvPr>
            <p:ph type="title"/>
          </p:nvPr>
        </p:nvSpPr>
        <p:spPr>
          <a:xfrm>
            <a:off x="365760" y="128016"/>
            <a:ext cx="937260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>
            <a:normAutofit/>
          </a:bodyPr>
          <a:lstStyle/>
          <a:p>
            <a:endParaRPr/>
          </a:p>
        </p:txBody>
      </p:sp>
      <p:sp>
        <p:nvSpPr>
          <p:cNvPr id="148" name="Content"/>
          <p:cNvSpPr>
            <a:spLocks noGrp="1"/>
          </p:cNvSpPr>
          <p:nvPr>
            <p:ph type="body" idx="1"/>
          </p:nvPr>
        </p:nvSpPr>
        <p:spPr>
          <a:xfrm>
            <a:off x="365760" y="914400"/>
            <a:ext cx="6126480" cy="5303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p:sp>
        <p:nvSpPr>
          <p:cNvPr id="149" name="Card 1"/>
          <p:cNvSpPr>
            <a:spLocks noGrp="1"/>
          </p:cNvSpPr>
          <p:nvPr>
            <p:ph type="body" idx="2"/>
          </p:nvPr>
        </p:nvSpPr>
        <p:spPr>
          <a:xfrm>
            <a:off x="6720840" y="914400"/>
            <a:ext cx="5105095" cy="1658112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</p:spPr>
        <p:txBody>
          <a:bodyPr wrap="square" lIns="128016" tIns="91440" rIns="128016" bIns="73152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300" b="1" i="0">
                <a:solidFill>
                  <a:schemeClr val="accent2"/>
                </a:solidFill>
              </a:defRPr>
            </a:lvl1pPr>
            <a:lvl2pPr marL="201168" indent="-164592" algn="l">
              <a:lnSpc>
                <a:spcPct val="100000"/>
              </a:lnSpc>
              <a:spcBef>
                <a:spcPts val="300"/>
              </a:spcBef>
              <a:buClr>
                <a:schemeClr val="accent1"/>
              </a:buClr>
              <a:buSzPct val="90000"/>
              <a:buFont typeface="+mn-lt"/>
              <a:buChar char="•"/>
              <a:defRPr sz="1150" b="0" i="0">
                <a:solidFill>
                  <a:schemeClr val="tx1"/>
                </a:solidFill>
              </a:defRPr>
            </a:lvl2pPr>
            <a:lvl3pPr marL="384048" indent="-146304" algn="l">
              <a:lnSpc>
                <a:spcPct val="100000"/>
              </a:lnSpc>
              <a:spcBef>
                <a:spcPts val="200"/>
              </a:spcBef>
              <a:buClr>
                <a:schemeClr val="accent3"/>
              </a:buClr>
              <a:buSzPct val="90000"/>
              <a:buFont typeface="+mn-lt"/>
              <a:buChar char="–"/>
              <a:defRPr sz="1050" b="0" i="0">
                <a:solidFill>
                  <a:schemeClr val="tx2"/>
                </a:solidFill>
              </a:defRPr>
            </a:lvl3pPr>
          </a:lstStyle>
          <a:p>
            <a:endParaRPr/>
          </a:p>
        </p:txBody>
      </p:sp>
      <p:sp>
        <p:nvSpPr>
          <p:cNvPr id="150" name="Card 2"/>
          <p:cNvSpPr>
            <a:spLocks noGrp="1"/>
          </p:cNvSpPr>
          <p:nvPr>
            <p:ph type="body" idx="3"/>
          </p:nvPr>
        </p:nvSpPr>
        <p:spPr>
          <a:xfrm>
            <a:off x="6720840" y="2737104"/>
            <a:ext cx="5105095" cy="1658112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</p:spPr>
        <p:txBody>
          <a:bodyPr wrap="square" lIns="128016" tIns="91440" rIns="128016" bIns="73152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300" b="1" i="0">
                <a:solidFill>
                  <a:schemeClr val="accent2"/>
                </a:solidFill>
              </a:defRPr>
            </a:lvl1pPr>
            <a:lvl2pPr marL="201168" indent="-164592" algn="l">
              <a:lnSpc>
                <a:spcPct val="100000"/>
              </a:lnSpc>
              <a:spcBef>
                <a:spcPts val="300"/>
              </a:spcBef>
              <a:buClr>
                <a:schemeClr val="accent1"/>
              </a:buClr>
              <a:buSzPct val="90000"/>
              <a:buFont typeface="+mn-lt"/>
              <a:buChar char="•"/>
              <a:defRPr sz="1150" b="0" i="0">
                <a:solidFill>
                  <a:schemeClr val="tx1"/>
                </a:solidFill>
              </a:defRPr>
            </a:lvl2pPr>
            <a:lvl3pPr marL="384048" indent="-146304" algn="l">
              <a:lnSpc>
                <a:spcPct val="100000"/>
              </a:lnSpc>
              <a:spcBef>
                <a:spcPts val="200"/>
              </a:spcBef>
              <a:buClr>
                <a:schemeClr val="accent3"/>
              </a:buClr>
              <a:buSzPct val="90000"/>
              <a:buFont typeface="+mn-lt"/>
              <a:buChar char="–"/>
              <a:defRPr sz="1050" b="0" i="0">
                <a:solidFill>
                  <a:schemeClr val="tx2"/>
                </a:solidFill>
              </a:defRPr>
            </a:lvl3pPr>
          </a:lstStyle>
          <a:p>
            <a:endParaRPr/>
          </a:p>
        </p:txBody>
      </p:sp>
      <p:sp>
        <p:nvSpPr>
          <p:cNvPr id="151" name="Card 3"/>
          <p:cNvSpPr>
            <a:spLocks noGrp="1"/>
          </p:cNvSpPr>
          <p:nvPr>
            <p:ph type="body" idx="4"/>
          </p:nvPr>
        </p:nvSpPr>
        <p:spPr>
          <a:xfrm>
            <a:off x="6720840" y="4559808"/>
            <a:ext cx="5105095" cy="1658112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</p:spPr>
        <p:txBody>
          <a:bodyPr wrap="square" lIns="128016" tIns="91440" rIns="128016" bIns="73152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300" b="1" i="0">
                <a:solidFill>
                  <a:schemeClr val="accent2"/>
                </a:solidFill>
              </a:defRPr>
            </a:lvl1pPr>
            <a:lvl2pPr marL="201168" indent="-164592" algn="l">
              <a:lnSpc>
                <a:spcPct val="100000"/>
              </a:lnSpc>
              <a:spcBef>
                <a:spcPts val="300"/>
              </a:spcBef>
              <a:buClr>
                <a:schemeClr val="accent1"/>
              </a:buClr>
              <a:buSzPct val="90000"/>
              <a:buFont typeface="+mn-lt"/>
              <a:buChar char="•"/>
              <a:defRPr sz="1150" b="0" i="0">
                <a:solidFill>
                  <a:schemeClr val="tx1"/>
                </a:solidFill>
              </a:defRPr>
            </a:lvl2pPr>
            <a:lvl3pPr marL="384048" indent="-146304" algn="l">
              <a:lnSpc>
                <a:spcPct val="100000"/>
              </a:lnSpc>
              <a:spcBef>
                <a:spcPts val="200"/>
              </a:spcBef>
              <a:buClr>
                <a:schemeClr val="accent3"/>
              </a:buClr>
              <a:buSzPct val="90000"/>
              <a:buFont typeface="+mn-lt"/>
              <a:buChar char="–"/>
              <a:defRPr sz="1050" b="0" i="0">
                <a:solidFill>
                  <a:schemeClr val="tx2"/>
                </a:solidFill>
              </a:defRPr>
            </a:lvl3pPr>
          </a:lstStyle>
          <a:p>
            <a:endParaRPr/>
          </a:p>
        </p:txBody>
      </p:sp>
      <p:sp>
        <p:nvSpPr>
          <p:cNvPr id="153" name="Footer"/>
          <p:cNvSpPr>
            <a:spLocks noGrp="1"/>
          </p:cNvSpPr>
          <p:nvPr>
            <p:ph type="ftr" sz="quarter" idx="11"/>
          </p:nvPr>
        </p:nvSpPr>
        <p:spPr>
          <a:xfrm>
            <a:off x="6400800" y="6675120"/>
            <a:ext cx="5486400" cy="16459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54" name="Slide Number"/>
          <p:cNvSpPr>
            <a:spLocks noGrp="1"/>
          </p:cNvSpPr>
          <p:nvPr>
            <p:ph type="sldNum" sz="quarter" idx="12"/>
          </p:nvPr>
        </p:nvSpPr>
        <p:spPr>
          <a:xfrm>
            <a:off x="11018520" y="6501384"/>
            <a:ext cx="868680" cy="20116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a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itle"/>
          <p:cNvSpPr>
            <a:spLocks noGrp="1"/>
          </p:cNvSpPr>
          <p:nvPr>
            <p:ph type="title"/>
          </p:nvPr>
        </p:nvSpPr>
        <p:spPr>
          <a:xfrm>
            <a:off x="365760" y="128016"/>
            <a:ext cx="937260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>
            <a:normAutofit/>
          </a:bodyPr>
          <a:lstStyle/>
          <a:p>
            <a:endParaRPr/>
          </a:p>
        </p:txBody>
      </p:sp>
      <p:sp>
        <p:nvSpPr>
          <p:cNvPr id="155" name="Card 1"/>
          <p:cNvSpPr>
            <a:spLocks noGrp="1"/>
          </p:cNvSpPr>
          <p:nvPr>
            <p:ph type="body" idx="2"/>
          </p:nvPr>
        </p:nvSpPr>
        <p:spPr>
          <a:xfrm>
            <a:off x="365760" y="914400"/>
            <a:ext cx="3667658" cy="21488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</p:spPr>
        <p:txBody>
          <a:bodyPr wrap="square" lIns="128016" tIns="91440" rIns="128016" bIns="73152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300" b="1" i="0">
                <a:solidFill>
                  <a:schemeClr val="accent2"/>
                </a:solidFill>
              </a:defRPr>
            </a:lvl1pPr>
            <a:lvl2pPr marL="201168" indent="-164592" algn="l">
              <a:lnSpc>
                <a:spcPct val="100000"/>
              </a:lnSpc>
              <a:spcBef>
                <a:spcPts val="300"/>
              </a:spcBef>
              <a:buClr>
                <a:schemeClr val="accent1"/>
              </a:buClr>
              <a:buSzPct val="90000"/>
              <a:buFont typeface="+mn-lt"/>
              <a:buChar char="•"/>
              <a:defRPr sz="1150" b="0" i="0">
                <a:solidFill>
                  <a:schemeClr val="tx1"/>
                </a:solidFill>
              </a:defRPr>
            </a:lvl2pPr>
            <a:lvl3pPr marL="384048" indent="-146304" algn="l">
              <a:lnSpc>
                <a:spcPct val="100000"/>
              </a:lnSpc>
              <a:spcBef>
                <a:spcPts val="200"/>
              </a:spcBef>
              <a:buClr>
                <a:schemeClr val="accent3"/>
              </a:buClr>
              <a:buSzPct val="90000"/>
              <a:buFont typeface="+mn-lt"/>
              <a:buChar char="–"/>
              <a:defRPr sz="1050" b="0" i="0">
                <a:solidFill>
                  <a:schemeClr val="tx2"/>
                </a:solidFill>
              </a:defRPr>
            </a:lvl3pPr>
          </a:lstStyle>
          <a:p>
            <a:endParaRPr/>
          </a:p>
        </p:txBody>
      </p:sp>
      <p:sp>
        <p:nvSpPr>
          <p:cNvPr id="156" name="Card 2"/>
          <p:cNvSpPr>
            <a:spLocks noGrp="1"/>
          </p:cNvSpPr>
          <p:nvPr>
            <p:ph type="body" idx="3"/>
          </p:nvPr>
        </p:nvSpPr>
        <p:spPr>
          <a:xfrm>
            <a:off x="4262018" y="914400"/>
            <a:ext cx="3667658" cy="21488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</p:spPr>
        <p:txBody>
          <a:bodyPr wrap="square" lIns="128016" tIns="91440" rIns="128016" bIns="73152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300" b="1" i="0">
                <a:solidFill>
                  <a:schemeClr val="accent2"/>
                </a:solidFill>
              </a:defRPr>
            </a:lvl1pPr>
            <a:lvl2pPr marL="201168" indent="-164592" algn="l">
              <a:lnSpc>
                <a:spcPct val="100000"/>
              </a:lnSpc>
              <a:spcBef>
                <a:spcPts val="300"/>
              </a:spcBef>
              <a:buClr>
                <a:schemeClr val="accent1"/>
              </a:buClr>
              <a:buSzPct val="90000"/>
              <a:buFont typeface="+mn-lt"/>
              <a:buChar char="•"/>
              <a:defRPr sz="1150" b="0" i="0">
                <a:solidFill>
                  <a:schemeClr val="tx1"/>
                </a:solidFill>
              </a:defRPr>
            </a:lvl2pPr>
            <a:lvl3pPr marL="384048" indent="-146304" algn="l">
              <a:lnSpc>
                <a:spcPct val="100000"/>
              </a:lnSpc>
              <a:spcBef>
                <a:spcPts val="200"/>
              </a:spcBef>
              <a:buClr>
                <a:schemeClr val="accent3"/>
              </a:buClr>
              <a:buSzPct val="90000"/>
              <a:buFont typeface="+mn-lt"/>
              <a:buChar char="–"/>
              <a:defRPr sz="1050" b="0" i="0">
                <a:solidFill>
                  <a:schemeClr val="tx2"/>
                </a:solidFill>
              </a:defRPr>
            </a:lvl3pPr>
          </a:lstStyle>
          <a:p>
            <a:endParaRPr/>
          </a:p>
        </p:txBody>
      </p:sp>
      <p:sp>
        <p:nvSpPr>
          <p:cNvPr id="157" name="Card 3"/>
          <p:cNvSpPr>
            <a:spLocks noGrp="1"/>
          </p:cNvSpPr>
          <p:nvPr>
            <p:ph type="body" idx="4"/>
          </p:nvPr>
        </p:nvSpPr>
        <p:spPr>
          <a:xfrm>
            <a:off x="8158277" y="914400"/>
            <a:ext cx="3667658" cy="21488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</p:spPr>
        <p:txBody>
          <a:bodyPr wrap="square" lIns="128016" tIns="91440" rIns="128016" bIns="73152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300" b="1" i="0">
                <a:solidFill>
                  <a:schemeClr val="accent2"/>
                </a:solidFill>
              </a:defRPr>
            </a:lvl1pPr>
            <a:lvl2pPr marL="201168" indent="-164592" algn="l">
              <a:lnSpc>
                <a:spcPct val="100000"/>
              </a:lnSpc>
              <a:spcBef>
                <a:spcPts val="300"/>
              </a:spcBef>
              <a:buClr>
                <a:schemeClr val="accent1"/>
              </a:buClr>
              <a:buSzPct val="90000"/>
              <a:buFont typeface="+mn-lt"/>
              <a:buChar char="•"/>
              <a:defRPr sz="1150" b="0" i="0">
                <a:solidFill>
                  <a:schemeClr val="tx1"/>
                </a:solidFill>
              </a:defRPr>
            </a:lvl2pPr>
            <a:lvl3pPr marL="384048" indent="-146304" algn="l">
              <a:lnSpc>
                <a:spcPct val="100000"/>
              </a:lnSpc>
              <a:spcBef>
                <a:spcPts val="200"/>
              </a:spcBef>
              <a:buClr>
                <a:schemeClr val="accent3"/>
              </a:buClr>
              <a:buSzPct val="90000"/>
              <a:buFont typeface="+mn-lt"/>
              <a:buChar char="–"/>
              <a:defRPr sz="1050" b="0" i="0">
                <a:solidFill>
                  <a:schemeClr val="tx2"/>
                </a:solidFill>
              </a:defRPr>
            </a:lvl3pPr>
          </a:lstStyle>
          <a:p>
            <a:endParaRPr/>
          </a:p>
        </p:txBody>
      </p:sp>
      <p:sp>
        <p:nvSpPr>
          <p:cNvPr id="158" name="Content"/>
          <p:cNvSpPr>
            <a:spLocks noGrp="1"/>
          </p:cNvSpPr>
          <p:nvPr>
            <p:ph type="body" idx="1"/>
          </p:nvPr>
        </p:nvSpPr>
        <p:spPr>
          <a:xfrm>
            <a:off x="365760" y="3291840"/>
            <a:ext cx="11460175" cy="29260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p:sp>
        <p:nvSpPr>
          <p:cNvPr id="160" name="Footer"/>
          <p:cNvSpPr>
            <a:spLocks noGrp="1"/>
          </p:cNvSpPr>
          <p:nvPr>
            <p:ph type="ftr" sz="quarter" idx="11"/>
          </p:nvPr>
        </p:nvSpPr>
        <p:spPr>
          <a:xfrm>
            <a:off x="6400800" y="6675120"/>
            <a:ext cx="5486400" cy="16459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61" name="Slide Number"/>
          <p:cNvSpPr>
            <a:spLocks noGrp="1"/>
          </p:cNvSpPr>
          <p:nvPr>
            <p:ph type="sldNum" sz="quarter" idx="12"/>
          </p:nvPr>
        </p:nvSpPr>
        <p:spPr>
          <a:xfrm>
            <a:off x="11018520" y="6501384"/>
            <a:ext cx="868680" cy="20116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itle"/>
          <p:cNvSpPr>
            <a:spLocks noGrp="1"/>
          </p:cNvSpPr>
          <p:nvPr>
            <p:ph type="title"/>
          </p:nvPr>
        </p:nvSpPr>
        <p:spPr>
          <a:xfrm>
            <a:off x="365760" y="128016"/>
            <a:ext cx="937260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>
            <a:normAutofit/>
          </a:bodyPr>
          <a:lstStyle/>
          <a:p>
            <a:endParaRPr/>
          </a:p>
        </p:txBody>
      </p:sp>
      <p:sp>
        <p:nvSpPr>
          <p:cNvPr id="162" name="Problem"/>
          <p:cNvSpPr>
            <a:spLocks noGrp="1"/>
          </p:cNvSpPr>
          <p:nvPr>
            <p:ph type="body" idx="2"/>
          </p:nvPr>
        </p:nvSpPr>
        <p:spPr>
          <a:xfrm>
            <a:off x="365760" y="914400"/>
            <a:ext cx="5615788" cy="3566160"/>
          </a:xfrm>
          <a:prstGeom prst="roundRect">
            <a:avLst>
              <a:gd name="adj" fmla="val 6000"/>
            </a:avLst>
          </a:prstGeom>
          <a:solidFill>
            <a:srgbClr val="FAF2F2"/>
          </a:solidFill>
          <a:ln w="9525">
            <a:solidFill>
              <a:srgbClr val="980000"/>
            </a:solidFill>
          </a:ln>
        </p:spPr>
        <p:txBody>
          <a:bodyPr wrap="square" lIns="128016" tIns="91440" rIns="128016" bIns="73152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300" b="1" i="0">
                <a:solidFill>
                  <a:schemeClr val="accent2"/>
                </a:solidFill>
              </a:defRPr>
            </a:lvl1pPr>
            <a:lvl2pPr marL="201168" indent="-164592" algn="l">
              <a:lnSpc>
                <a:spcPct val="100000"/>
              </a:lnSpc>
              <a:spcBef>
                <a:spcPts val="300"/>
              </a:spcBef>
              <a:buClr>
                <a:schemeClr val="accent1"/>
              </a:buClr>
              <a:buSzPct val="90000"/>
              <a:buFont typeface="+mn-lt"/>
              <a:buChar char="•"/>
              <a:defRPr sz="1150" b="0" i="0">
                <a:solidFill>
                  <a:schemeClr val="tx1"/>
                </a:solidFill>
              </a:defRPr>
            </a:lvl2pPr>
            <a:lvl3pPr marL="384048" indent="-146304" algn="l">
              <a:lnSpc>
                <a:spcPct val="100000"/>
              </a:lnSpc>
              <a:spcBef>
                <a:spcPts val="200"/>
              </a:spcBef>
              <a:buClr>
                <a:schemeClr val="accent3"/>
              </a:buClr>
              <a:buSzPct val="90000"/>
              <a:buFont typeface="+mn-lt"/>
              <a:buChar char="–"/>
              <a:defRPr sz="1050" b="0" i="0">
                <a:solidFill>
                  <a:schemeClr val="tx2"/>
                </a:solidFill>
              </a:defRPr>
            </a:lvl3pPr>
          </a:lstStyle>
          <a:p>
            <a:endParaRPr/>
          </a:p>
        </p:txBody>
      </p:sp>
      <p:sp>
        <p:nvSpPr>
          <p:cNvPr id="163" name="Solution"/>
          <p:cNvSpPr>
            <a:spLocks noGrp="1"/>
          </p:cNvSpPr>
          <p:nvPr>
            <p:ph type="body" idx="3"/>
          </p:nvPr>
        </p:nvSpPr>
        <p:spPr>
          <a:xfrm>
            <a:off x="6210148" y="914400"/>
            <a:ext cx="5615788" cy="356616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 w="9525">
            <a:solidFill>
              <a:srgbClr val="0000FF"/>
            </a:solidFill>
          </a:ln>
        </p:spPr>
        <p:txBody>
          <a:bodyPr wrap="square" lIns="128016" tIns="91440" rIns="128016" bIns="73152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300" b="1" i="0">
                <a:solidFill>
                  <a:schemeClr val="accent2"/>
                </a:solidFill>
              </a:defRPr>
            </a:lvl1pPr>
            <a:lvl2pPr marL="201168" indent="-164592" algn="l">
              <a:lnSpc>
                <a:spcPct val="100000"/>
              </a:lnSpc>
              <a:spcBef>
                <a:spcPts val="300"/>
              </a:spcBef>
              <a:buClr>
                <a:schemeClr val="accent1"/>
              </a:buClr>
              <a:buSzPct val="90000"/>
              <a:buFont typeface="+mn-lt"/>
              <a:buChar char="•"/>
              <a:defRPr sz="1150" b="0" i="0">
                <a:solidFill>
                  <a:schemeClr val="tx1"/>
                </a:solidFill>
              </a:defRPr>
            </a:lvl2pPr>
            <a:lvl3pPr marL="384048" indent="-146304" algn="l">
              <a:lnSpc>
                <a:spcPct val="100000"/>
              </a:lnSpc>
              <a:spcBef>
                <a:spcPts val="200"/>
              </a:spcBef>
              <a:buClr>
                <a:schemeClr val="accent3"/>
              </a:buClr>
              <a:buSzPct val="90000"/>
              <a:buFont typeface="+mn-lt"/>
              <a:buChar char="–"/>
              <a:defRPr sz="1050" b="0" i="0">
                <a:solidFill>
                  <a:schemeClr val="tx2"/>
                </a:solidFill>
              </a:defRPr>
            </a:lvl3pPr>
          </a:lstStyle>
          <a:p>
            <a:endParaRPr/>
          </a:p>
        </p:txBody>
      </p:sp>
      <p:sp>
        <p:nvSpPr>
          <p:cNvPr id="164" name="Takeaway"/>
          <p:cNvSpPr>
            <a:spLocks noGrp="1"/>
          </p:cNvSpPr>
          <p:nvPr>
            <p:ph type="body" idx="1"/>
          </p:nvPr>
        </p:nvSpPr>
        <p:spPr>
          <a:xfrm>
            <a:off x="365760" y="4709160"/>
            <a:ext cx="11460175" cy="1508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p:sp>
        <p:nvSpPr>
          <p:cNvPr id="166" name="Footer"/>
          <p:cNvSpPr>
            <a:spLocks noGrp="1"/>
          </p:cNvSpPr>
          <p:nvPr>
            <p:ph type="ftr" sz="quarter" idx="11"/>
          </p:nvPr>
        </p:nvSpPr>
        <p:spPr>
          <a:xfrm>
            <a:off x="6400800" y="6675120"/>
            <a:ext cx="5486400" cy="16459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67" name="Slide Number"/>
          <p:cNvSpPr>
            <a:spLocks noGrp="1"/>
          </p:cNvSpPr>
          <p:nvPr>
            <p:ph type="sldNum" sz="quarter" idx="12"/>
          </p:nvPr>
        </p:nvSpPr>
        <p:spPr>
          <a:xfrm>
            <a:off x="11018520" y="6501384"/>
            <a:ext cx="868680" cy="20116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itle"/>
          <p:cNvSpPr>
            <a:spLocks noGrp="1"/>
          </p:cNvSpPr>
          <p:nvPr>
            <p:ph type="title"/>
          </p:nvPr>
        </p:nvSpPr>
        <p:spPr>
          <a:xfrm>
            <a:off x="365760" y="128016"/>
            <a:ext cx="937260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>
            <a:normAutofit/>
          </a:bodyPr>
          <a:lstStyle/>
          <a:p>
            <a:endParaRPr/>
          </a:p>
        </p:txBody>
      </p:sp>
      <p:sp>
        <p:nvSpPr>
          <p:cNvPr id="168" name="Statement"/>
          <p:cNvSpPr>
            <a:spLocks noGrp="1"/>
          </p:cNvSpPr>
          <p:nvPr>
            <p:ph type="body" idx="2"/>
          </p:nvPr>
        </p:nvSpPr>
        <p:spPr>
          <a:xfrm>
            <a:off x="365760" y="914400"/>
            <a:ext cx="11460175" cy="132588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</p:spPr>
        <p:txBody>
          <a:bodyPr wrap="square" lIns="182880" tIns="73152" rIns="182880" bIns="73152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 i="0">
                <a:solidFill>
                  <a:schemeClr val="bg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200"/>
              </a:spcBef>
              <a:buNone/>
              <a:defRPr sz="1400" b="0" i="0">
                <a:solidFill>
                  <a:schemeClr val="bg1"/>
                </a:solidFill>
              </a:defRPr>
            </a:lvl2pPr>
          </a:lstStyle>
          <a:p>
            <a:endParaRPr/>
          </a:p>
        </p:txBody>
      </p:sp>
      <p:sp>
        <p:nvSpPr>
          <p:cNvPr id="169" name="Content"/>
          <p:cNvSpPr>
            <a:spLocks noGrp="1"/>
          </p:cNvSpPr>
          <p:nvPr>
            <p:ph type="body" idx="1"/>
          </p:nvPr>
        </p:nvSpPr>
        <p:spPr>
          <a:xfrm>
            <a:off x="365760" y="2468880"/>
            <a:ext cx="11460175" cy="3749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p:sp>
        <p:nvSpPr>
          <p:cNvPr id="171" name="Footer"/>
          <p:cNvSpPr>
            <a:spLocks noGrp="1"/>
          </p:cNvSpPr>
          <p:nvPr>
            <p:ph type="ftr" sz="quarter" idx="11"/>
          </p:nvPr>
        </p:nvSpPr>
        <p:spPr>
          <a:xfrm>
            <a:off x="6400800" y="6675120"/>
            <a:ext cx="5486400" cy="16459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72" name="Slide Number"/>
          <p:cNvSpPr>
            <a:spLocks noGrp="1"/>
          </p:cNvSpPr>
          <p:nvPr>
            <p:ph type="sldNum" sz="quarter" idx="12"/>
          </p:nvPr>
        </p:nvSpPr>
        <p:spPr>
          <a:xfrm>
            <a:off x="11018520" y="6501384"/>
            <a:ext cx="868680" cy="20116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itle"/>
          <p:cNvSpPr>
            <a:spLocks noGrp="1"/>
          </p:cNvSpPr>
          <p:nvPr>
            <p:ph type="title"/>
          </p:nvPr>
        </p:nvSpPr>
        <p:spPr>
          <a:xfrm>
            <a:off x="365760" y="128016"/>
            <a:ext cx="937260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>
            <a:normAutofit/>
          </a:bodyPr>
          <a:lstStyle/>
          <a:p>
            <a:endParaRPr/>
          </a:p>
        </p:txBody>
      </p:sp>
      <p:sp>
        <p:nvSpPr>
          <p:cNvPr id="173" name="Content"/>
          <p:cNvSpPr>
            <a:spLocks noGrp="1"/>
          </p:cNvSpPr>
          <p:nvPr>
            <p:ph type="body" idx="1"/>
          </p:nvPr>
        </p:nvSpPr>
        <p:spPr>
          <a:xfrm>
            <a:off x="365760" y="914400"/>
            <a:ext cx="6126480" cy="5303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p:sp>
        <p:nvSpPr>
          <p:cNvPr id="174" name="Code"/>
          <p:cNvSpPr>
            <a:spLocks noGrp="1"/>
          </p:cNvSpPr>
          <p:nvPr>
            <p:ph type="body" idx="2"/>
          </p:nvPr>
        </p:nvSpPr>
        <p:spPr>
          <a:xfrm>
            <a:off x="6720840" y="914400"/>
            <a:ext cx="5105095" cy="4919472"/>
          </a:xfrm>
          <a:prstGeom prst="rect">
            <a:avLst/>
          </a:prstGeom>
          <a:solidFill>
            <a:srgbClr val="F4F4EF"/>
          </a:solidFill>
          <a:ln w="9525">
            <a:solidFill>
              <a:srgbClr val="CCCCC4"/>
            </a:solidFill>
          </a:ln>
        </p:spPr>
        <p:txBody>
          <a:bodyPr wrap="square" lIns="128016" tIns="91440" rIns="128016" b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chemeClr val="tx1"/>
                </a:solidFill>
                <a:latin typeface="CMU Typewriter Text"/>
                <a:cs typeface="CMU Typewriter Tex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chemeClr val="tx1"/>
                </a:solidFill>
                <a:latin typeface="CMU Typewriter Text"/>
                <a:cs typeface="CMU Typewriter Text"/>
              </a:defRPr>
            </a:lvl2pPr>
          </a:lstStyle>
          <a:p>
            <a:endParaRPr/>
          </a:p>
        </p:txBody>
      </p:sp>
      <p:sp>
        <p:nvSpPr>
          <p:cNvPr id="175" name="Caption"/>
          <p:cNvSpPr>
            <a:spLocks noGrp="1"/>
          </p:cNvSpPr>
          <p:nvPr>
            <p:ph type="body" idx="4"/>
          </p:nvPr>
        </p:nvSpPr>
        <p:spPr>
          <a:xfrm>
            <a:off x="6720840" y="5870448"/>
            <a:ext cx="5105095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200"/>
              </a:spcBef>
              <a:buNone/>
              <a:defRPr sz="1100" b="0" i="1">
                <a:solidFill>
                  <a:schemeClr val="accent3"/>
                </a:solidFill>
              </a:defRPr>
            </a:lvl1pPr>
          </a:lstStyle>
          <a:p>
            <a:endParaRPr/>
          </a:p>
        </p:txBody>
      </p:sp>
      <p:sp>
        <p:nvSpPr>
          <p:cNvPr id="177" name="Footer"/>
          <p:cNvSpPr>
            <a:spLocks noGrp="1"/>
          </p:cNvSpPr>
          <p:nvPr>
            <p:ph type="ftr" sz="quarter" idx="11"/>
          </p:nvPr>
        </p:nvSpPr>
        <p:spPr>
          <a:xfrm>
            <a:off x="6400800" y="6675120"/>
            <a:ext cx="5486400" cy="16459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78" name="Slide Number"/>
          <p:cNvSpPr>
            <a:spLocks noGrp="1"/>
          </p:cNvSpPr>
          <p:nvPr>
            <p:ph type="sldNum" sz="quarter" idx="12"/>
          </p:nvPr>
        </p:nvSpPr>
        <p:spPr>
          <a:xfrm>
            <a:off x="11018520" y="6501384"/>
            <a:ext cx="868680" cy="20116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gure 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itle"/>
          <p:cNvSpPr>
            <a:spLocks noGrp="1"/>
          </p:cNvSpPr>
          <p:nvPr>
            <p:ph type="title"/>
          </p:nvPr>
        </p:nvSpPr>
        <p:spPr>
          <a:xfrm>
            <a:off x="365760" y="128016"/>
            <a:ext cx="937260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>
            <a:normAutofit/>
          </a:bodyPr>
          <a:lstStyle/>
          <a:p>
            <a:endParaRPr/>
          </a:p>
        </p:txBody>
      </p:sp>
      <p:sp>
        <p:nvSpPr>
          <p:cNvPr id="179" name="Figure 1"/>
          <p:cNvSpPr>
            <a:spLocks noGrp="1"/>
          </p:cNvSpPr>
          <p:nvPr>
            <p:ph type="pic" idx="2"/>
          </p:nvPr>
        </p:nvSpPr>
        <p:spPr>
          <a:xfrm>
            <a:off x="365760" y="914400"/>
            <a:ext cx="3667658" cy="26517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accent3"/>
                </a:solidFill>
              </a:defRPr>
            </a:lvl1pPr>
          </a:lstStyle>
          <a:p>
            <a:r>
              <a:rPr lang="en-US"/>
              <a:t>Figure</a:t>
            </a:r>
          </a:p>
        </p:txBody>
      </p:sp>
      <p:sp>
        <p:nvSpPr>
          <p:cNvPr id="180" name="Figure 2"/>
          <p:cNvSpPr>
            <a:spLocks noGrp="1"/>
          </p:cNvSpPr>
          <p:nvPr>
            <p:ph type="pic" idx="3"/>
          </p:nvPr>
        </p:nvSpPr>
        <p:spPr>
          <a:xfrm>
            <a:off x="4262018" y="914400"/>
            <a:ext cx="3667658" cy="26517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accent3"/>
                </a:solidFill>
              </a:defRPr>
            </a:lvl1pPr>
          </a:lstStyle>
          <a:p>
            <a:r>
              <a:rPr lang="en-US"/>
              <a:t>Figure</a:t>
            </a:r>
          </a:p>
        </p:txBody>
      </p:sp>
      <p:sp>
        <p:nvSpPr>
          <p:cNvPr id="181" name="Figure 3"/>
          <p:cNvSpPr>
            <a:spLocks noGrp="1"/>
          </p:cNvSpPr>
          <p:nvPr>
            <p:ph type="pic" idx="4"/>
          </p:nvPr>
        </p:nvSpPr>
        <p:spPr>
          <a:xfrm>
            <a:off x="8158277" y="914400"/>
            <a:ext cx="3667658" cy="26517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accent3"/>
                </a:solidFill>
              </a:defRPr>
            </a:lvl1pPr>
          </a:lstStyle>
          <a:p>
            <a:r>
              <a:rPr lang="en-US"/>
              <a:t>Figure</a:t>
            </a:r>
          </a:p>
        </p:txBody>
      </p:sp>
      <p:sp>
        <p:nvSpPr>
          <p:cNvPr id="182" name="Caption 1"/>
          <p:cNvSpPr>
            <a:spLocks noGrp="1"/>
          </p:cNvSpPr>
          <p:nvPr>
            <p:ph type="body" idx="5"/>
          </p:nvPr>
        </p:nvSpPr>
        <p:spPr>
          <a:xfrm>
            <a:off x="365760" y="3602736"/>
            <a:ext cx="3667658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200"/>
              </a:spcBef>
              <a:buNone/>
              <a:defRPr sz="1100" b="0" i="1">
                <a:solidFill>
                  <a:schemeClr val="accent3"/>
                </a:solidFill>
              </a:defRPr>
            </a:lvl1pPr>
          </a:lstStyle>
          <a:p>
            <a:endParaRPr/>
          </a:p>
        </p:txBody>
      </p:sp>
      <p:sp>
        <p:nvSpPr>
          <p:cNvPr id="183" name="Caption 2"/>
          <p:cNvSpPr>
            <a:spLocks noGrp="1"/>
          </p:cNvSpPr>
          <p:nvPr>
            <p:ph type="body" idx="6"/>
          </p:nvPr>
        </p:nvSpPr>
        <p:spPr>
          <a:xfrm>
            <a:off x="4262018" y="3602736"/>
            <a:ext cx="3667658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200"/>
              </a:spcBef>
              <a:buNone/>
              <a:defRPr sz="1100" b="0" i="1">
                <a:solidFill>
                  <a:schemeClr val="accent3"/>
                </a:solidFill>
              </a:defRPr>
            </a:lvl1pPr>
          </a:lstStyle>
          <a:p>
            <a:endParaRPr/>
          </a:p>
        </p:txBody>
      </p:sp>
      <p:sp>
        <p:nvSpPr>
          <p:cNvPr id="184" name="Caption 3"/>
          <p:cNvSpPr>
            <a:spLocks noGrp="1"/>
          </p:cNvSpPr>
          <p:nvPr>
            <p:ph type="body" idx="7"/>
          </p:nvPr>
        </p:nvSpPr>
        <p:spPr>
          <a:xfrm>
            <a:off x="8158277" y="3602736"/>
            <a:ext cx="3667658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200"/>
              </a:spcBef>
              <a:buNone/>
              <a:defRPr sz="1100" b="0" i="1">
                <a:solidFill>
                  <a:schemeClr val="accent3"/>
                </a:solidFill>
              </a:defRPr>
            </a:lvl1pPr>
          </a:lstStyle>
          <a:p>
            <a:endParaRPr/>
          </a:p>
        </p:txBody>
      </p:sp>
      <p:sp>
        <p:nvSpPr>
          <p:cNvPr id="185" name="Content"/>
          <p:cNvSpPr>
            <a:spLocks noGrp="1"/>
          </p:cNvSpPr>
          <p:nvPr>
            <p:ph type="body" idx="1"/>
          </p:nvPr>
        </p:nvSpPr>
        <p:spPr>
          <a:xfrm>
            <a:off x="365760" y="4069080"/>
            <a:ext cx="11460175" cy="21488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p:sp>
        <p:nvSpPr>
          <p:cNvPr id="187" name="Footer"/>
          <p:cNvSpPr>
            <a:spLocks noGrp="1"/>
          </p:cNvSpPr>
          <p:nvPr>
            <p:ph type="ftr" sz="quarter" idx="11"/>
          </p:nvPr>
        </p:nvSpPr>
        <p:spPr>
          <a:xfrm>
            <a:off x="6400800" y="6675120"/>
            <a:ext cx="5486400" cy="16459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88" name="Slide Number"/>
          <p:cNvSpPr>
            <a:spLocks noGrp="1"/>
          </p:cNvSpPr>
          <p:nvPr>
            <p:ph type="sldNum" sz="quarter" idx="12"/>
          </p:nvPr>
        </p:nvSpPr>
        <p:spPr>
          <a:xfrm>
            <a:off x="11018520" y="6501384"/>
            <a:ext cx="868680" cy="20116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and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itle"/>
          <p:cNvSpPr>
            <a:spLocks noGrp="1"/>
          </p:cNvSpPr>
          <p:nvPr>
            <p:ph type="title"/>
          </p:nvPr>
        </p:nvSpPr>
        <p:spPr>
          <a:xfrm>
            <a:off x="365760" y="128016"/>
            <a:ext cx="937260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>
            <a:normAutofit/>
          </a:bodyPr>
          <a:lstStyle/>
          <a:p>
            <a:endParaRPr/>
          </a:p>
        </p:txBody>
      </p:sp>
      <p:sp>
        <p:nvSpPr>
          <p:cNvPr id="189" name="Statement"/>
          <p:cNvSpPr>
            <a:spLocks noGrp="1"/>
          </p:cNvSpPr>
          <p:nvPr>
            <p:ph type="body" idx="1"/>
          </p:nvPr>
        </p:nvSpPr>
        <p:spPr>
          <a:xfrm>
            <a:off x="365760" y="914400"/>
            <a:ext cx="6126480" cy="53035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1" i="0">
                <a:solidFill>
                  <a:schemeClr val="accent2"/>
                </a:solidFill>
              </a:defRPr>
            </a:lvl1pPr>
            <a:lvl2pPr marL="0" indent="0" algn="l">
              <a:lnSpc>
                <a:spcPct val="100000"/>
              </a:lnSpc>
              <a:spcBef>
                <a:spcPts val="400"/>
              </a:spcBef>
              <a:buNone/>
              <a:defRPr sz="1500" b="0" i="0">
                <a:solidFill>
                  <a:schemeClr val="tx1"/>
                </a:solidFill>
              </a:defRPr>
            </a:lvl2pPr>
          </a:lstStyle>
          <a:p>
            <a:endParaRPr/>
          </a:p>
        </p:txBody>
      </p:sp>
      <p:sp>
        <p:nvSpPr>
          <p:cNvPr id="190" name="Figure"/>
          <p:cNvSpPr>
            <a:spLocks noGrp="1"/>
          </p:cNvSpPr>
          <p:nvPr>
            <p:ph type="pic" idx="2"/>
          </p:nvPr>
        </p:nvSpPr>
        <p:spPr>
          <a:xfrm>
            <a:off x="6720840" y="914400"/>
            <a:ext cx="5105095" cy="491947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accent3"/>
                </a:solidFill>
              </a:defRPr>
            </a:lvl1pPr>
          </a:lstStyle>
          <a:p>
            <a:r>
              <a:rPr lang="en-US"/>
              <a:t>Figure</a:t>
            </a:r>
          </a:p>
        </p:txBody>
      </p:sp>
      <p:sp>
        <p:nvSpPr>
          <p:cNvPr id="191" name="Caption"/>
          <p:cNvSpPr>
            <a:spLocks noGrp="1"/>
          </p:cNvSpPr>
          <p:nvPr>
            <p:ph type="body" idx="4"/>
          </p:nvPr>
        </p:nvSpPr>
        <p:spPr>
          <a:xfrm>
            <a:off x="6720840" y="5870448"/>
            <a:ext cx="5105095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200"/>
              </a:spcBef>
              <a:buNone/>
              <a:defRPr sz="1100" b="0" i="1">
                <a:solidFill>
                  <a:schemeClr val="accent3"/>
                </a:solidFill>
              </a:defRPr>
            </a:lvl1pPr>
          </a:lstStyle>
          <a:p>
            <a:endParaRPr/>
          </a:p>
        </p:txBody>
      </p:sp>
      <p:sp>
        <p:nvSpPr>
          <p:cNvPr id="193" name="Footer"/>
          <p:cNvSpPr>
            <a:spLocks noGrp="1"/>
          </p:cNvSpPr>
          <p:nvPr>
            <p:ph type="ftr" sz="quarter" idx="11"/>
          </p:nvPr>
        </p:nvSpPr>
        <p:spPr>
          <a:xfrm>
            <a:off x="6400800" y="6675120"/>
            <a:ext cx="5486400" cy="16459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94" name="Slide Number"/>
          <p:cNvSpPr>
            <a:spLocks noGrp="1"/>
          </p:cNvSpPr>
          <p:nvPr>
            <p:ph type="sldNum" sz="quarter" idx="12"/>
          </p:nvPr>
        </p:nvSpPr>
        <p:spPr>
          <a:xfrm>
            <a:off x="11018520" y="6501384"/>
            <a:ext cx="868680" cy="20116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Red 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6001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6" name="Title"/>
          <p:cNvSpPr>
            <a:spLocks noGrp="1"/>
          </p:cNvSpPr>
          <p:nvPr>
            <p:ph type="ctrTitle"/>
          </p:nvPr>
        </p:nvSpPr>
        <p:spPr>
          <a:xfrm>
            <a:off x="731520" y="822960"/>
            <a:ext cx="10698480" cy="118872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600" b="1" i="0"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pic>
        <p:nvPicPr>
          <p:cNvPr id="197" name="RPI animated"/>
          <p:cNvPicPr preferRelativeResize="0"/>
          <p:nvPr/>
        </p:nvPicPr>
        <p:blipFill rotWithShape="1">
          <a:blip r:embed="rId2"/>
          <a:srcRect l="35938" t="34722" r="35938" b="34722"/>
          <a:stretch/>
        </p:blipFill>
        <p:spPr>
          <a:xfrm>
            <a:off x="4882896" y="2148840"/>
            <a:ext cx="2423160" cy="148082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Contact"/>
          <p:cNvSpPr>
            <a:spLocks noGrp="1"/>
          </p:cNvSpPr>
          <p:nvPr>
            <p:ph type="body" idx="1"/>
          </p:nvPr>
        </p:nvSpPr>
        <p:spPr>
          <a:xfrm>
            <a:off x="1371600" y="4114800"/>
            <a:ext cx="9418320" cy="1463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>
                <a:solidFill>
                  <a:schemeClr val="bg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200"/>
              </a:spcBef>
              <a:buNone/>
              <a:defRPr sz="1300" b="0" i="0">
                <a:solidFill>
                  <a:schemeClr val="bg1"/>
                </a:solidFill>
              </a:defRPr>
            </a:lvl2pPr>
          </a:lstStyle>
          <a:p>
            <a:endParaRPr/>
          </a:p>
        </p:txBody>
      </p:sp>
      <p:pic>
        <p:nvPicPr>
          <p:cNvPr id="199" name="Rensselaer wordmark"/>
          <p:cNvPicPr preferRelativeResize="0"/>
          <p:nvPr/>
        </p:nvPicPr>
        <p:blipFill rotWithShape="1">
          <a:blip r:embed="rId3"/>
          <a:srcRect/>
          <a:stretch/>
        </p:blipFill>
        <p:spPr>
          <a:xfrm>
            <a:off x="4270248" y="5897880"/>
            <a:ext cx="36576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Quadra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itle"/>
          <p:cNvSpPr>
            <a:spLocks noGrp="1"/>
          </p:cNvSpPr>
          <p:nvPr>
            <p:ph type="title"/>
          </p:nvPr>
        </p:nvSpPr>
        <p:spPr>
          <a:xfrm>
            <a:off x="365760" y="128016"/>
            <a:ext cx="937260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>
            <a:normAutofit/>
          </a:bodyPr>
          <a:lstStyle/>
          <a:p>
            <a:endParaRPr/>
          </a:p>
        </p:txBody>
      </p:sp>
      <p:sp>
        <p:nvSpPr>
          <p:cNvPr id="101" name="Content"/>
          <p:cNvSpPr>
            <a:spLocks noGrp="1"/>
          </p:cNvSpPr>
          <p:nvPr>
            <p:ph type="body" idx="1"/>
          </p:nvPr>
        </p:nvSpPr>
        <p:spPr>
          <a:xfrm>
            <a:off x="365760" y="914400"/>
            <a:ext cx="6126480" cy="3246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p:sp>
        <p:nvSpPr>
          <p:cNvPr id="102" name="Figure Right"/>
          <p:cNvSpPr>
            <a:spLocks noGrp="1"/>
          </p:cNvSpPr>
          <p:nvPr>
            <p:ph type="pic" idx="2"/>
          </p:nvPr>
        </p:nvSpPr>
        <p:spPr>
          <a:xfrm>
            <a:off x="6720840" y="914400"/>
            <a:ext cx="5105095" cy="29260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accent3"/>
                </a:solidFill>
              </a:defRPr>
            </a:lvl1pPr>
          </a:lstStyle>
          <a:p>
            <a:r>
              <a:rPr lang="en-US"/>
              <a:t>Figure</a:t>
            </a:r>
          </a:p>
        </p:txBody>
      </p:sp>
      <p:sp>
        <p:nvSpPr>
          <p:cNvPr id="103" name="Caption Right"/>
          <p:cNvSpPr>
            <a:spLocks noGrp="1"/>
          </p:cNvSpPr>
          <p:nvPr>
            <p:ph type="body" idx="5"/>
          </p:nvPr>
        </p:nvSpPr>
        <p:spPr>
          <a:xfrm>
            <a:off x="6720840" y="3877056"/>
            <a:ext cx="5105095" cy="420624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200"/>
              </a:spcBef>
              <a:buNone/>
              <a:defRPr sz="1100" b="0" i="1">
                <a:solidFill>
                  <a:schemeClr val="accent3"/>
                </a:solidFill>
              </a:defRPr>
            </a:lvl1pPr>
          </a:lstStyle>
          <a:p>
            <a:endParaRPr/>
          </a:p>
        </p:txBody>
      </p:sp>
      <p:sp>
        <p:nvSpPr>
          <p:cNvPr id="104" name="Figure Left"/>
          <p:cNvSpPr>
            <a:spLocks noGrp="1"/>
          </p:cNvSpPr>
          <p:nvPr>
            <p:ph type="pic" idx="3"/>
          </p:nvPr>
        </p:nvSpPr>
        <p:spPr>
          <a:xfrm>
            <a:off x="365760" y="4343400"/>
            <a:ext cx="6126480" cy="14630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accent3"/>
                </a:solidFill>
              </a:defRPr>
            </a:lvl1pPr>
          </a:lstStyle>
          <a:p>
            <a:r>
              <a:rPr lang="en-US"/>
              <a:t>Figure</a:t>
            </a:r>
          </a:p>
        </p:txBody>
      </p:sp>
      <p:sp>
        <p:nvSpPr>
          <p:cNvPr id="105" name="Caption Left"/>
          <p:cNvSpPr>
            <a:spLocks noGrp="1"/>
          </p:cNvSpPr>
          <p:nvPr>
            <p:ph type="body" idx="6"/>
          </p:nvPr>
        </p:nvSpPr>
        <p:spPr>
          <a:xfrm>
            <a:off x="365760" y="5843016"/>
            <a:ext cx="612648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200"/>
              </a:spcBef>
              <a:buNone/>
              <a:defRPr sz="1100" b="0" i="1">
                <a:solidFill>
                  <a:schemeClr val="accent3"/>
                </a:solidFill>
              </a:defRPr>
            </a:lvl1pPr>
          </a:lstStyle>
          <a:p>
            <a:endParaRPr/>
          </a:p>
        </p:txBody>
      </p:sp>
      <p:sp>
        <p:nvSpPr>
          <p:cNvPr id="106" name="Card"/>
          <p:cNvSpPr>
            <a:spLocks noGrp="1"/>
          </p:cNvSpPr>
          <p:nvPr>
            <p:ph type="body" idx="4"/>
          </p:nvPr>
        </p:nvSpPr>
        <p:spPr>
          <a:xfrm>
            <a:off x="6720840" y="4480560"/>
            <a:ext cx="5105095" cy="1719072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</p:spPr>
        <p:txBody>
          <a:bodyPr wrap="square" lIns="128016" tIns="91440" rIns="128016" bIns="73152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300" b="1" i="0">
                <a:solidFill>
                  <a:schemeClr val="accent2"/>
                </a:solidFill>
              </a:defRPr>
            </a:lvl1pPr>
            <a:lvl2pPr marL="201168" indent="-164592" algn="l">
              <a:lnSpc>
                <a:spcPct val="100000"/>
              </a:lnSpc>
              <a:spcBef>
                <a:spcPts val="300"/>
              </a:spcBef>
              <a:buClr>
                <a:schemeClr val="accent1"/>
              </a:buClr>
              <a:buSzPct val="90000"/>
              <a:buFont typeface="+mn-lt"/>
              <a:buChar char="•"/>
              <a:defRPr sz="1150" b="0" i="0">
                <a:solidFill>
                  <a:schemeClr val="tx1"/>
                </a:solidFill>
              </a:defRPr>
            </a:lvl2pPr>
            <a:lvl3pPr marL="384048" indent="-146304" algn="l">
              <a:lnSpc>
                <a:spcPct val="100000"/>
              </a:lnSpc>
              <a:spcBef>
                <a:spcPts val="200"/>
              </a:spcBef>
              <a:buClr>
                <a:schemeClr val="accent3"/>
              </a:buClr>
              <a:buSzPct val="90000"/>
              <a:buFont typeface="+mn-lt"/>
              <a:buChar char="–"/>
              <a:defRPr sz="1050" b="0" i="0">
                <a:solidFill>
                  <a:schemeClr val="tx2"/>
                </a:solidFill>
              </a:defRPr>
            </a:lvl3pPr>
          </a:lstStyle>
          <a:p>
            <a:endParaRPr/>
          </a:p>
        </p:txBody>
      </p:sp>
      <p:sp>
        <p:nvSpPr>
          <p:cNvPr id="108" name="Footer"/>
          <p:cNvSpPr>
            <a:spLocks noGrp="1"/>
          </p:cNvSpPr>
          <p:nvPr>
            <p:ph type="ftr" sz="quarter" idx="11"/>
          </p:nvPr>
        </p:nvSpPr>
        <p:spPr>
          <a:xfrm>
            <a:off x="6400800" y="6675120"/>
            <a:ext cx="5486400" cy="16459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9" name="Slide Number"/>
          <p:cNvSpPr>
            <a:spLocks noGrp="1"/>
          </p:cNvSpPr>
          <p:nvPr>
            <p:ph type="sldNum" sz="quarter" idx="12"/>
          </p:nvPr>
        </p:nvSpPr>
        <p:spPr>
          <a:xfrm>
            <a:off x="11018520" y="6501384"/>
            <a:ext cx="868680" cy="20116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Stacked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itle"/>
          <p:cNvSpPr>
            <a:spLocks noGrp="1"/>
          </p:cNvSpPr>
          <p:nvPr>
            <p:ph type="title"/>
          </p:nvPr>
        </p:nvSpPr>
        <p:spPr>
          <a:xfrm>
            <a:off x="365760" y="128016"/>
            <a:ext cx="937260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>
            <a:normAutofit/>
          </a:bodyPr>
          <a:lstStyle/>
          <a:p>
            <a:endParaRPr/>
          </a:p>
        </p:txBody>
      </p:sp>
      <p:sp>
        <p:nvSpPr>
          <p:cNvPr id="110" name="Content"/>
          <p:cNvSpPr>
            <a:spLocks noGrp="1"/>
          </p:cNvSpPr>
          <p:nvPr>
            <p:ph type="body" idx="1"/>
          </p:nvPr>
        </p:nvSpPr>
        <p:spPr>
          <a:xfrm>
            <a:off x="365760" y="914400"/>
            <a:ext cx="6126480" cy="5303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p:sp>
        <p:nvSpPr>
          <p:cNvPr id="111" name="Figure 1"/>
          <p:cNvSpPr>
            <a:spLocks noGrp="1"/>
          </p:cNvSpPr>
          <p:nvPr>
            <p:ph type="pic" idx="2"/>
          </p:nvPr>
        </p:nvSpPr>
        <p:spPr>
          <a:xfrm>
            <a:off x="6720840" y="914400"/>
            <a:ext cx="5105095" cy="221284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accent3"/>
                </a:solidFill>
              </a:defRPr>
            </a:lvl1pPr>
          </a:lstStyle>
          <a:p>
            <a:r>
              <a:rPr lang="en-US"/>
              <a:t>Figure</a:t>
            </a:r>
          </a:p>
        </p:txBody>
      </p:sp>
      <p:sp>
        <p:nvSpPr>
          <p:cNvPr id="112" name="Caption 1"/>
          <p:cNvSpPr>
            <a:spLocks noGrp="1"/>
          </p:cNvSpPr>
          <p:nvPr>
            <p:ph type="body" idx="5"/>
          </p:nvPr>
        </p:nvSpPr>
        <p:spPr>
          <a:xfrm>
            <a:off x="6720840" y="3163824"/>
            <a:ext cx="5105095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200"/>
              </a:spcBef>
              <a:buNone/>
              <a:defRPr sz="1100" b="0" i="1">
                <a:solidFill>
                  <a:schemeClr val="accent3"/>
                </a:solidFill>
              </a:defRPr>
            </a:lvl1pPr>
          </a:lstStyle>
          <a:p>
            <a:endParaRPr/>
          </a:p>
        </p:txBody>
      </p:sp>
      <p:sp>
        <p:nvSpPr>
          <p:cNvPr id="113" name="Figure 2"/>
          <p:cNvSpPr>
            <a:spLocks noGrp="1"/>
          </p:cNvSpPr>
          <p:nvPr>
            <p:ph type="pic" idx="3"/>
          </p:nvPr>
        </p:nvSpPr>
        <p:spPr>
          <a:xfrm>
            <a:off x="6720840" y="3584448"/>
            <a:ext cx="5105095" cy="221284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accent3"/>
                </a:solidFill>
              </a:defRPr>
            </a:lvl1pPr>
          </a:lstStyle>
          <a:p>
            <a:r>
              <a:rPr lang="en-US"/>
              <a:t>Figure</a:t>
            </a:r>
          </a:p>
        </p:txBody>
      </p:sp>
      <p:sp>
        <p:nvSpPr>
          <p:cNvPr id="114" name="Caption 2"/>
          <p:cNvSpPr>
            <a:spLocks noGrp="1"/>
          </p:cNvSpPr>
          <p:nvPr>
            <p:ph type="body" idx="6"/>
          </p:nvPr>
        </p:nvSpPr>
        <p:spPr>
          <a:xfrm>
            <a:off x="6720840" y="5833872"/>
            <a:ext cx="5105095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200"/>
              </a:spcBef>
              <a:buNone/>
              <a:defRPr sz="1100" b="0" i="1">
                <a:solidFill>
                  <a:schemeClr val="accent3"/>
                </a:solidFill>
              </a:defRPr>
            </a:lvl1pPr>
          </a:lstStyle>
          <a:p>
            <a:endParaRPr/>
          </a:p>
        </p:txBody>
      </p:sp>
      <p:sp>
        <p:nvSpPr>
          <p:cNvPr id="116" name="Footer"/>
          <p:cNvSpPr>
            <a:spLocks noGrp="1"/>
          </p:cNvSpPr>
          <p:nvPr>
            <p:ph type="ftr" sz="quarter" idx="11"/>
          </p:nvPr>
        </p:nvSpPr>
        <p:spPr>
          <a:xfrm>
            <a:off x="6400800" y="6675120"/>
            <a:ext cx="5486400" cy="16459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17" name="Slide Number"/>
          <p:cNvSpPr>
            <a:spLocks noGrp="1"/>
          </p:cNvSpPr>
          <p:nvPr>
            <p:ph type="sldNum" sz="quarter" idx="12"/>
          </p:nvPr>
        </p:nvSpPr>
        <p:spPr>
          <a:xfrm>
            <a:off x="11018520" y="6501384"/>
            <a:ext cx="868680" cy="20116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Figure and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itle"/>
          <p:cNvSpPr>
            <a:spLocks noGrp="1"/>
          </p:cNvSpPr>
          <p:nvPr>
            <p:ph type="title"/>
          </p:nvPr>
        </p:nvSpPr>
        <p:spPr>
          <a:xfrm>
            <a:off x="365760" y="128016"/>
            <a:ext cx="937260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>
            <a:normAutofit/>
          </a:bodyPr>
          <a:lstStyle/>
          <a:p>
            <a:endParaRPr/>
          </a:p>
        </p:txBody>
      </p:sp>
      <p:sp>
        <p:nvSpPr>
          <p:cNvPr id="118" name="Content"/>
          <p:cNvSpPr>
            <a:spLocks noGrp="1"/>
          </p:cNvSpPr>
          <p:nvPr>
            <p:ph type="body" idx="1"/>
          </p:nvPr>
        </p:nvSpPr>
        <p:spPr>
          <a:xfrm>
            <a:off x="365760" y="914400"/>
            <a:ext cx="6126480" cy="5303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p:sp>
        <p:nvSpPr>
          <p:cNvPr id="119" name="Figure"/>
          <p:cNvSpPr>
            <a:spLocks noGrp="1"/>
          </p:cNvSpPr>
          <p:nvPr>
            <p:ph type="pic" idx="2"/>
          </p:nvPr>
        </p:nvSpPr>
        <p:spPr>
          <a:xfrm>
            <a:off x="6720840" y="914400"/>
            <a:ext cx="5105095" cy="29260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accent3"/>
                </a:solidFill>
              </a:defRPr>
            </a:lvl1pPr>
          </a:lstStyle>
          <a:p>
            <a:r>
              <a:rPr lang="en-US"/>
              <a:t>Figure</a:t>
            </a:r>
          </a:p>
        </p:txBody>
      </p:sp>
      <p:sp>
        <p:nvSpPr>
          <p:cNvPr id="120" name="Caption"/>
          <p:cNvSpPr>
            <a:spLocks noGrp="1"/>
          </p:cNvSpPr>
          <p:nvPr>
            <p:ph type="body" idx="4"/>
          </p:nvPr>
        </p:nvSpPr>
        <p:spPr>
          <a:xfrm>
            <a:off x="6720840" y="3877056"/>
            <a:ext cx="5105095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200"/>
              </a:spcBef>
              <a:buNone/>
              <a:defRPr sz="1100" b="0" i="1">
                <a:solidFill>
                  <a:schemeClr val="accent3"/>
                </a:solidFill>
              </a:defRPr>
            </a:lvl1pPr>
          </a:lstStyle>
          <a:p>
            <a:endParaRPr/>
          </a:p>
        </p:txBody>
      </p:sp>
      <p:sp>
        <p:nvSpPr>
          <p:cNvPr id="121" name="Card"/>
          <p:cNvSpPr>
            <a:spLocks noGrp="1"/>
          </p:cNvSpPr>
          <p:nvPr>
            <p:ph type="body" idx="3"/>
          </p:nvPr>
        </p:nvSpPr>
        <p:spPr>
          <a:xfrm>
            <a:off x="6720840" y="4343400"/>
            <a:ext cx="5105095" cy="1856232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</p:spPr>
        <p:txBody>
          <a:bodyPr wrap="square" lIns="128016" tIns="91440" rIns="128016" bIns="73152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300" b="1" i="0">
                <a:solidFill>
                  <a:schemeClr val="accent2"/>
                </a:solidFill>
              </a:defRPr>
            </a:lvl1pPr>
            <a:lvl2pPr marL="201168" indent="-164592" algn="l">
              <a:lnSpc>
                <a:spcPct val="100000"/>
              </a:lnSpc>
              <a:spcBef>
                <a:spcPts val="300"/>
              </a:spcBef>
              <a:buClr>
                <a:schemeClr val="accent1"/>
              </a:buClr>
              <a:buSzPct val="90000"/>
              <a:buFont typeface="+mn-lt"/>
              <a:buChar char="•"/>
              <a:defRPr sz="1150" b="0" i="0">
                <a:solidFill>
                  <a:schemeClr val="tx1"/>
                </a:solidFill>
              </a:defRPr>
            </a:lvl2pPr>
            <a:lvl3pPr marL="384048" indent="-146304" algn="l">
              <a:lnSpc>
                <a:spcPct val="100000"/>
              </a:lnSpc>
              <a:spcBef>
                <a:spcPts val="200"/>
              </a:spcBef>
              <a:buClr>
                <a:schemeClr val="accent3"/>
              </a:buClr>
              <a:buSzPct val="90000"/>
              <a:buFont typeface="+mn-lt"/>
              <a:buChar char="–"/>
              <a:defRPr sz="1050" b="0" i="0">
                <a:solidFill>
                  <a:schemeClr val="tx2"/>
                </a:solidFill>
              </a:defRPr>
            </a:lvl3pPr>
          </a:lstStyle>
          <a:p>
            <a:endParaRPr/>
          </a:p>
        </p:txBody>
      </p:sp>
      <p:sp>
        <p:nvSpPr>
          <p:cNvPr id="123" name="Footer"/>
          <p:cNvSpPr>
            <a:spLocks noGrp="1"/>
          </p:cNvSpPr>
          <p:nvPr>
            <p:ph type="ftr" sz="quarter" idx="11"/>
          </p:nvPr>
        </p:nvSpPr>
        <p:spPr>
          <a:xfrm>
            <a:off x="6400800" y="6675120"/>
            <a:ext cx="5486400" cy="16459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24" name="Slide Number"/>
          <p:cNvSpPr>
            <a:spLocks noGrp="1"/>
          </p:cNvSpPr>
          <p:nvPr>
            <p:ph type="sldNum" sz="quarter" idx="12"/>
          </p:nvPr>
        </p:nvSpPr>
        <p:spPr>
          <a:xfrm>
            <a:off x="11018520" y="6501384"/>
            <a:ext cx="868680" cy="20116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D4F8991D-8E07-4CE6-801D-D42CAD1C25D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385715"/>
            <a:ext cx="12192000" cy="248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36000" bIns="46800">
            <a:spAutoFit/>
          </a:bodyPr>
          <a:lstStyle>
            <a:lvl1pPr eaLnBrk="0" hangingPunct="0"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dirty="0">
                <a:solidFill>
                  <a:srgbClr val="5E676E"/>
                </a:solidFill>
              </a:rPr>
              <a:t>© 2026 Modelica Association (www.modelica.org) |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5E676E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eFMI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E676E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®</a:t>
            </a:r>
            <a:r>
              <a:rPr lang="en-US" altLang="en-US" sz="1000" dirty="0">
                <a:solidFill>
                  <a:srgbClr val="5E676E"/>
                </a:solidFill>
              </a:rPr>
              <a:t> (www.efmi-standard.org) | CC BY-SA 4.0</a:t>
            </a:r>
          </a:p>
        </p:txBody>
      </p:sp>
      <p:pic>
        <p:nvPicPr>
          <p:cNvPr id="6" name="Grafik 2">
            <a:extLst>
              <a:ext uri="{FF2B5EF4-FFF2-40B4-BE49-F238E27FC236}">
                <a16:creationId xmlns:a16="http://schemas.microsoft.com/office/drawing/2014/main" id="{166BC798-C5C5-4FA8-AA0C-C536DDA74B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9316" y="300065"/>
            <a:ext cx="4580160" cy="2178939"/>
          </a:xfrm>
          <a:prstGeom prst="rect">
            <a:avLst/>
          </a:prstGeom>
        </p:spPr>
      </p:pic>
      <p:pic>
        <p:nvPicPr>
          <p:cNvPr id="7" name="Grafik 59">
            <a:extLst>
              <a:ext uri="{FF2B5EF4-FFF2-40B4-BE49-F238E27FC236}">
                <a16:creationId xmlns:a16="http://schemas.microsoft.com/office/drawing/2014/main" id="{BE1919B7-4C69-449A-92C1-3F2FADAA34F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89316" y="2598643"/>
            <a:ext cx="4580160" cy="1155356"/>
          </a:xfrm>
          <a:prstGeom prst="rect">
            <a:avLst/>
          </a:prstGeom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0DB3F18D-4C30-4ACB-B112-0DA65BFB9624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0" y="3905250"/>
            <a:ext cx="12192000" cy="891142"/>
          </a:xfrm>
        </p:spPr>
        <p:txBody>
          <a:bodyPr>
            <a:noAutofit/>
          </a:bodyPr>
          <a:lstStyle>
            <a:lvl1pPr algn="ctr">
              <a:defRPr>
                <a:solidFill>
                  <a:srgbClr val="C00000"/>
                </a:solidFill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Title</a:t>
            </a:r>
            <a:endParaRPr lang="en-US" altLang="en-US" sz="1800" noProof="0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4795838"/>
            <a:ext cx="12192000" cy="290512"/>
          </a:xfrm>
        </p:spPr>
        <p:txBody>
          <a:bodyPr/>
          <a:lstStyle>
            <a:lvl1pPr algn="ctr">
              <a:defRPr b="1">
                <a:solidFill>
                  <a:srgbClr val="C00000"/>
                </a:solidFill>
              </a:defRPr>
            </a:lvl1pPr>
            <a:lvl2pPr>
              <a:defRPr>
                <a:solidFill>
                  <a:srgbClr val="C00000"/>
                </a:solidFill>
              </a:defRPr>
            </a:lvl2pPr>
            <a:lvl3pPr>
              <a:defRPr>
                <a:solidFill>
                  <a:srgbClr val="C00000"/>
                </a:solidFill>
              </a:defRPr>
            </a:lvl3pPr>
            <a:lvl4pPr>
              <a:defRPr>
                <a:solidFill>
                  <a:srgbClr val="C00000"/>
                </a:solidFill>
              </a:defRPr>
            </a:lvl4pPr>
            <a:lvl5pPr>
              <a:defRPr>
                <a:solidFill>
                  <a:srgbClr val="C00000"/>
                </a:solidFill>
              </a:defRPr>
            </a:lvl5pPr>
          </a:lstStyle>
          <a:p>
            <a:pPr lvl="0"/>
            <a:r>
              <a:rPr lang="en-US" dirty="0"/>
              <a:t>Location – date</a:t>
            </a:r>
          </a:p>
        </p:txBody>
      </p:sp>
    </p:spTree>
    <p:extLst>
      <p:ext uri="{BB962C8B-B14F-4D97-AF65-F5344CB8AC3E}">
        <p14:creationId xmlns:p14="http://schemas.microsoft.com/office/powerpoint/2010/main" val="4122780899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1" y="1495426"/>
            <a:ext cx="11039214" cy="4725912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  <a:lvl2pPr>
              <a:buClr>
                <a:srgbClr val="5E676E"/>
              </a:buClr>
              <a:defRPr/>
            </a:lvl2pPr>
            <a:lvl3pPr>
              <a:buClr>
                <a:srgbClr val="5E676E"/>
              </a:buClr>
              <a:defRPr/>
            </a:lvl3pPr>
            <a:lvl4pPr>
              <a:buClr>
                <a:srgbClr val="5E676E"/>
              </a:buClr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r-FR" dirty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628651" y="703263"/>
            <a:ext cx="11039213" cy="64611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5" name="Grafik 59">
            <a:extLst>
              <a:ext uri="{FF2B5EF4-FFF2-40B4-BE49-F238E27FC236}">
                <a16:creationId xmlns:a16="http://schemas.microsoft.com/office/drawing/2014/main" id="{BE1919B7-4C69-449A-92C1-3F2FADAA34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93614" y="5501053"/>
            <a:ext cx="3174250" cy="800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571415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497013"/>
            <a:ext cx="5365749" cy="4513262"/>
          </a:xfrm>
        </p:spPr>
        <p:txBody>
          <a:bodyPr/>
          <a:lstStyle>
            <a:lvl1pPr>
              <a:defRPr sz="2000"/>
            </a:lvl1pPr>
            <a:lvl2pPr>
              <a:buClr>
                <a:srgbClr val="5E676E"/>
              </a:buClr>
              <a:defRPr sz="1800"/>
            </a:lvl2pPr>
            <a:lvl3pPr>
              <a:buClr>
                <a:srgbClr val="5E676E"/>
              </a:buClr>
              <a:defRPr sz="1600"/>
            </a:lvl3pPr>
            <a:lvl4pPr>
              <a:buClr>
                <a:srgbClr val="5E676E"/>
              </a:buCl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r-FR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497013"/>
            <a:ext cx="5470263" cy="4513262"/>
          </a:xfrm>
        </p:spPr>
        <p:txBody>
          <a:bodyPr/>
          <a:lstStyle>
            <a:lvl1pPr>
              <a:defRPr sz="2000"/>
            </a:lvl1pPr>
            <a:lvl2pPr>
              <a:buClr>
                <a:srgbClr val="5E676E"/>
              </a:buClr>
              <a:defRPr sz="1800"/>
            </a:lvl2pPr>
            <a:lvl3pPr>
              <a:buClr>
                <a:srgbClr val="5E676E"/>
              </a:buClr>
              <a:defRPr sz="1600"/>
            </a:lvl3pPr>
            <a:lvl4pPr>
              <a:buClr>
                <a:srgbClr val="5E676E"/>
              </a:buClr>
              <a:defRPr sz="1400"/>
            </a:lvl4pPr>
            <a:lvl5pPr>
              <a:buClr>
                <a:srgbClr val="5E676E"/>
              </a:buCl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r-FR" dirty="0"/>
          </a:p>
        </p:txBody>
      </p:sp>
      <p:pic>
        <p:nvPicPr>
          <p:cNvPr id="5" name="Grafik 59">
            <a:extLst>
              <a:ext uri="{FF2B5EF4-FFF2-40B4-BE49-F238E27FC236}">
                <a16:creationId xmlns:a16="http://schemas.microsoft.com/office/drawing/2014/main" id="{BE1919B7-4C69-449A-92C1-3F2FADAA34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93614" y="5501053"/>
            <a:ext cx="3174250" cy="800712"/>
          </a:xfrm>
          <a:prstGeom prst="rect">
            <a:avLst/>
          </a:prstGeom>
        </p:spPr>
      </p:pic>
      <p:sp>
        <p:nvSpPr>
          <p:cNvPr id="6" name="Titel 3"/>
          <p:cNvSpPr>
            <a:spLocks noGrp="1"/>
          </p:cNvSpPr>
          <p:nvPr>
            <p:ph type="title"/>
          </p:nvPr>
        </p:nvSpPr>
        <p:spPr>
          <a:xfrm>
            <a:off x="628651" y="703263"/>
            <a:ext cx="11039213" cy="64611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41736113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59">
            <a:extLst>
              <a:ext uri="{FF2B5EF4-FFF2-40B4-BE49-F238E27FC236}">
                <a16:creationId xmlns:a16="http://schemas.microsoft.com/office/drawing/2014/main" id="{BE1919B7-4C69-449A-92C1-3F2FADAA34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93614" y="5501053"/>
            <a:ext cx="3174250" cy="800712"/>
          </a:xfrm>
          <a:prstGeom prst="rect">
            <a:avLst/>
          </a:prstGeom>
        </p:spPr>
      </p:pic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628651" y="703263"/>
            <a:ext cx="11039213" cy="64611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57342137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59">
            <a:extLst>
              <a:ext uri="{FF2B5EF4-FFF2-40B4-BE49-F238E27FC236}">
                <a16:creationId xmlns:a16="http://schemas.microsoft.com/office/drawing/2014/main" id="{BE1919B7-4C69-449A-92C1-3F2FADAA34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93614" y="5501053"/>
            <a:ext cx="3174250" cy="800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930201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039811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21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10" Type="http://schemas.openxmlformats.org/officeDocument/2006/relationships/image" Target="../media/image8.png"/><Relationship Id="rId4" Type="http://schemas.openxmlformats.org/officeDocument/2006/relationships/slideLayout" Target="../slideLayouts/slideLayout22.xml"/><Relationship Id="rId9" Type="http://schemas.openxmlformats.org/officeDocument/2006/relationships/image" Target="../media/image7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0" name="Title rule"/>
          <p:cNvCxnSpPr/>
          <p:nvPr/>
        </p:nvCxnSpPr>
        <p:spPr>
          <a:xfrm>
            <a:off x="0" y="768096"/>
            <a:ext cx="12191695" cy="0"/>
          </a:xfrm>
          <a:prstGeom prst="straightConnector1">
            <a:avLst/>
          </a:prstGeom>
          <a:noFill/>
          <a:ln w="9525">
            <a:solidFill>
              <a:srgbClr val="D6001C"/>
            </a:solidFill>
          </a:ln>
        </p:spPr>
      </p:cxnSp>
      <p:sp>
        <p:nvSpPr>
          <p:cNvPr id="201" name="Footer band"/>
          <p:cNvSpPr/>
          <p:nvPr/>
        </p:nvSpPr>
        <p:spPr>
          <a:xfrm>
            <a:off x="-9144" y="6455664"/>
            <a:ext cx="12209983" cy="402336"/>
          </a:xfrm>
          <a:prstGeom prst="rect">
            <a:avLst/>
          </a:prstGeom>
          <a:solidFill>
            <a:srgbClr val="DB091C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02" name="RPI logo"/>
          <p:cNvPicPr preferRelativeResize="0"/>
          <p:nvPr/>
        </p:nvPicPr>
        <p:blipFill rotWithShape="1">
          <a:blip r:embed="rId20"/>
          <a:srcRect/>
          <a:stretch/>
        </p:blipFill>
        <p:spPr>
          <a:xfrm>
            <a:off x="164592" y="6519672"/>
            <a:ext cx="45720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ALSETLab logo"/>
          <p:cNvPicPr preferRelativeResize="0"/>
          <p:nvPr/>
        </p:nvPicPr>
        <p:blipFill rotWithShape="1">
          <a:blip r:embed="rId21"/>
          <a:srcRect/>
          <a:stretch/>
        </p:blipFill>
        <p:spPr>
          <a:xfrm>
            <a:off x="9875520" y="128016"/>
            <a:ext cx="2103120" cy="508406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Title"/>
          <p:cNvSpPr>
            <a:spLocks noGrp="1"/>
          </p:cNvSpPr>
          <p:nvPr>
            <p:ph type="title"/>
          </p:nvPr>
        </p:nvSpPr>
        <p:spPr>
          <a:xfrm>
            <a:off x="365760" y="128016"/>
            <a:ext cx="937260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ctr">
            <a:normAutofit/>
          </a:bodyPr>
          <a:lstStyle/>
          <a:p>
            <a:endParaRPr/>
          </a:p>
        </p:txBody>
      </p:sp>
      <p:sp>
        <p:nvSpPr>
          <p:cNvPr id="205" name="Content"/>
          <p:cNvSpPr>
            <a:spLocks noGrp="1"/>
          </p:cNvSpPr>
          <p:nvPr>
            <p:ph type="body" idx="1"/>
          </p:nvPr>
        </p:nvSpPr>
        <p:spPr>
          <a:xfrm>
            <a:off x="365760" y="914400"/>
            <a:ext cx="11460175" cy="5303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p:sp>
        <p:nvSpPr>
          <p:cNvPr id="206" name="Footer"/>
          <p:cNvSpPr>
            <a:spLocks noGrp="1"/>
          </p:cNvSpPr>
          <p:nvPr>
            <p:ph type="ftr" sz="quarter" idx="11"/>
          </p:nvPr>
        </p:nvSpPr>
        <p:spPr>
          <a:xfrm>
            <a:off x="6400800" y="6675120"/>
            <a:ext cx="5486400" cy="16459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07" name="Slide Number"/>
          <p:cNvSpPr>
            <a:spLocks noGrp="1"/>
          </p:cNvSpPr>
          <p:nvPr>
            <p:ph type="sldNum" sz="quarter" idx="12"/>
          </p:nvPr>
        </p:nvSpPr>
        <p:spPr>
          <a:xfrm>
            <a:off x="11018520" y="6501384"/>
            <a:ext cx="868680" cy="20116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  <p:sldLayoutId id="2147483714" r:id="rId15"/>
    <p:sldLayoutId id="2147483715" r:id="rId16"/>
    <p:sldLayoutId id="2147483716" r:id="rId17"/>
    <p:sldLayoutId id="2147483717" r:id="rId18"/>
  </p:sldLayoutIdLst>
  <p:hf sldNum="0" hdr="0" ftr="0" dt="0"/>
  <p:txStyles>
    <p:titleStyle>
      <a:lvl1pPr marL="0" indent="0" algn="l">
        <a:lnSpc>
          <a:spcPct val="100000"/>
        </a:lnSpc>
        <a:spcBef>
          <a:spcPts val="0"/>
        </a:spcBef>
        <a:buNone/>
        <a:defRPr sz="2400" b="1" i="1">
          <a:solidFill>
            <a:schemeClr val="accent2"/>
          </a:solidFill>
          <a:latin typeface="+mj-lt"/>
        </a:defRPr>
      </a:lvl1pPr>
    </p:titleStyle>
    <p:bodyStyle>
      <a:lvl1pPr marL="0" indent="0" algn="l">
        <a:lnSpc>
          <a:spcPct val="100000"/>
        </a:lnSpc>
        <a:spcBef>
          <a:spcPts val="800"/>
        </a:spcBef>
        <a:buNone/>
        <a:defRPr sz="1500" b="1" i="0">
          <a:solidFill>
            <a:schemeClr val="tx2"/>
          </a:solidFill>
          <a:latin typeface="+mn-lt"/>
        </a:defRPr>
      </a:lvl1pPr>
      <a:lvl2pPr marL="256032" indent="-201168" algn="l">
        <a:lnSpc>
          <a:spcPct val="100000"/>
        </a:lnSpc>
        <a:spcBef>
          <a:spcPts val="400"/>
        </a:spcBef>
        <a:buClr>
          <a:schemeClr val="accent1"/>
        </a:buClr>
        <a:buSzPct val="90000"/>
        <a:buFont typeface="+mn-lt"/>
        <a:buChar char="•"/>
        <a:defRPr sz="1350" b="0" i="0">
          <a:solidFill>
            <a:schemeClr val="tx1"/>
          </a:solidFill>
          <a:latin typeface="+mn-lt"/>
        </a:defRPr>
      </a:lvl2pPr>
      <a:lvl3pPr marL="475488" indent="-182880" algn="l">
        <a:lnSpc>
          <a:spcPct val="100000"/>
        </a:lnSpc>
        <a:spcBef>
          <a:spcPts val="300"/>
        </a:spcBef>
        <a:buClr>
          <a:schemeClr val="accent3"/>
        </a:buClr>
        <a:buSzPct val="90000"/>
        <a:buFont typeface="+mn-lt"/>
        <a:buChar char="–"/>
        <a:defRPr sz="1200" b="0" i="0">
          <a:solidFill>
            <a:schemeClr val="tx2"/>
          </a:solidFill>
          <a:latin typeface="+mn-lt"/>
        </a:defRPr>
      </a:lvl3pPr>
      <a:lvl4pPr marL="694944" indent="-182880" algn="l">
        <a:lnSpc>
          <a:spcPct val="100000"/>
        </a:lnSpc>
        <a:spcBef>
          <a:spcPts val="300"/>
        </a:spcBef>
        <a:buClr>
          <a:schemeClr val="accent3"/>
        </a:buClr>
        <a:buSzPct val="90000"/>
        <a:buFont typeface="+mn-lt"/>
        <a:buChar char="·"/>
        <a:defRPr sz="1100" b="0" i="0">
          <a:solidFill>
            <a:schemeClr val="tx2"/>
          </a:solidFill>
          <a:latin typeface="+mn-lt"/>
        </a:defRPr>
      </a:lvl4pPr>
    </p:bodyStyle>
    <p:otherStyle>
      <a:lvl1pPr>
        <a:defRPr sz="1400">
          <a:solidFill>
            <a:schemeClr val="tx1"/>
          </a:solidFill>
          <a:latin typeface="+mn-lt"/>
        </a:defRPr>
      </a:lvl1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>
            <a:extLst>
              <a:ext uri="{FF2B5EF4-FFF2-40B4-BE49-F238E27FC236}">
                <a16:creationId xmlns:a16="http://schemas.microsoft.com/office/drawing/2014/main" id="{4A481C86-0EB0-4659-8599-FB1BED336C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0184" y="703263"/>
            <a:ext cx="1104053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Page master title</a:t>
            </a:r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3F7AA6AE-173C-471C-B562-46C348AAD6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0184" y="1470819"/>
            <a:ext cx="11040533" cy="474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7">
            <a:extLst>
              <a:ext uri="{FF2B5EF4-FFF2-40B4-BE49-F238E27FC236}">
                <a16:creationId xmlns:a16="http://schemas.microsoft.com/office/drawing/2014/main" id="{803EADC3-11C7-4216-8817-8EA214D7F0B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0184" y="6391275"/>
            <a:ext cx="5787434" cy="248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36000" bIns="46800">
            <a:spAutoFit/>
          </a:bodyPr>
          <a:lstStyle>
            <a:lvl1pPr eaLnBrk="0" hangingPunct="0"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dirty="0">
                <a:solidFill>
                  <a:srgbClr val="C00000"/>
                </a:solidFill>
              </a:rPr>
              <a:t>© 2026 Modelica Association (www.modelica.org) |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eFMI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® (</a:t>
            </a:r>
            <a:r>
              <a:rPr lang="en-US" altLang="en-US" sz="1000" dirty="0">
                <a:solidFill>
                  <a:srgbClr val="C00000"/>
                </a:solidFill>
              </a:rPr>
              <a:t>www.efmi-standard.org) | CC BY-SA 4.0</a:t>
            </a:r>
          </a:p>
        </p:txBody>
      </p:sp>
      <p:sp>
        <p:nvSpPr>
          <p:cNvPr id="1030" name="Rectangle 8">
            <a:extLst>
              <a:ext uri="{FF2B5EF4-FFF2-40B4-BE49-F238E27FC236}">
                <a16:creationId xmlns:a16="http://schemas.microsoft.com/office/drawing/2014/main" id="{2C3C27CE-FEF9-4C65-AC15-1FD889E5B59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288105" y="6391275"/>
            <a:ext cx="385313" cy="248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36000" bIns="46800">
            <a:spAutoFit/>
          </a:bodyPr>
          <a:lstStyle>
            <a:lvl1pPr eaLnBrk="0" hangingPunct="0">
              <a:defRPr sz="1600">
                <a:solidFill>
                  <a:srgbClr val="120C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rgbClr val="120C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rgbClr val="120C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rgbClr val="120C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rgbClr val="120C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  <a:defRPr/>
            </a:pPr>
            <a:fld id="{60E12587-5785-4F82-9271-E67CE8CC889B}" type="slidenum">
              <a:rPr lang="de-DE" altLang="en-US" sz="1000" smtClean="0">
                <a:solidFill>
                  <a:srgbClr val="C00000"/>
                </a:solidFill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de-DE" altLang="en-US" sz="1000" dirty="0">
              <a:solidFill>
                <a:srgbClr val="C00000"/>
              </a:solidFill>
            </a:endParaRPr>
          </a:p>
        </p:txBody>
      </p:sp>
      <p:cxnSp>
        <p:nvCxnSpPr>
          <p:cNvPr id="2" name="Gerade Verbindung 17">
            <a:extLst>
              <a:ext uri="{FF2B5EF4-FFF2-40B4-BE49-F238E27FC236}">
                <a16:creationId xmlns:a16="http://schemas.microsoft.com/office/drawing/2014/main" id="{A54CB9AE-F6C2-4360-A3A1-E1284117E8CE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624418" y="6342063"/>
            <a:ext cx="11025716" cy="0"/>
          </a:xfrm>
          <a:prstGeom prst="line">
            <a:avLst/>
          </a:prstGeom>
          <a:noFill/>
          <a:ln w="25400" algn="ctr">
            <a:solidFill>
              <a:srgbClr val="C9133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32" name="Gerade Verbindung 25">
            <a:extLst>
              <a:ext uri="{FF2B5EF4-FFF2-40B4-BE49-F238E27FC236}">
                <a16:creationId xmlns:a16="http://schemas.microsoft.com/office/drawing/2014/main" id="{03FE9DB0-6C5D-4F81-8FD9-76F0388817E0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624417" y="595313"/>
            <a:ext cx="9514416" cy="0"/>
          </a:xfrm>
          <a:prstGeom prst="line">
            <a:avLst/>
          </a:prstGeom>
          <a:noFill/>
          <a:ln w="25400" algn="ctr">
            <a:solidFill>
              <a:srgbClr val="C9133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4" name="Grafik 3">
            <a:extLst>
              <a:ext uri="{FF2B5EF4-FFF2-40B4-BE49-F238E27FC236}">
                <a16:creationId xmlns:a16="http://schemas.microsoft.com/office/drawing/2014/main" id="{6791679E-0829-41EF-8E10-9F455B579B86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0542755" y="168844"/>
            <a:ext cx="937983" cy="449489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5954F368-1AEB-43EB-AD0B-DE2E89440A74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8420" y="2641420"/>
            <a:ext cx="1575159" cy="1575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848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</p:sldLayoutIdLst>
  <p:transition/>
  <p:txStyles>
    <p:titleStyle>
      <a:lvl1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rgbClr val="5E676E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2pPr>
      <a:lvl3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3pPr>
      <a:lvl4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4pPr>
      <a:lvl5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5pPr>
      <a:lvl6pPr marL="4572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</a:defRPr>
      </a:lvl6pPr>
      <a:lvl7pPr marL="9144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</a:defRPr>
      </a:lvl7pPr>
      <a:lvl8pPr marL="13716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</a:defRPr>
      </a:lvl8pPr>
      <a:lvl9pPr marL="18288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0"/>
        </a:spcBef>
        <a:spcAft>
          <a:spcPct val="30000"/>
        </a:spcAft>
        <a:buSzPct val="75000"/>
        <a:defRPr sz="2000">
          <a:solidFill>
            <a:srgbClr val="5E676E"/>
          </a:solidFill>
          <a:latin typeface="+mn-lt"/>
          <a:ea typeface="+mn-ea"/>
          <a:cs typeface="+mn-cs"/>
        </a:defRPr>
      </a:lvl1pPr>
      <a:lvl2pPr marL="265113" indent="-263525" algn="l" rtl="0" eaLnBrk="0" fontAlgn="base" hangingPunct="0">
        <a:spcBef>
          <a:spcPct val="0"/>
        </a:spcBef>
        <a:spcAft>
          <a:spcPct val="30000"/>
        </a:spcAft>
        <a:buClr>
          <a:srgbClr val="5E676E"/>
        </a:buClr>
        <a:buSzPct val="100000"/>
        <a:buFont typeface="Arial" panose="020B0604020202020204" pitchFamily="34" charset="0"/>
        <a:buChar char="•"/>
        <a:defRPr>
          <a:solidFill>
            <a:srgbClr val="5E676E"/>
          </a:solidFill>
          <a:latin typeface="+mn-lt"/>
        </a:defRPr>
      </a:lvl2pPr>
      <a:lvl3pPr marL="536575" indent="-265113" algn="l" rtl="0" eaLnBrk="0" fontAlgn="base" hangingPunct="0">
        <a:spcBef>
          <a:spcPct val="0"/>
        </a:spcBef>
        <a:spcAft>
          <a:spcPct val="30000"/>
        </a:spcAft>
        <a:buClr>
          <a:srgbClr val="5E676E"/>
        </a:buClr>
        <a:buSzPct val="90000"/>
        <a:buFont typeface="Arial" panose="020B0604020202020204" pitchFamily="34" charset="0"/>
        <a:buChar char="•"/>
        <a:defRPr sz="1600">
          <a:solidFill>
            <a:srgbClr val="5E676E"/>
          </a:solidFill>
          <a:latin typeface="+mn-lt"/>
        </a:defRPr>
      </a:lvl3pPr>
      <a:lvl4pPr marL="803275" indent="-265113" algn="l" defTabSz="896938" rtl="0" eaLnBrk="0" fontAlgn="base" hangingPunct="0">
        <a:spcBef>
          <a:spcPct val="0"/>
        </a:spcBef>
        <a:spcAft>
          <a:spcPct val="30000"/>
        </a:spcAft>
        <a:buClr>
          <a:srgbClr val="5E676E"/>
        </a:buClr>
        <a:buSzPct val="85000"/>
        <a:buFont typeface="Arial" panose="020B0604020202020204" pitchFamily="34" charset="0"/>
        <a:buChar char="•"/>
        <a:defRPr sz="1400">
          <a:solidFill>
            <a:srgbClr val="5E676E"/>
          </a:solidFill>
          <a:latin typeface="+mn-lt"/>
        </a:defRPr>
      </a:lvl4pPr>
      <a:lvl5pPr marL="982663" indent="-177800" algn="l" rtl="0" eaLnBrk="0" fontAlgn="base" hangingPunct="0">
        <a:spcBef>
          <a:spcPct val="0"/>
        </a:spcBef>
        <a:spcAft>
          <a:spcPct val="30000"/>
        </a:spcAft>
        <a:buClr>
          <a:srgbClr val="5E676E"/>
        </a:buClr>
        <a:buSzPct val="75000"/>
        <a:buFont typeface="Arial" panose="020B0604020202020204" pitchFamily="34" charset="0"/>
        <a:buChar char="•"/>
        <a:defRPr sz="1400">
          <a:solidFill>
            <a:srgbClr val="5E676E"/>
          </a:solidFill>
          <a:latin typeface="+mn-lt"/>
        </a:defRPr>
      </a:lvl5pPr>
      <a:lvl6pPr marL="1533525" indent="-177800" algn="l" rtl="0" eaLnBrk="1" fontAlgn="base" hangingPunct="1">
        <a:spcBef>
          <a:spcPct val="0"/>
        </a:spcBef>
        <a:spcAft>
          <a:spcPct val="30000"/>
        </a:spcAft>
        <a:buClr>
          <a:schemeClr val="bg2"/>
        </a:buClr>
        <a:buSzPct val="75000"/>
        <a:buChar char="-"/>
        <a:defRPr sz="1400">
          <a:solidFill>
            <a:schemeClr val="tx1"/>
          </a:solidFill>
          <a:latin typeface="+mn-lt"/>
        </a:defRPr>
      </a:lvl6pPr>
      <a:lvl7pPr marL="1990725" indent="-177800" algn="l" rtl="0" eaLnBrk="1" fontAlgn="base" hangingPunct="1">
        <a:spcBef>
          <a:spcPct val="0"/>
        </a:spcBef>
        <a:spcAft>
          <a:spcPct val="30000"/>
        </a:spcAft>
        <a:buClr>
          <a:schemeClr val="bg2"/>
        </a:buClr>
        <a:buSzPct val="75000"/>
        <a:buChar char="-"/>
        <a:defRPr sz="1400">
          <a:solidFill>
            <a:schemeClr val="tx1"/>
          </a:solidFill>
          <a:latin typeface="+mn-lt"/>
        </a:defRPr>
      </a:lvl7pPr>
      <a:lvl8pPr marL="2447925" indent="-177800" algn="l" rtl="0" eaLnBrk="1" fontAlgn="base" hangingPunct="1">
        <a:spcBef>
          <a:spcPct val="0"/>
        </a:spcBef>
        <a:spcAft>
          <a:spcPct val="30000"/>
        </a:spcAft>
        <a:buClr>
          <a:schemeClr val="bg2"/>
        </a:buClr>
        <a:buSzPct val="75000"/>
        <a:buChar char="-"/>
        <a:defRPr sz="1400">
          <a:solidFill>
            <a:schemeClr val="tx1"/>
          </a:solidFill>
          <a:latin typeface="+mn-lt"/>
        </a:defRPr>
      </a:lvl8pPr>
      <a:lvl9pPr marL="2905125" indent="-177800" algn="l" rtl="0" eaLnBrk="1" fontAlgn="base" hangingPunct="1">
        <a:spcBef>
          <a:spcPct val="0"/>
        </a:spcBef>
        <a:spcAft>
          <a:spcPct val="30000"/>
        </a:spcAft>
        <a:buClr>
          <a:schemeClr val="bg2"/>
        </a:buClr>
        <a:buSzPct val="75000"/>
        <a:buChar char="-"/>
        <a:defRPr sz="14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0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png"/><Relationship Id="rId11" Type="http://schemas.openxmlformats.org/officeDocument/2006/relationships/image" Target="../media/image28.png"/><Relationship Id="rId5" Type="http://schemas.openxmlformats.org/officeDocument/2006/relationships/image" Target="../media/image23.png"/><Relationship Id="rId10" Type="http://schemas.openxmlformats.org/officeDocument/2006/relationships/image" Target="../media/image27.png"/><Relationship Id="rId4" Type="http://schemas.openxmlformats.org/officeDocument/2006/relationships/image" Target="../media/image22.png"/><Relationship Id="rId9" Type="http://schemas.openxmlformats.org/officeDocument/2006/relationships/image" Target="../media/image18.png"/><Relationship Id="rId14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34.png"/><Relationship Id="rId12" Type="http://schemas.openxmlformats.org/officeDocument/2006/relationships/image" Target="../media/image27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hyperlink" Target="https://www.efmi-standard.org/" TargetMode="External"/><Relationship Id="rId9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0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8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digikey.com/en/products/detail/stmicroelectronics/NUCLEO-H753ZI/21348937?gclsrc=aw.ds&amp;gad_source=1&amp;gad_campaignid=9265913509&amp;gbraid=0AAAAADrbLliHg10SV78X_GYTf7xxi12ON&amp;gclid=Cj0KCQjw8ofWBhCHARIsANBj4LutbUS4y7sxuNsGfuLLwAqG0Z6l9BFmKBYpzcEDh6MRiQ8QyQyTv5kaAmTyEALw_wcB" TargetMode="External"/><Relationship Id="rId4" Type="http://schemas.openxmlformats.org/officeDocument/2006/relationships/hyperlink" Target="https://www.digikey.com/en/products/detail/stmicroelectronics/NUCLEO-L476RG/5347711?gclsrc=aw.ds&amp;gad_source=1&amp;gad_campaignid=9265913509&amp;gbraid=0AAAAADrbLliHg10SV78X_GYTf7xxi12ON&amp;gclid=Cj0KCQjw8ofWBhCHARIsANBj4LuKBV5eStW2ZAXP6ixe9ousFM0l8JCGB3l6-b1ZJDSnUS3PdiUavdIaAoprEALw_wcB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hyperlink" Target="https://creativecommons.org/licenses/by-sa/4.0/" TargetMode="External"/><Relationship Id="rId1" Type="http://schemas.openxmlformats.org/officeDocument/2006/relationships/slideLayout" Target="../slideLayouts/slideLayout24.xml"/><Relationship Id="rId5" Type="http://schemas.openxmlformats.org/officeDocument/2006/relationships/hyperlink" Target="https://modelica.org/" TargetMode="External"/><Relationship Id="rId4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960120"/>
            <a:ext cx="11091672" cy="1207008"/>
          </a:xfrm>
        </p:spPr>
        <p:txBody>
          <a:bodyPr/>
          <a:lstStyle/>
          <a:p>
            <a:r>
              <a:rPr dirty="0"/>
              <a:t>Real</a:t>
            </a:r>
            <a:r>
              <a:rPr lang="en-US" dirty="0"/>
              <a:t>-</a:t>
            </a:r>
            <a:r>
              <a:rPr dirty="0"/>
              <a:t>time Simulation and CHiL Testing of Power System Stabilizers on Microcontrollers with Modelica and </a:t>
            </a:r>
            <a:r>
              <a:rPr dirty="0" err="1"/>
              <a:t>eFMI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2267712"/>
            <a:ext cx="11091672" cy="914400"/>
          </a:xfrm>
        </p:spPr>
        <p:txBody>
          <a:bodyPr wrap="square"/>
          <a:lstStyle/>
          <a:p>
            <a:r>
              <a:rPr b="1" dirty="0"/>
              <a:t>Luigi Vanfretti</a:t>
            </a:r>
            <a:r>
              <a:rPr dirty="0"/>
              <a:t>¹   Christoff Bürger²   Joseph Pizzimenti¹   Kyle Wilt¹   Hao Chang¹</a:t>
            </a:r>
          </a:p>
          <a:p>
            <a:pPr lvl="1"/>
            <a:r>
              <a:rPr dirty="0"/>
              <a:t>¹ Electrical, Computer and Systems Engineering Dept., Rensselaer Polytechnic Institute, USA</a:t>
            </a:r>
          </a:p>
          <a:p>
            <a:pPr lvl="1"/>
            <a:r>
              <a:rPr dirty="0"/>
              <a:t>² Dassault Systèmes AB, Lund, Sweden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4"/>
          </p:nvPr>
        </p:nvSpPr>
        <p:spPr/>
        <p:txBody>
          <a:bodyPr wrap="square"/>
          <a:lstStyle/>
          <a:p>
            <a:r>
              <a:t>American Modelica &amp; FMI Conference 2026</a:t>
            </a:r>
          </a:p>
          <a:p>
            <a:pPr lvl="1"/>
            <a:r>
              <a:t>Georgia Tech, Atlanta · 12–14 October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6"/>
          </p:nvPr>
        </p:nvSpPr>
        <p:spPr/>
        <p:txBody>
          <a:bodyPr wrap="square">
            <a:normAutofit lnSpcReduction="10000"/>
          </a:bodyPr>
          <a:lstStyle/>
          <a:p>
            <a:r>
              <a:rPr sz="3200" b="1" dirty="0">
                <a:latin typeface="Malvinas Sans" panose="00000500000000000000" pitchFamily="2" charset="0"/>
              </a:rPr>
              <a:t>Luigi Vanfretti</a:t>
            </a:r>
          </a:p>
          <a:p>
            <a:pPr lvl="1"/>
            <a:r>
              <a:rPr dirty="0"/>
              <a:t>Professor, ECSE</a:t>
            </a:r>
            <a:r>
              <a:rPr lang="en-US" dirty="0"/>
              <a:t>, Rensselaer Polytechnic Institute</a:t>
            </a:r>
          </a:p>
          <a:p>
            <a:pPr lvl="1"/>
            <a:r>
              <a:rPr dirty="0"/>
              <a:t>vanfrl@rpi.edu</a:t>
            </a:r>
          </a:p>
          <a:p>
            <a:pPr lvl="1"/>
            <a:endParaRPr lang="en-US" sz="900" dirty="0">
              <a:latin typeface="CMU Typewriter Text"/>
            </a:endParaRPr>
          </a:p>
          <a:p>
            <a:pPr lvl="1"/>
            <a:r>
              <a:rPr lang="en-US" dirty="0">
                <a:latin typeface="CMU Typewriter Text"/>
              </a:rPr>
              <a:t>alsetlab.com</a:t>
            </a:r>
          </a:p>
          <a:p>
            <a:pPr lvl="1"/>
            <a:r>
              <a:rPr dirty="0">
                <a:latin typeface="CMU Typewriter Text"/>
              </a:rPr>
              <a:t>github.com/</a:t>
            </a:r>
            <a:r>
              <a:rPr dirty="0" err="1">
                <a:latin typeface="CMU Typewriter Text"/>
              </a:rPr>
              <a:t>ALSETLab</a:t>
            </a:r>
            <a:r>
              <a:rPr dirty="0">
                <a:latin typeface="CMU Typewriter Text"/>
              </a:rPr>
              <a:t>/</a:t>
            </a:r>
            <a:r>
              <a:rPr dirty="0" err="1">
                <a:latin typeface="CMU Typewriter Text"/>
              </a:rPr>
              <a:t>efmi</a:t>
            </a:r>
            <a:r>
              <a:rPr dirty="0">
                <a:latin typeface="CMU Typewriter Text"/>
              </a:rPr>
              <a:t>-</a:t>
            </a:r>
            <a:r>
              <a:rPr dirty="0" err="1">
                <a:latin typeface="CMU Typewriter Text"/>
              </a:rPr>
              <a:t>pss</a:t>
            </a:r>
            <a:r>
              <a:rPr dirty="0">
                <a:latin typeface="CMU Typewriter Text"/>
              </a:rPr>
              <a:t>-use-case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problem: </a:t>
            </a:r>
            <a:r>
              <a:rPr dirty="0"/>
              <a:t>Why damping control must be </a:t>
            </a:r>
            <a:r>
              <a:rPr dirty="0" err="1"/>
              <a:t>redesignable</a:t>
            </a:r>
            <a:r>
              <a:rPr lang="en-US" dirty="0"/>
              <a:t>?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rmAutofit fontScale="97500" lnSpcReduction="10000"/>
          </a:bodyPr>
          <a:lstStyle/>
          <a:p>
            <a:r>
              <a:t>Grid incidents keep coming back to damping</a:t>
            </a:r>
          </a:p>
          <a:p>
            <a:pPr lvl="1"/>
            <a:r>
              <a:rPr b="1"/>
              <a:t>ENTSO-E 2016 and 2017</a:t>
            </a:r>
            <a:r>
              <a:t> — inter-area oscillations across the European system.</a:t>
            </a:r>
          </a:p>
          <a:p>
            <a:pPr lvl="1"/>
            <a:r>
              <a:rPr b="1"/>
              <a:t>Iberian grid, April 2025</a:t>
            </a:r>
            <a:r>
              <a:t> — complex </a:t>
            </a:r>
            <a:r>
              <a:rPr b="1"/>
              <a:t>0.63 Hz</a:t>
            </a:r>
            <a:r>
              <a:t> and </a:t>
            </a:r>
            <a:r>
              <a:rPr b="1"/>
              <a:t>0.2 Hz</a:t>
            </a:r>
            <a:r>
              <a:t> oscillations. The report blames poor coordination and the </a:t>
            </a:r>
            <a:r>
              <a:rPr i="1"/>
              <a:t>absence of detailed models of active damping controls</a:t>
            </a:r>
            <a:r>
              <a:t>, including existing PSS, for limiting operators' ability to foresee and contain it.</a:t>
            </a:r>
          </a:p>
          <a:p>
            <a:r>
              <a:t>The controller is fixed; the grid is not</a:t>
            </a:r>
          </a:p>
          <a:p>
            <a:pPr lvl="1"/>
            <a:r>
              <a:rPr b="1"/>
              <a:t>A PSS has a fixed structure</a:t>
            </a:r>
            <a:r>
              <a:t> — a washout, two lead-lag stages, a gain and a limiter. Only its parameters are designed.</a:t>
            </a:r>
          </a:p>
          <a:p>
            <a:pPr lvl="1"/>
            <a:r>
              <a:rPr b="1"/>
              <a:t>Those parameters are set once</a:t>
            </a:r>
            <a:r>
              <a:t>, in offline design studies before commissioning, and rarely revisited.</a:t>
            </a:r>
          </a:p>
          <a:p>
            <a:r>
              <a:rPr>
                <a:solidFill>
                  <a:schemeClr val="accent1"/>
                </a:solidFill>
              </a:rPr>
              <a:t>⇒ Damping controllers must be redesigned and redeployed throughout their operational life.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5"/>
          </p:nvPr>
        </p:nvSpPr>
        <p:spPr/>
        <p:txBody>
          <a:bodyPr wrap="square"/>
          <a:lstStyle/>
          <a:p>
            <a:r>
              <a:t>ABB Unitrol 1020 Excitation Control System (ECS)</a:t>
            </a:r>
          </a:p>
          <a:p>
            <a:r>
              <a:t>PSS included as part of the ECS firmware.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6"/>
          </p:nvPr>
        </p:nvSpPr>
        <p:spPr/>
        <p:txBody>
          <a:bodyPr wrap="square"/>
          <a:lstStyle/>
          <a:p>
            <a:r>
              <a:t>Generator with a PSS ahead of the ECS, interconnected with a grid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4"/>
          </p:nvPr>
        </p:nvSpPr>
        <p:spPr>
          <a:xfrm>
            <a:off x="6720840" y="4480560"/>
            <a:ext cx="5271868" cy="14630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</p:spPr>
        <p:txBody>
          <a:bodyPr wrap="square"/>
          <a:lstStyle/>
          <a:p>
            <a:r>
              <a:rPr dirty="0"/>
              <a:t>Vocabulary for the rest of the talk</a:t>
            </a:r>
          </a:p>
          <a:p>
            <a:pPr lvl="1"/>
            <a:r>
              <a:rPr b="1" dirty="0">
                <a:solidFill>
                  <a:srgbClr val="007733"/>
                </a:solidFill>
              </a:rPr>
              <a:t>controller</a:t>
            </a:r>
            <a:r>
              <a:rPr dirty="0"/>
              <a:t> — the PSS alone</a:t>
            </a:r>
          </a:p>
          <a:p>
            <a:pPr lvl="1"/>
            <a:r>
              <a:rPr b="1" dirty="0">
                <a:solidFill>
                  <a:schemeClr val="accent3"/>
                </a:solidFill>
              </a:rPr>
              <a:t>generator unit</a:t>
            </a:r>
            <a:r>
              <a:rPr dirty="0"/>
              <a:t> — the generator and its excitation control system (ECS), with or without a PSS</a:t>
            </a:r>
          </a:p>
          <a:p>
            <a:pPr lvl="1"/>
            <a:r>
              <a:rPr b="1" dirty="0">
                <a:solidFill>
                  <a:schemeClr val="accent2"/>
                </a:solidFill>
              </a:rPr>
              <a:t>plant</a:t>
            </a:r>
            <a:r>
              <a:rPr dirty="0"/>
              <a:t> — the generator, the ECS and the rest of the grid, w</a:t>
            </a:r>
            <a:r>
              <a:rPr lang="en-US" dirty="0"/>
              <a:t>/o</a:t>
            </a:r>
            <a:r>
              <a:rPr dirty="0"/>
              <a:t> the PSS</a:t>
            </a:r>
          </a:p>
          <a:p>
            <a:pPr lvl="1"/>
            <a:r>
              <a:rPr dirty="0">
                <a:latin typeface="CMU Typewriter Text"/>
              </a:rPr>
              <a:t>d(t)</a:t>
            </a:r>
            <a:r>
              <a:rPr dirty="0"/>
              <a:t> — grid disturbances: faults, line trips</a:t>
            </a:r>
          </a:p>
        </p:txBody>
      </p:sp>
      <p:sp>
        <p:nvSpPr>
          <p:cNvPr id="108" name="Footer"/>
          <p:cNvSpPr>
            <a:spLocks noGrp="1"/>
          </p:cNvSpPr>
          <p:nvPr>
            <p:ph type="ftr" sz="quarter" idx="11"/>
          </p:nvPr>
        </p:nvSpPr>
        <p:spPr>
          <a:xfrm>
            <a:off x="6400800" y="6675120"/>
            <a:ext cx="5486400" cy="16459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</a:defRPr>
            </a:lvl1pPr>
          </a:lstStyle>
          <a:p>
            <a:r>
              <a:t>American Modelica &amp; FMI Conference 2026 · Georgia Tech, Atlanta · 12–14 Oct 2026</a:t>
            </a:r>
          </a:p>
        </p:txBody>
      </p:sp>
      <p:sp>
        <p:nvSpPr>
          <p:cNvPr id="109" name="Slide Number"/>
          <p:cNvSpPr>
            <a:spLocks noGrp="1"/>
          </p:cNvSpPr>
          <p:nvPr>
            <p:ph type="sldNum" sz="quarter" idx="12"/>
          </p:nvPr>
        </p:nvSpPr>
        <p:spPr>
          <a:xfrm>
            <a:off x="11018520" y="6501384"/>
            <a:ext cx="868680" cy="20116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/>
              <a:t>2</a:t>
            </a:fld>
            <a:endParaRPr lang="en-US"/>
          </a:p>
        </p:txBody>
      </p:sp>
      <p:pic>
        <p:nvPicPr>
          <p:cNvPr id="110" name="Picture 109" descr="abb_ecs_cabin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4683" y="914400"/>
            <a:ext cx="3737409" cy="292608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pic>
        <p:nvPicPr>
          <p:cNvPr id="111" name="Picture 110" descr="f01-overview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485835"/>
            <a:ext cx="6126480" cy="117816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Evidence: Local oscillations — Need for new PSS and Re-design</a:t>
            </a:r>
            <a:endParaRPr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5"/>
          </p:nvPr>
        </p:nvSpPr>
        <p:spPr/>
        <p:txBody>
          <a:bodyPr wrap="square">
            <a:normAutofit fontScale="92500" lnSpcReduction="20000"/>
          </a:bodyPr>
          <a:lstStyle/>
          <a:p>
            <a:r>
              <a:rPr dirty="0"/>
              <a:t>PMU measurements of P and Q from the plant: </a:t>
            </a:r>
            <a:br>
              <a:rPr lang="en-US" dirty="0"/>
            </a:br>
            <a:r>
              <a:rPr dirty="0"/>
              <a:t>entire test window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6"/>
          </p:nvPr>
        </p:nvSpPr>
        <p:spPr/>
        <p:txBody>
          <a:bodyPr wrap="square"/>
          <a:lstStyle/>
          <a:p>
            <a:r>
              <a:rPr dirty="0"/>
              <a:t>Zoom — the limit cycle in both P and Q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7"/>
          </p:nvPr>
        </p:nvSpPr>
        <p:spPr/>
        <p:txBody>
          <a:bodyPr wrap="square">
            <a:normAutofit fontScale="92500" lnSpcReduction="20000"/>
          </a:bodyPr>
          <a:lstStyle/>
          <a:p>
            <a:r>
              <a:rPr dirty="0"/>
              <a:t>Control design tested at several power points; </a:t>
            </a:r>
            <a:br>
              <a:rPr lang="en-US" dirty="0"/>
            </a:br>
            <a:r>
              <a:rPr dirty="0"/>
              <a:t>the mode is excited at low </a:t>
            </a:r>
            <a:r>
              <a:rPr lang="en-US" dirty="0"/>
              <a:t>power dispatch</a:t>
            </a:r>
            <a:endParaRPr dirty="0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lvl="1"/>
            <a:r>
              <a:rPr b="1" dirty="0"/>
              <a:t>A change of voltage set-point</a:t>
            </a:r>
            <a:r>
              <a:rPr dirty="0"/>
              <a:t> moved the excitation system and AVR dynamics into the leading power-factor region.</a:t>
            </a:r>
          </a:p>
          <a:p>
            <a:pPr lvl="1"/>
            <a:r>
              <a:rPr b="1" dirty="0"/>
              <a:t>Visible in both P and Q</a:t>
            </a:r>
            <a:r>
              <a:rPr dirty="0"/>
              <a:t> — P participates through the P–V coupling of the synchronous machine.</a:t>
            </a:r>
          </a:p>
          <a:p>
            <a:pPr lvl="1"/>
            <a:r>
              <a:rPr b="1" dirty="0"/>
              <a:t>A limit cycle, not a divergence</a:t>
            </a:r>
            <a:r>
              <a:rPr dirty="0"/>
              <a:t> — the over-excitation limiter bounds it; the ≈1.58 Hz mode is excited only in the low-P conditions where the design fails.</a:t>
            </a:r>
          </a:p>
          <a:p>
            <a:pPr algn="ctr"/>
            <a:r>
              <a:rPr dirty="0">
                <a:solidFill>
                  <a:schemeClr val="accent1"/>
                </a:solidFill>
              </a:rPr>
              <a:t>The PSS was not tuned for light load in the leading-</a:t>
            </a:r>
            <a:r>
              <a:rPr dirty="0" err="1">
                <a:solidFill>
                  <a:schemeClr val="accent1"/>
                </a:solidFill>
              </a:rPr>
              <a:t>p.f</a:t>
            </a:r>
            <a:r>
              <a:rPr dirty="0">
                <a:solidFill>
                  <a:schemeClr val="accent1"/>
                </a:solidFill>
              </a:rPr>
              <a:t>. region.</a:t>
            </a:r>
            <a:endParaRPr lang="en-US" dirty="0">
              <a:solidFill>
                <a:schemeClr val="accent1"/>
              </a:solidFill>
            </a:endParaRPr>
          </a:p>
          <a:p>
            <a:pPr algn="ctr"/>
            <a:r>
              <a:rPr lang="en-US" dirty="0">
                <a:solidFill>
                  <a:schemeClr val="accent1"/>
                </a:solidFill>
              </a:rPr>
              <a:t>New controller functions will require to update the parameters with changes in operating conditions.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87" name="Footer"/>
          <p:cNvSpPr>
            <a:spLocks noGrp="1"/>
          </p:cNvSpPr>
          <p:nvPr>
            <p:ph type="ftr" sz="quarter" idx="11"/>
          </p:nvPr>
        </p:nvSpPr>
        <p:spPr>
          <a:xfrm>
            <a:off x="6400800" y="6675120"/>
            <a:ext cx="5486400" cy="16459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</a:defRPr>
            </a:lvl1pPr>
          </a:lstStyle>
          <a:p>
            <a:r>
              <a:t>American Modelica &amp; FMI Conference 2026 · Georgia Tech, Atlanta · 12–14 Oct 2026</a:t>
            </a:r>
          </a:p>
        </p:txBody>
      </p:sp>
      <p:sp>
        <p:nvSpPr>
          <p:cNvPr id="188" name="Slide Number"/>
          <p:cNvSpPr>
            <a:spLocks noGrp="1"/>
          </p:cNvSpPr>
          <p:nvPr>
            <p:ph type="sldNum" sz="quarter" idx="12"/>
          </p:nvPr>
        </p:nvSpPr>
        <p:spPr>
          <a:xfrm>
            <a:off x="11018520" y="6501384"/>
            <a:ext cx="868680" cy="20116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/>
              <a:t>3</a:t>
            </a:fld>
            <a:endParaRPr lang="en-US"/>
          </a:p>
        </p:txBody>
      </p:sp>
      <p:pic>
        <p:nvPicPr>
          <p:cNvPr id="189" name="Picture 188" descr="dom_pq_full_h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00489"/>
            <a:ext cx="3667658" cy="1679581"/>
          </a:xfrm>
          <a:prstGeom prst="rect">
            <a:avLst/>
          </a:prstGeom>
        </p:spPr>
      </p:pic>
      <p:pic>
        <p:nvPicPr>
          <p:cNvPr id="190" name="Picture 189" descr="dom_pq_zoom_h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2018" y="1398386"/>
            <a:ext cx="3667658" cy="1683788"/>
          </a:xfrm>
          <a:prstGeom prst="rect">
            <a:avLst/>
          </a:prstGeom>
        </p:spPr>
      </p:pic>
      <p:sp>
        <p:nvSpPr>
          <p:cNvPr id="192" name="TextBox 191"/>
          <p:cNvSpPr txBox="1"/>
          <p:nvPr/>
        </p:nvSpPr>
        <p:spPr>
          <a:xfrm>
            <a:off x="365760" y="6035040"/>
            <a:ext cx="11460175" cy="201168"/>
          </a:xfrm>
          <a:prstGeom prst="rect">
            <a:avLst/>
          </a:prstGeom>
          <a:noFill/>
        </p:spPr>
        <p:txBody>
          <a:bodyPr wrap="square" lIns="27432" tIns="0" rIns="27432" bIns="0" anchor="t">
            <a:normAutofit/>
          </a:bodyPr>
          <a:lstStyle/>
          <a:p>
            <a:pPr algn="l"/>
            <a:r>
              <a:rPr sz="800" b="0" i="0">
                <a:solidFill>
                  <a:schemeClr val="accent3"/>
                </a:solidFill>
              </a:rPr>
              <a:t>C. Mishra, L. Vanfretti, M. Baldwin, J. Delaree Jr. and K. D. Jones, “Analysis of Generator Forced Oscillations During MOD 25 Testing Exploiting Wavelets,” HICSS-57, 2024, doi:10.24251/HICSS.2024.364.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8375114-F135-6063-A122-2D6BFCB89587}"/>
              </a:ext>
            </a:extLst>
          </p:cNvPr>
          <p:cNvGrpSpPr/>
          <p:nvPr/>
        </p:nvGrpSpPr>
        <p:grpSpPr>
          <a:xfrm>
            <a:off x="8158276" y="1054756"/>
            <a:ext cx="3547492" cy="2355956"/>
            <a:chOff x="7989881" y="834979"/>
            <a:chExt cx="4087462" cy="2654833"/>
          </a:xfrm>
        </p:grpSpPr>
        <p:pic>
          <p:nvPicPr>
            <p:cNvPr id="19" name="Google Shape;253;p38">
              <a:extLst>
                <a:ext uri="{FF2B5EF4-FFF2-40B4-BE49-F238E27FC236}">
                  <a16:creationId xmlns:a16="http://schemas.microsoft.com/office/drawing/2014/main" id="{357D118B-4771-AAA0-E0DE-C6FAFF80D6E0}"/>
                </a:ext>
              </a:extLst>
            </p:cNvPr>
            <p:cNvPicPr preferRelativeResize="0">
              <a:picLocks noChangeAspect="1"/>
            </p:cNvPicPr>
            <p:nvPr/>
          </p:nvPicPr>
          <p:blipFill rotWithShape="1">
            <a:blip r:embed="rId5">
              <a:alphaModFix/>
            </a:blip>
            <a:srcRect b="52235"/>
            <a:stretch/>
          </p:blipFill>
          <p:spPr>
            <a:xfrm>
              <a:off x="7989881" y="834979"/>
              <a:ext cx="4087462" cy="11530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254;p38">
              <a:extLst>
                <a:ext uri="{FF2B5EF4-FFF2-40B4-BE49-F238E27FC236}">
                  <a16:creationId xmlns:a16="http://schemas.microsoft.com/office/drawing/2014/main" id="{5B490C44-E37D-7E46-8CFC-B02697FA2C22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028356" y="1874643"/>
              <a:ext cx="4048987" cy="161516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" name="Google Shape;255;p38">
              <a:extLst>
                <a:ext uri="{FF2B5EF4-FFF2-40B4-BE49-F238E27FC236}">
                  <a16:creationId xmlns:a16="http://schemas.microsoft.com/office/drawing/2014/main" id="{22236FBE-07D3-30C1-74A9-54FABAD4F8FB}"/>
                </a:ext>
              </a:extLst>
            </p:cNvPr>
            <p:cNvSpPr/>
            <p:nvPr/>
          </p:nvSpPr>
          <p:spPr>
            <a:xfrm>
              <a:off x="8795683" y="1326925"/>
              <a:ext cx="326723" cy="1431235"/>
            </a:xfrm>
            <a:prstGeom prst="rect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56;p38">
              <a:extLst>
                <a:ext uri="{FF2B5EF4-FFF2-40B4-BE49-F238E27FC236}">
                  <a16:creationId xmlns:a16="http://schemas.microsoft.com/office/drawing/2014/main" id="{0155DF79-4FA6-F8F3-149D-ACBA23AA58BD}"/>
                </a:ext>
              </a:extLst>
            </p:cNvPr>
            <p:cNvSpPr/>
            <p:nvPr/>
          </p:nvSpPr>
          <p:spPr>
            <a:xfrm>
              <a:off x="10150847" y="1293230"/>
              <a:ext cx="249555" cy="1464930"/>
            </a:xfrm>
            <a:prstGeom prst="rect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8130B85-07BA-9160-7BCA-315AD62BE96F}"/>
                </a:ext>
              </a:extLst>
            </p:cNvPr>
            <p:cNvSpPr txBox="1"/>
            <p:nvPr/>
          </p:nvSpPr>
          <p:spPr>
            <a:xfrm>
              <a:off x="9166072" y="2335686"/>
              <a:ext cx="944169" cy="400110"/>
            </a:xfrm>
            <a:prstGeom prst="rect">
              <a:avLst/>
            </a:prstGeom>
            <a:solidFill>
              <a:srgbClr val="FFCC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i="1" dirty="0">
                  <a:solidFill>
                    <a:srgbClr val="0000FF"/>
                  </a:solidFill>
                </a:rPr>
                <a:t>~1.58 Hz oscillation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4C32C94-C1C7-138C-6927-3B0D18130EEE}"/>
                </a:ext>
              </a:extLst>
            </p:cNvPr>
            <p:cNvSpPr txBox="1"/>
            <p:nvPr/>
          </p:nvSpPr>
          <p:spPr>
            <a:xfrm>
              <a:off x="10772812" y="1098675"/>
              <a:ext cx="944169" cy="553998"/>
            </a:xfrm>
            <a:prstGeom prst="rect">
              <a:avLst/>
            </a:prstGeom>
            <a:solidFill>
              <a:srgbClr val="FFCC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i="1" dirty="0">
                  <a:solidFill>
                    <a:srgbClr val="0000FF"/>
                  </a:solidFill>
                </a:rPr>
                <a:t>Change of operating conditions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The gap: from control design to CHiL testing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65760" y="914400"/>
            <a:ext cx="5614416" cy="2403115"/>
          </a:xfrm>
          <a:prstGeom prst="roundRect">
            <a:avLst>
              <a:gd name="adj" fmla="val 6000"/>
            </a:avLst>
          </a:prstGeom>
          <a:solidFill>
            <a:srgbClr val="FAF2F2"/>
          </a:solidFill>
          <a:ln w="9525">
            <a:solidFill>
              <a:srgbClr val="980000"/>
            </a:solidFill>
          </a:ln>
        </p:spPr>
        <p:txBody>
          <a:bodyPr wrap="square">
            <a:normAutofit fontScale="86500"/>
          </a:bodyPr>
          <a:lstStyle/>
          <a:p>
            <a:r>
              <a:rPr dirty="0"/>
              <a:t>What it takes today</a:t>
            </a:r>
          </a:p>
          <a:p>
            <a:pPr lvl="1"/>
            <a:r>
              <a:rPr b="1" dirty="0"/>
              <a:t>Offline tools cannot cross over</a:t>
            </a:r>
            <a:r>
              <a:rPr dirty="0"/>
              <a:t> — </a:t>
            </a:r>
            <a:r>
              <a:rPr lang="en-US" dirty="0"/>
              <a:t>power system models are monolithic off-line simulators, </a:t>
            </a:r>
            <a:r>
              <a:rPr dirty="0"/>
              <a:t>PSS®E and PSCAD®</a:t>
            </a:r>
            <a:r>
              <a:rPr lang="en-US" dirty="0"/>
              <a:t>,</a:t>
            </a:r>
            <a:r>
              <a:rPr dirty="0"/>
              <a:t> models are not usable for real-time simulation.</a:t>
            </a:r>
          </a:p>
          <a:p>
            <a:pPr lvl="1"/>
            <a:r>
              <a:rPr b="1" dirty="0"/>
              <a:t>Manual re-implementation breaks traceability</a:t>
            </a:r>
            <a:r>
              <a:rPr dirty="0"/>
              <a:t> — the deployed code stops matching the physics model.</a:t>
            </a:r>
          </a:p>
          <a:p>
            <a:pPr lvl="1"/>
            <a:r>
              <a:rPr b="1" dirty="0"/>
              <a:t>Control code is hardware-bespoke</a:t>
            </a:r>
            <a:r>
              <a:rPr dirty="0"/>
              <a:t> — PSS implementations are written against </a:t>
            </a:r>
            <a:r>
              <a:rPr lang="en-US" dirty="0"/>
              <a:t>embedded hardware </a:t>
            </a:r>
            <a:r>
              <a:rPr dirty="0"/>
              <a:t>specific platforms.</a:t>
            </a:r>
          </a:p>
          <a:p>
            <a:pPr lvl="1"/>
            <a:r>
              <a:rPr b="1" dirty="0"/>
              <a:t>Real-time </a:t>
            </a:r>
            <a:r>
              <a:rPr lang="en-US" b="1" dirty="0"/>
              <a:t>simulation </a:t>
            </a:r>
            <a:r>
              <a:rPr b="1" dirty="0"/>
              <a:t>platforms are expensive</a:t>
            </a:r>
            <a:r>
              <a:rPr lang="en-US" b="1" dirty="0"/>
              <a:t>: </a:t>
            </a:r>
          </a:p>
          <a:p>
            <a:pPr lvl="2"/>
            <a:r>
              <a:rPr lang="en-US" b="1" dirty="0"/>
              <a:t>Require real-time capable plant models, costly to develop.</a:t>
            </a:r>
            <a:endParaRPr lang="en-US" dirty="0"/>
          </a:p>
          <a:p>
            <a:pPr lvl="2"/>
            <a:r>
              <a:rPr lang="en-US" dirty="0"/>
              <a:t>General Purpose: </a:t>
            </a:r>
            <a:r>
              <a:rPr dirty="0" err="1"/>
              <a:t>dSPACE</a:t>
            </a:r>
            <a:r>
              <a:rPr dirty="0"/>
              <a:t>®, Typhoon HIL®, OPAL-RT®: </a:t>
            </a:r>
            <a:r>
              <a:rPr lang="en-US" dirty="0"/>
              <a:t>typically,</a:t>
            </a:r>
            <a:r>
              <a:rPr dirty="0"/>
              <a:t> ≫ $50,000, plus license stack</a:t>
            </a:r>
            <a:r>
              <a:rPr lang="en-US" dirty="0"/>
              <a:t>, requiring to re-built plant model.</a:t>
            </a:r>
          </a:p>
          <a:p>
            <a:pPr lvl="2"/>
            <a:r>
              <a:rPr lang="en-US" dirty="0"/>
              <a:t>Vendor Specific Platform: single purpose RTS (plant cannot be modified), ABB SMTS-RT 6000, limited to specific vendor controllers.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>
          <a:xfrm>
            <a:off x="6208776" y="914400"/>
            <a:ext cx="5614416" cy="1807698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 w="9525">
            <a:solidFill>
              <a:srgbClr val="0000FF"/>
            </a:solidFill>
          </a:ln>
        </p:spPr>
        <p:txBody>
          <a:bodyPr wrap="square">
            <a:normAutofit/>
          </a:bodyPr>
          <a:lstStyle/>
          <a:p>
            <a:r>
              <a:rPr dirty="0"/>
              <a:t>What we do instead</a:t>
            </a:r>
          </a:p>
          <a:p>
            <a:pPr lvl="1"/>
            <a:r>
              <a:rPr b="1" dirty="0"/>
              <a:t>One acausal Modelica model</a:t>
            </a:r>
            <a:r>
              <a:rPr dirty="0"/>
              <a:t> is the single source of truth — </a:t>
            </a:r>
            <a:r>
              <a:rPr lang="en-US" i="1" u="sng" dirty="0"/>
              <a:t>for both </a:t>
            </a:r>
            <a:r>
              <a:rPr lang="en-US" b="1" dirty="0">
                <a:solidFill>
                  <a:srgbClr val="007733"/>
                </a:solidFill>
              </a:rPr>
              <a:t>controller </a:t>
            </a:r>
            <a:r>
              <a:rPr dirty="0"/>
              <a:t>and </a:t>
            </a:r>
            <a:r>
              <a:rPr lang="en-US" b="1" dirty="0">
                <a:solidFill>
                  <a:schemeClr val="accent2"/>
                </a:solidFill>
              </a:rPr>
              <a:t>plant </a:t>
            </a:r>
          </a:p>
          <a:p>
            <a:pPr lvl="1"/>
            <a:r>
              <a:rPr b="1" dirty="0" err="1"/>
              <a:t>eFMI</a:t>
            </a:r>
            <a:r>
              <a:rPr b="1" dirty="0"/>
              <a:t> generates the code</a:t>
            </a:r>
            <a:r>
              <a:rPr dirty="0"/>
              <a:t> — GALEC, then production C that is MISRA C:2023 and SEI CERT C compliant.</a:t>
            </a:r>
          </a:p>
          <a:p>
            <a:pPr lvl="1"/>
            <a:r>
              <a:rPr b="1" dirty="0"/>
              <a:t>Validated at every level</a:t>
            </a:r>
            <a:r>
              <a:rPr dirty="0"/>
              <a:t> — </a:t>
            </a:r>
            <a:r>
              <a:rPr dirty="0" err="1"/>
              <a:t>MiL</a:t>
            </a:r>
            <a:r>
              <a:rPr dirty="0"/>
              <a:t> → </a:t>
            </a:r>
            <a:r>
              <a:rPr dirty="0" err="1"/>
              <a:t>SiL</a:t>
            </a:r>
            <a:r>
              <a:rPr dirty="0"/>
              <a:t> → CHiL.</a:t>
            </a:r>
          </a:p>
          <a:p>
            <a:pPr lvl="1"/>
            <a:r>
              <a:rPr b="1" dirty="0"/>
              <a:t>Deployed on &lt; $50 STM32 boards</a:t>
            </a:r>
            <a:r>
              <a:rPr dirty="0"/>
              <a:t> — </a:t>
            </a:r>
            <a:r>
              <a:rPr lang="en-US" b="1" dirty="0">
                <a:solidFill>
                  <a:srgbClr val="007733"/>
                </a:solidFill>
              </a:rPr>
              <a:t>controller </a:t>
            </a:r>
            <a:r>
              <a:rPr lang="en-US" dirty="0"/>
              <a:t>and real-time </a:t>
            </a:r>
            <a:r>
              <a:rPr lang="en-US" b="1" dirty="0">
                <a:solidFill>
                  <a:schemeClr val="accent2"/>
                </a:solidFill>
              </a:rPr>
              <a:t>plant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367284" y="6051702"/>
            <a:ext cx="11457432" cy="420624"/>
          </a:xfrm>
        </p:spPr>
        <p:txBody>
          <a:bodyPr wrap="square"/>
          <a:lstStyle/>
          <a:p>
            <a:pPr algn="ctr"/>
            <a:r>
              <a:rPr dirty="0">
                <a:solidFill>
                  <a:schemeClr val="accent1"/>
                </a:solidFill>
              </a:rPr>
              <a:t>One source of truth</a:t>
            </a:r>
            <a:r>
              <a:rPr lang="en-US" dirty="0">
                <a:solidFill>
                  <a:schemeClr val="accent1"/>
                </a:solidFill>
              </a:rPr>
              <a:t> with Modelica</a:t>
            </a:r>
            <a:r>
              <a:rPr dirty="0">
                <a:solidFill>
                  <a:schemeClr val="accent1"/>
                </a:solidFill>
              </a:rPr>
              <a:t> · traceability by </a:t>
            </a:r>
            <a:r>
              <a:rPr lang="en-US" dirty="0">
                <a:solidFill>
                  <a:schemeClr val="accent1"/>
                </a:solidFill>
              </a:rPr>
              <a:t>design with </a:t>
            </a:r>
            <a:r>
              <a:rPr lang="en-US" dirty="0" err="1">
                <a:solidFill>
                  <a:schemeClr val="accent1"/>
                </a:solidFill>
              </a:rPr>
              <a:t>eFMI</a:t>
            </a:r>
            <a:r>
              <a:rPr dirty="0">
                <a:solidFill>
                  <a:schemeClr val="accent1"/>
                </a:solidFill>
              </a:rPr>
              <a:t> · ≫ $50,000 platform → &lt; $50 microcontroller</a:t>
            </a:r>
          </a:p>
        </p:txBody>
      </p:sp>
      <p:sp>
        <p:nvSpPr>
          <p:cNvPr id="166" name="Footer"/>
          <p:cNvSpPr>
            <a:spLocks noGrp="1"/>
          </p:cNvSpPr>
          <p:nvPr>
            <p:ph type="ftr" sz="quarter" idx="11"/>
          </p:nvPr>
        </p:nvSpPr>
        <p:spPr>
          <a:xfrm>
            <a:off x="6400800" y="6675120"/>
            <a:ext cx="5486400" cy="16459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</a:defRPr>
            </a:lvl1pPr>
          </a:lstStyle>
          <a:p>
            <a:r>
              <a:t>American Modelica &amp; FMI Conference 2026 · Georgia Tech, Atlanta · 12–14 Oct 2026</a:t>
            </a:r>
          </a:p>
        </p:txBody>
      </p:sp>
      <p:sp>
        <p:nvSpPr>
          <p:cNvPr id="167" name="Slide Number"/>
          <p:cNvSpPr>
            <a:spLocks noGrp="1"/>
          </p:cNvSpPr>
          <p:nvPr>
            <p:ph type="sldNum" sz="quarter" idx="12"/>
          </p:nvPr>
        </p:nvSpPr>
        <p:spPr>
          <a:xfrm>
            <a:off x="11018520" y="6501384"/>
            <a:ext cx="868680" cy="20116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/>
              <a:t>4</a:t>
            </a:fld>
            <a:endParaRPr lang="en-US"/>
          </a:p>
        </p:txBody>
      </p:sp>
      <p:pic>
        <p:nvPicPr>
          <p:cNvPr id="168" name="Picture 167" descr="bench_abb_callout.png"/>
          <p:cNvPicPr>
            <a:picLocks noChangeAspect="1"/>
          </p:cNvPicPr>
          <p:nvPr/>
        </p:nvPicPr>
        <p:blipFill>
          <a:blip r:embed="rId3"/>
          <a:srcRect l="38957"/>
          <a:stretch>
            <a:fillRect/>
          </a:stretch>
        </p:blipFill>
        <p:spPr>
          <a:xfrm>
            <a:off x="477826" y="3407896"/>
            <a:ext cx="1398441" cy="2084966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70" name="TextBox 169"/>
          <p:cNvSpPr txBox="1"/>
          <p:nvPr/>
        </p:nvSpPr>
        <p:spPr>
          <a:xfrm>
            <a:off x="1" y="5517833"/>
            <a:ext cx="2184643" cy="360133"/>
          </a:xfrm>
          <a:prstGeom prst="rect">
            <a:avLst/>
          </a:prstGeom>
          <a:noFill/>
        </p:spPr>
        <p:txBody>
          <a:bodyPr wrap="square" lIns="27432" tIns="0" rIns="27432" bIns="0" anchor="t">
            <a:normAutofit/>
          </a:bodyPr>
          <a:lstStyle/>
          <a:p>
            <a:pPr algn="ctr"/>
            <a:r>
              <a:rPr lang="en-US" sz="1100" b="0" i="1" dirty="0">
                <a:solidFill>
                  <a:schemeClr val="accent3"/>
                </a:solidFill>
              </a:rPr>
              <a:t>O</a:t>
            </a:r>
            <a:r>
              <a:rPr sz="1100" b="0" i="1" dirty="0">
                <a:solidFill>
                  <a:schemeClr val="accent3"/>
                </a:solidFill>
              </a:rPr>
              <a:t>wn bench: </a:t>
            </a:r>
            <a:r>
              <a:rPr lang="en-US" sz="1100" b="0" i="1" dirty="0">
                <a:solidFill>
                  <a:schemeClr val="accent3"/>
                </a:solidFill>
              </a:rPr>
              <a:t>ABB UNITROL 1020</a:t>
            </a:r>
            <a:r>
              <a:rPr sz="1100" b="0" i="1" dirty="0">
                <a:solidFill>
                  <a:schemeClr val="accent3"/>
                </a:solidFill>
              </a:rPr>
              <a:t> </a:t>
            </a:r>
            <a:r>
              <a:rPr lang="en-US" sz="1100" i="1" dirty="0">
                <a:solidFill>
                  <a:schemeClr val="accent3"/>
                </a:solidFill>
              </a:rPr>
              <a:t>interfaced with Typhoon HIL®</a:t>
            </a:r>
            <a:endParaRPr sz="1100" b="0" i="1" dirty="0">
              <a:solidFill>
                <a:schemeClr val="accent3"/>
              </a:solidFill>
            </a:endParaRPr>
          </a:p>
        </p:txBody>
      </p:sp>
      <p:sp>
        <p:nvSpPr>
          <p:cNvPr id="171" name="TextBox 170"/>
          <p:cNvSpPr txBox="1"/>
          <p:nvPr/>
        </p:nvSpPr>
        <p:spPr>
          <a:xfrm>
            <a:off x="9738360" y="2941553"/>
            <a:ext cx="2148840" cy="2615887"/>
          </a:xfrm>
          <a:prstGeom prst="rect">
            <a:avLst/>
          </a:prstGeom>
          <a:noFill/>
        </p:spPr>
        <p:txBody>
          <a:bodyPr wrap="square" lIns="27432" tIns="0" rIns="27432" bIns="0" anchor="t">
            <a:normAutofit/>
          </a:bodyPr>
          <a:lstStyle/>
          <a:p>
            <a:pPr algn="ctr"/>
            <a:endParaRPr lang="en-US" sz="1100" b="0" i="1" dirty="0">
              <a:solidFill>
                <a:schemeClr val="accent3"/>
              </a:solidFill>
            </a:endParaRPr>
          </a:p>
          <a:p>
            <a:pPr algn="ctr"/>
            <a:endParaRPr lang="en-US" sz="1100" i="1" dirty="0">
              <a:solidFill>
                <a:schemeClr val="accent3"/>
              </a:solidFill>
            </a:endParaRPr>
          </a:p>
          <a:p>
            <a:pPr algn="ctr"/>
            <a:endParaRPr lang="en-US" sz="1100" b="0" i="1" dirty="0">
              <a:solidFill>
                <a:schemeClr val="accent3"/>
              </a:solidFill>
            </a:endParaRPr>
          </a:p>
          <a:p>
            <a:pPr algn="ctr"/>
            <a:r>
              <a:rPr sz="1100" b="0" i="1" dirty="0">
                <a:solidFill>
                  <a:schemeClr val="accent3"/>
                </a:solidFill>
              </a:rPr>
              <a:t>Two NUCLEO boards replace the real-time platform: </a:t>
            </a:r>
            <a:endParaRPr lang="en-US" sz="1100" b="0" i="1" dirty="0">
              <a:solidFill>
                <a:schemeClr val="accent3"/>
              </a:solidFill>
            </a:endParaRPr>
          </a:p>
          <a:p>
            <a:pPr algn="ctr"/>
            <a:endParaRPr lang="en-US" sz="1100" b="0" i="1" dirty="0">
              <a:solidFill>
                <a:schemeClr val="accent3"/>
              </a:solidFill>
            </a:endParaRPr>
          </a:p>
          <a:p>
            <a:pPr algn="ctr"/>
            <a:r>
              <a:rPr lang="en-US" sz="1100" b="0" i="1" dirty="0">
                <a:solidFill>
                  <a:schemeClr val="accent3"/>
                </a:solidFill>
              </a:rPr>
              <a:t>(left, C) </a:t>
            </a:r>
            <a:r>
              <a:rPr sz="1100" b="0" i="1" dirty="0">
                <a:solidFill>
                  <a:schemeClr val="accent3"/>
                </a:solidFill>
              </a:rPr>
              <a:t>one runs the </a:t>
            </a:r>
            <a:r>
              <a:rPr sz="1150" b="1" dirty="0">
                <a:solidFill>
                  <a:srgbClr val="007733"/>
                </a:solidFill>
              </a:rPr>
              <a:t>controller</a:t>
            </a:r>
            <a:r>
              <a:rPr sz="1100" b="0" i="1" dirty="0">
                <a:solidFill>
                  <a:schemeClr val="accent3"/>
                </a:solidFill>
              </a:rPr>
              <a:t>, </a:t>
            </a:r>
            <a:r>
              <a:rPr lang="en-US" sz="1100" b="0" i="1" dirty="0">
                <a:solidFill>
                  <a:schemeClr val="accent3"/>
                </a:solidFill>
              </a:rPr>
              <a:t>(right, P) </a:t>
            </a:r>
            <a:r>
              <a:rPr sz="1100" b="0" i="1" dirty="0">
                <a:solidFill>
                  <a:schemeClr val="accent3"/>
                </a:solidFill>
              </a:rPr>
              <a:t>one runs the </a:t>
            </a:r>
            <a:r>
              <a:rPr sz="1150" b="1" dirty="0">
                <a:solidFill>
                  <a:schemeClr val="accent2"/>
                </a:solidFill>
              </a:rPr>
              <a:t>plant</a:t>
            </a:r>
            <a:br>
              <a:rPr lang="en-US" sz="1100" b="0" i="1" dirty="0">
                <a:solidFill>
                  <a:schemeClr val="accent3"/>
                </a:solidFill>
              </a:rPr>
            </a:br>
            <a:br>
              <a:rPr lang="en-US" sz="1100" b="0" i="1" dirty="0">
                <a:solidFill>
                  <a:schemeClr val="accent3"/>
                </a:solidFill>
              </a:rPr>
            </a:br>
            <a:r>
              <a:rPr lang="en-US" sz="1100" b="0" i="1" dirty="0">
                <a:solidFill>
                  <a:schemeClr val="accent3"/>
                </a:solidFill>
              </a:rPr>
              <a:t>(top, M) oscilloscope and signal generator for data acquisition and signal injection</a:t>
            </a:r>
          </a:p>
          <a:p>
            <a:pPr algn="ctr"/>
            <a:endParaRPr lang="en-US" sz="1100" i="1" dirty="0">
              <a:solidFill>
                <a:schemeClr val="accent3"/>
              </a:solidFill>
            </a:endParaRPr>
          </a:p>
        </p:txBody>
      </p:sp>
      <p:pic>
        <p:nvPicPr>
          <p:cNvPr id="9" name="Picture 8" descr="setup-path.png">
            <a:extLst>
              <a:ext uri="{FF2B5EF4-FFF2-40B4-BE49-F238E27FC236}">
                <a16:creationId xmlns:a16="http://schemas.microsoft.com/office/drawing/2014/main" id="{5C9B6686-2EEA-60D8-BF15-2D0E270E31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2941554"/>
            <a:ext cx="2697480" cy="269748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FF1FAACF-0C0C-1259-BB6F-7876062DD6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"/>
          <a:stretch>
            <a:fillRect/>
          </a:stretch>
        </p:blipFill>
        <p:spPr bwMode="auto">
          <a:xfrm>
            <a:off x="2444896" y="3593025"/>
            <a:ext cx="2378075" cy="178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778DC37-07E3-4C0B-1308-F7C4DB3A59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4401" y="3811980"/>
            <a:ext cx="1751599" cy="143092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97A305F-7C65-107B-E912-1BB45A335C8D}"/>
              </a:ext>
            </a:extLst>
          </p:cNvPr>
          <p:cNvSpPr txBox="1"/>
          <p:nvPr/>
        </p:nvSpPr>
        <p:spPr>
          <a:xfrm>
            <a:off x="2444896" y="5517833"/>
            <a:ext cx="3583110" cy="360133"/>
          </a:xfrm>
          <a:prstGeom prst="rect">
            <a:avLst/>
          </a:prstGeom>
          <a:noFill/>
        </p:spPr>
        <p:txBody>
          <a:bodyPr wrap="square" lIns="27432" tIns="0" rIns="27432" bIns="0" anchor="t">
            <a:normAutofit/>
          </a:bodyPr>
          <a:lstStyle/>
          <a:p>
            <a:pPr algn="ctr"/>
            <a:r>
              <a:rPr lang="en-US" sz="1100" b="0" i="1" dirty="0">
                <a:solidFill>
                  <a:schemeClr val="accent3"/>
                </a:solidFill>
              </a:rPr>
              <a:t>ABB’s Synchronous Machine Transient Simulator </a:t>
            </a:r>
            <a:br>
              <a:rPr lang="en-US" sz="1100" b="0" i="1" dirty="0">
                <a:solidFill>
                  <a:schemeClr val="accent3"/>
                </a:solidFill>
              </a:rPr>
            </a:br>
            <a:r>
              <a:rPr lang="en-US" sz="1100" b="0" i="1" dirty="0">
                <a:solidFill>
                  <a:schemeClr val="accent3"/>
                </a:solidFill>
              </a:rPr>
              <a:t>SMTS-RT 6000</a:t>
            </a:r>
            <a:endParaRPr sz="1100" b="0" i="1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approach: one source of truth, generated down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365757" y="5597955"/>
            <a:ext cx="11460175" cy="816560"/>
          </a:xfrm>
        </p:spPr>
        <p:txBody>
          <a:bodyPr wrap="square">
            <a:normAutofit/>
          </a:bodyPr>
          <a:lstStyle/>
          <a:p>
            <a:pPr lvl="1"/>
            <a:r>
              <a:rPr b="1" dirty="0"/>
              <a:t>Physics-based Modelica</a:t>
            </a:r>
            <a:r>
              <a:rPr dirty="0"/>
              <a:t> is the single source of truth — </a:t>
            </a:r>
            <a:r>
              <a:rPr b="1" dirty="0">
                <a:solidFill>
                  <a:srgbClr val="007733"/>
                </a:solidFill>
              </a:rPr>
              <a:t>controller</a:t>
            </a:r>
            <a:r>
              <a:rPr dirty="0"/>
              <a:t> </a:t>
            </a:r>
            <a:r>
              <a:rPr i="1" dirty="0"/>
              <a:t>and</a:t>
            </a:r>
            <a:r>
              <a:rPr dirty="0"/>
              <a:t> </a:t>
            </a:r>
            <a:r>
              <a:rPr b="1" dirty="0">
                <a:solidFill>
                  <a:schemeClr val="accent2"/>
                </a:solidFill>
              </a:rPr>
              <a:t>plant</a:t>
            </a:r>
            <a:r>
              <a:rPr dirty="0"/>
              <a:t>.</a:t>
            </a:r>
          </a:p>
          <a:p>
            <a:pPr lvl="1"/>
            <a:r>
              <a:rPr b="1" dirty="0" err="1"/>
              <a:t>eFMI</a:t>
            </a:r>
            <a:r>
              <a:rPr b="1" dirty="0"/>
              <a:t> generates</a:t>
            </a:r>
            <a:r>
              <a:rPr dirty="0"/>
              <a:t> production-ready, safety-critical C from that same model.</a:t>
            </a:r>
          </a:p>
          <a:p>
            <a:pPr lvl="1"/>
            <a:r>
              <a:rPr b="1" dirty="0"/>
              <a:t>Validate at every abstraction level</a:t>
            </a:r>
            <a:r>
              <a:rPr dirty="0"/>
              <a:t> — </a:t>
            </a:r>
            <a:r>
              <a:rPr dirty="0" err="1"/>
              <a:t>MiL</a:t>
            </a:r>
            <a:r>
              <a:rPr dirty="0"/>
              <a:t> → </a:t>
            </a:r>
            <a:r>
              <a:rPr dirty="0" err="1"/>
              <a:t>SiL</a:t>
            </a:r>
            <a:r>
              <a:rPr dirty="0"/>
              <a:t> → CHiL.</a:t>
            </a:r>
            <a:endParaRPr lang="en-US" dirty="0"/>
          </a:p>
        </p:txBody>
      </p:sp>
      <p:sp>
        <p:nvSpPr>
          <p:cNvPr id="134" name="Footer"/>
          <p:cNvSpPr>
            <a:spLocks noGrp="1"/>
          </p:cNvSpPr>
          <p:nvPr>
            <p:ph type="ftr" sz="quarter" idx="11"/>
          </p:nvPr>
        </p:nvSpPr>
        <p:spPr>
          <a:xfrm>
            <a:off x="6400800" y="6675120"/>
            <a:ext cx="5486400" cy="16459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</a:defRPr>
            </a:lvl1pPr>
          </a:lstStyle>
          <a:p>
            <a:r>
              <a:t>American Modelica &amp; FMI Conference 2026 · Georgia Tech, Atlanta · 12–14 Oct 2026</a:t>
            </a:r>
          </a:p>
        </p:txBody>
      </p:sp>
      <p:sp>
        <p:nvSpPr>
          <p:cNvPr id="135" name="Slide Number"/>
          <p:cNvSpPr>
            <a:spLocks noGrp="1"/>
          </p:cNvSpPr>
          <p:nvPr>
            <p:ph type="sldNum" sz="quarter" idx="12"/>
          </p:nvPr>
        </p:nvSpPr>
        <p:spPr>
          <a:xfrm>
            <a:off x="11018520" y="6501384"/>
            <a:ext cx="868680" cy="20116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/>
              <a:t>5</a:t>
            </a:fld>
            <a:endParaRPr lang="en-US"/>
          </a:p>
        </p:txBody>
      </p:sp>
      <p:sp>
        <p:nvSpPr>
          <p:cNvPr id="136" name="Rounded Rectangle 135"/>
          <p:cNvSpPr/>
          <p:nvPr/>
        </p:nvSpPr>
        <p:spPr>
          <a:xfrm>
            <a:off x="239148" y="1426280"/>
            <a:ext cx="3108960" cy="668234"/>
          </a:xfrm>
          <a:prstGeom prst="roundRect">
            <a:avLst>
              <a:gd name="adj" fmla="val 5217"/>
            </a:avLst>
          </a:prstGeom>
          <a:solidFill>
            <a:srgbClr val="F2F4FA"/>
          </a:solidFill>
          <a:ln w="9525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200" b="1">
                <a:solidFill>
                  <a:srgbClr val="0000FF"/>
                </a:solidFill>
              </a:rPr>
              <a:t>Modelica® model</a:t>
            </a:r>
          </a:p>
          <a:p>
            <a:pPr algn="ctr"/>
            <a:r>
              <a:rPr sz="1000" b="0">
                <a:solidFill>
                  <a:srgbClr val="0000FF"/>
                </a:solidFill>
              </a:rPr>
              <a:t>acausal physics · controller + plant</a:t>
            </a:r>
          </a:p>
        </p:txBody>
      </p:sp>
      <p:sp>
        <p:nvSpPr>
          <p:cNvPr id="137" name="Right Arrow 136"/>
          <p:cNvSpPr/>
          <p:nvPr/>
        </p:nvSpPr>
        <p:spPr>
          <a:xfrm>
            <a:off x="3576708" y="1614093"/>
            <a:ext cx="685800" cy="292608"/>
          </a:xfrm>
          <a:prstGeom prst="rightArrow">
            <a:avLst/>
          </a:prstGeom>
          <a:solidFill>
            <a:srgbClr val="F4B6B6"/>
          </a:solidFill>
          <a:ln w="9525">
            <a:solidFill>
              <a:srgbClr val="D60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38" name="Rounded Rectangle 137"/>
          <p:cNvSpPr/>
          <p:nvPr/>
        </p:nvSpPr>
        <p:spPr>
          <a:xfrm>
            <a:off x="4491108" y="1426280"/>
            <a:ext cx="3108960" cy="668234"/>
          </a:xfrm>
          <a:prstGeom prst="roundRect">
            <a:avLst>
              <a:gd name="adj" fmla="val 5217"/>
            </a:avLst>
          </a:prstGeom>
          <a:solidFill>
            <a:srgbClr val="EEF7EE"/>
          </a:solidFill>
          <a:ln w="9525">
            <a:solidFill>
              <a:srgbClr val="007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200" b="1">
                <a:solidFill>
                  <a:srgbClr val="007733"/>
                </a:solidFill>
              </a:rPr>
              <a:t>eFMI® eFMU</a:t>
            </a:r>
          </a:p>
          <a:p>
            <a:pPr algn="ctr"/>
            <a:r>
              <a:rPr sz="1000" b="0">
                <a:solidFill>
                  <a:srgbClr val="007733"/>
                </a:solidFill>
              </a:rPr>
              <a:t>GALEC → production C</a:t>
            </a:r>
          </a:p>
          <a:p>
            <a:pPr algn="ctr"/>
            <a:r>
              <a:rPr sz="1000" b="0">
                <a:solidFill>
                  <a:srgbClr val="007733"/>
                </a:solidFill>
              </a:rPr>
              <a:t>MISRA C:2023 · SEI CERT C</a:t>
            </a:r>
          </a:p>
        </p:txBody>
      </p:sp>
      <p:sp>
        <p:nvSpPr>
          <p:cNvPr id="139" name="Right Arrow 138"/>
          <p:cNvSpPr/>
          <p:nvPr/>
        </p:nvSpPr>
        <p:spPr>
          <a:xfrm>
            <a:off x="7828668" y="1614093"/>
            <a:ext cx="685800" cy="292608"/>
          </a:xfrm>
          <a:prstGeom prst="rightArrow">
            <a:avLst/>
          </a:prstGeom>
          <a:solidFill>
            <a:srgbClr val="F4B6B6"/>
          </a:solidFill>
          <a:ln w="9525">
            <a:solidFill>
              <a:srgbClr val="D60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40" name="Rounded Rectangle 139"/>
          <p:cNvSpPr/>
          <p:nvPr/>
        </p:nvSpPr>
        <p:spPr>
          <a:xfrm>
            <a:off x="8743068" y="1426280"/>
            <a:ext cx="3108960" cy="668234"/>
          </a:xfrm>
          <a:prstGeom prst="roundRect">
            <a:avLst>
              <a:gd name="adj" fmla="val 5217"/>
            </a:avLst>
          </a:prstGeom>
          <a:solidFill>
            <a:srgbClr val="FAF2F2"/>
          </a:solidFill>
          <a:ln w="9525">
            <a:solidFill>
              <a:srgbClr val="98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200" b="1">
                <a:solidFill>
                  <a:srgbClr val="980000"/>
                </a:solidFill>
              </a:rPr>
              <a:t>STM32 microcontrollers</a:t>
            </a:r>
          </a:p>
          <a:p>
            <a:pPr algn="ctr"/>
            <a:r>
              <a:rPr sz="1000" b="0">
                <a:solidFill>
                  <a:srgbClr val="980000"/>
                </a:solidFill>
              </a:rPr>
              <a:t>NUCLEO-L476RG + H723ZG</a:t>
            </a:r>
          </a:p>
          <a:p>
            <a:pPr algn="ctr"/>
            <a:r>
              <a:rPr sz="1000" b="0">
                <a:solidFill>
                  <a:srgbClr val="980000"/>
                </a:solidFill>
              </a:rPr>
              <a:t>0.2 ms · 5 kHz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239148" y="3467408"/>
            <a:ext cx="3108960" cy="655891"/>
          </a:xfrm>
          <a:prstGeom prst="roundRect">
            <a:avLst>
              <a:gd name="adj" fmla="val 11538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2000" b="1" dirty="0" err="1">
                <a:solidFill>
                  <a:srgbClr val="33363A"/>
                </a:solidFill>
                <a:latin typeface="Malvinas Sans" panose="00000500000000000000" pitchFamily="2" charset="0"/>
              </a:rPr>
              <a:t>MiL</a:t>
            </a:r>
            <a:r>
              <a:rPr sz="2000" b="1" dirty="0">
                <a:solidFill>
                  <a:srgbClr val="33363A"/>
                </a:solidFill>
                <a:latin typeface="Malvinas Sans" panose="00000500000000000000" pitchFamily="2" charset="0"/>
              </a:rPr>
              <a:t>   </a:t>
            </a:r>
            <a:endParaRPr lang="en-US" sz="2000" b="1" dirty="0">
              <a:solidFill>
                <a:srgbClr val="33363A"/>
              </a:solidFill>
              <a:latin typeface="Malvinas Sans" panose="00000500000000000000" pitchFamily="2" charset="0"/>
            </a:endParaRPr>
          </a:p>
          <a:p>
            <a:pPr algn="ctr"/>
            <a:r>
              <a:rPr sz="1000" b="1" dirty="0">
                <a:solidFill>
                  <a:srgbClr val="33363A"/>
                </a:solidFill>
              </a:rPr>
              <a:t>model-in-the-loop</a:t>
            </a:r>
          </a:p>
        </p:txBody>
      </p:sp>
      <p:sp>
        <p:nvSpPr>
          <p:cNvPr id="142" name="Right Arrow 141"/>
          <p:cNvSpPr/>
          <p:nvPr/>
        </p:nvSpPr>
        <p:spPr>
          <a:xfrm>
            <a:off x="3666348" y="3620115"/>
            <a:ext cx="502920" cy="292608"/>
          </a:xfrm>
          <a:prstGeom prst="rightArrow">
            <a:avLst/>
          </a:prstGeom>
          <a:solidFill>
            <a:srgbClr val="F4B6B6"/>
          </a:solidFill>
          <a:ln w="9525">
            <a:solidFill>
              <a:srgbClr val="D60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43" name="Rounded Rectangle 142"/>
          <p:cNvSpPr/>
          <p:nvPr/>
        </p:nvSpPr>
        <p:spPr>
          <a:xfrm>
            <a:off x="4521209" y="3443693"/>
            <a:ext cx="3108960" cy="655891"/>
          </a:xfrm>
          <a:prstGeom prst="roundRect">
            <a:avLst>
              <a:gd name="adj" fmla="val 11538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2000" b="1" dirty="0" err="1">
                <a:solidFill>
                  <a:srgbClr val="33363A"/>
                </a:solidFill>
                <a:latin typeface="Malvinas Sans" panose="00000500000000000000" pitchFamily="2" charset="0"/>
              </a:rPr>
              <a:t>SiL</a:t>
            </a:r>
            <a:r>
              <a:rPr sz="2000" b="1" dirty="0">
                <a:solidFill>
                  <a:srgbClr val="33363A"/>
                </a:solidFill>
                <a:latin typeface="Malvinas Sans" panose="00000500000000000000" pitchFamily="2" charset="0"/>
              </a:rPr>
              <a:t>   </a:t>
            </a:r>
            <a:endParaRPr lang="en-US" sz="2000" b="1" dirty="0">
              <a:solidFill>
                <a:srgbClr val="33363A"/>
              </a:solidFill>
              <a:latin typeface="Malvinas Sans" panose="00000500000000000000" pitchFamily="2" charset="0"/>
            </a:endParaRPr>
          </a:p>
          <a:p>
            <a:pPr algn="ctr"/>
            <a:r>
              <a:rPr sz="1000" b="1" dirty="0">
                <a:solidFill>
                  <a:srgbClr val="33363A"/>
                </a:solidFill>
              </a:rPr>
              <a:t>software-in-the-loop</a:t>
            </a:r>
          </a:p>
        </p:txBody>
      </p:sp>
      <p:sp>
        <p:nvSpPr>
          <p:cNvPr id="144" name="Right Arrow 143"/>
          <p:cNvSpPr/>
          <p:nvPr/>
        </p:nvSpPr>
        <p:spPr>
          <a:xfrm rot="1504783">
            <a:off x="7951539" y="3810759"/>
            <a:ext cx="502920" cy="292608"/>
          </a:xfrm>
          <a:prstGeom prst="rightArrow">
            <a:avLst/>
          </a:prstGeom>
          <a:solidFill>
            <a:srgbClr val="F4B6B6"/>
          </a:solidFill>
          <a:ln w="9525">
            <a:solidFill>
              <a:srgbClr val="D60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45" name="Rounded Rectangle 144"/>
          <p:cNvSpPr/>
          <p:nvPr/>
        </p:nvSpPr>
        <p:spPr>
          <a:xfrm>
            <a:off x="8778240" y="3955098"/>
            <a:ext cx="3108960" cy="655891"/>
          </a:xfrm>
          <a:prstGeom prst="roundRect">
            <a:avLst>
              <a:gd name="adj" fmla="val 11538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2000" b="1" dirty="0">
                <a:solidFill>
                  <a:srgbClr val="33363A"/>
                </a:solidFill>
                <a:latin typeface="Malvinas Sans" panose="00000500000000000000" pitchFamily="2" charset="0"/>
              </a:rPr>
              <a:t>CHiL   </a:t>
            </a:r>
            <a:endParaRPr lang="en-US" sz="2000" b="1" dirty="0">
              <a:solidFill>
                <a:srgbClr val="33363A"/>
              </a:solidFill>
              <a:latin typeface="Malvinas Sans" panose="00000500000000000000" pitchFamily="2" charset="0"/>
            </a:endParaRPr>
          </a:p>
          <a:p>
            <a:pPr algn="ctr"/>
            <a:r>
              <a:rPr sz="1200" b="1" dirty="0">
                <a:solidFill>
                  <a:srgbClr val="33363A"/>
                </a:solidFill>
              </a:rPr>
              <a:t>controller-hardware-in-the-loop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61C4D3-2761-3540-F6E0-CD55A2CBD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8060" y="812163"/>
            <a:ext cx="2435879" cy="61219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A45D36A-4C43-103B-749B-0AC1AD813F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1336" y="390304"/>
            <a:ext cx="1500664" cy="150066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216FEF0-31DC-8EFA-DB1E-CD64EBFE2E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9268" y="2236459"/>
            <a:ext cx="2751238" cy="7519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CBED182-C4D6-ABF9-8573-AAFB82A5F87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41743" b="42034"/>
          <a:stretch>
            <a:fillRect/>
          </a:stretch>
        </p:blipFill>
        <p:spPr>
          <a:xfrm>
            <a:off x="14916" y="2358946"/>
            <a:ext cx="3694414" cy="4992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4F1D875-8EB8-D784-FB99-CDCA955CD3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39089" y="2634175"/>
            <a:ext cx="2604900" cy="6320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28A4C67-7651-532C-B601-D92E52F43F0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39458" b="26462"/>
          <a:stretch>
            <a:fillRect/>
          </a:stretch>
        </p:blipFill>
        <p:spPr>
          <a:xfrm>
            <a:off x="4575027" y="4258212"/>
            <a:ext cx="3175878" cy="1079138"/>
          </a:xfrm>
          <a:prstGeom prst="rect">
            <a:avLst/>
          </a:prstGeom>
        </p:spPr>
      </p:pic>
      <p:pic>
        <p:nvPicPr>
          <p:cNvPr id="28" name="Picture 27" descr="setup-path.png">
            <a:extLst>
              <a:ext uri="{FF2B5EF4-FFF2-40B4-BE49-F238E27FC236}">
                <a16:creationId xmlns:a16="http://schemas.microsoft.com/office/drawing/2014/main" id="{25B1327A-C731-40C7-9871-A989CC0D590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47053" y="4764808"/>
            <a:ext cx="1571333" cy="157133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99B47C9-9B54-26E8-2A83-AA6B7F7B8EC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65654" y="810908"/>
            <a:ext cx="1293453" cy="4974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5E394F-3344-4CEF-4AB7-2B31C77B5E0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92766" y="832144"/>
            <a:ext cx="1018938" cy="5669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5157BBF-8B03-CC6B-F593-0DCF9370606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92954" y="768464"/>
            <a:ext cx="1311782" cy="6558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4FF7A37-01ED-5466-E935-F356D353EB4C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46243" t="48837" r="16566" b="9850"/>
          <a:stretch>
            <a:fillRect/>
          </a:stretch>
        </p:blipFill>
        <p:spPr>
          <a:xfrm>
            <a:off x="9030270" y="2167716"/>
            <a:ext cx="2604900" cy="16276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27183E7-78CD-D5A1-02AB-E1ABA7C076C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32267" y="4460975"/>
            <a:ext cx="1259711" cy="9707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eFMI® in one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20497" y="914398"/>
            <a:ext cx="3667658" cy="2567903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</p:spPr>
        <p:txBody>
          <a:bodyPr wrap="square">
            <a:normAutofit lnSpcReduction="10000"/>
          </a:bodyPr>
          <a:lstStyle/>
          <a:p>
            <a:r>
              <a:rPr dirty="0"/>
              <a:t>Algorithm Code</a:t>
            </a:r>
            <a:r>
              <a:rPr lang="en-US" dirty="0">
                <a:latin typeface="CMU Typewriter Text"/>
              </a:rPr>
              <a:t>(GALEC)</a:t>
            </a:r>
            <a:endParaRPr dirty="0"/>
          </a:p>
          <a:p>
            <a:pPr lvl="1"/>
            <a:r>
              <a:rPr sz="1100" dirty="0">
                <a:latin typeface="CMU Typewriter Text"/>
              </a:rPr>
              <a:t>GALEC</a:t>
            </a:r>
            <a:r>
              <a:rPr sz="1100" dirty="0"/>
              <a:t> — guarded algorithmic language for embedded control</a:t>
            </a:r>
            <a:endParaRPr lang="en-US" sz="1100" dirty="0"/>
          </a:p>
          <a:p>
            <a:pPr lvl="1"/>
            <a:r>
              <a:rPr lang="en-US" sz="1100" dirty="0"/>
              <a:t>Standardized block interface and life-cycle</a:t>
            </a:r>
            <a:endParaRPr sz="1100" dirty="0"/>
          </a:p>
          <a:p>
            <a:pPr lvl="1"/>
            <a:r>
              <a:rPr lang="en-US" sz="1100" dirty="0"/>
              <a:t>High abstraction level (multi-dimensional arithmetic, rich set of built-in functions, e.g. interpolation 1-2-3D, solve linear equations, etc.)</a:t>
            </a:r>
          </a:p>
          <a:p>
            <a:pPr lvl="1"/>
            <a:r>
              <a:rPr lang="en-US" sz="1100" dirty="0"/>
              <a:t>Guaranteed termination and maximum memory consumption, safe indexing</a:t>
            </a:r>
            <a:endParaRPr sz="1100" dirty="0"/>
          </a:p>
          <a:p>
            <a:pPr lvl="1"/>
            <a:r>
              <a:rPr lang="en-US" sz="1100" dirty="0"/>
              <a:t>Strict error handling (within normal control-flow, no exceptions)</a:t>
            </a:r>
            <a:endParaRPr sz="1100" dirty="0"/>
          </a:p>
          <a:p>
            <a:pPr lvl="1"/>
            <a:r>
              <a:rPr lang="en-US" sz="1100" dirty="0"/>
              <a:t>Self contained – no </a:t>
            </a:r>
            <a:r>
              <a:rPr sz="1100" dirty="0"/>
              <a:t>foreign function interface</a:t>
            </a:r>
            <a:endParaRPr lang="en-US" sz="1100" dirty="0"/>
          </a:p>
          <a:p>
            <a:pPr lvl="1"/>
            <a:r>
              <a:rPr lang="en-US" sz="1100" dirty="0"/>
              <a:t>Requires s</a:t>
            </a:r>
            <a:r>
              <a:rPr sz="1100" dirty="0"/>
              <a:t>olver</a:t>
            </a:r>
            <a:r>
              <a:rPr lang="en-US" sz="1100" dirty="0"/>
              <a:t> to be</a:t>
            </a:r>
            <a:r>
              <a:rPr sz="1100" dirty="0"/>
              <a:t> inline-integrated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>
          <a:xfrm>
            <a:off x="320497" y="3636025"/>
            <a:ext cx="3667658" cy="134105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</p:spPr>
        <p:txBody>
          <a:bodyPr wrap="square">
            <a:normAutofit lnSpcReduction="10000"/>
          </a:bodyPr>
          <a:lstStyle/>
          <a:p>
            <a:r>
              <a:rPr dirty="0"/>
              <a:t>Production Code</a:t>
            </a:r>
            <a:r>
              <a:rPr lang="en-US" dirty="0"/>
              <a:t> – </a:t>
            </a:r>
            <a:r>
              <a:rPr lang="en-US" dirty="0" err="1"/>
              <a:t>Dymola’s</a:t>
            </a:r>
            <a:r>
              <a:rPr lang="en-US" dirty="0"/>
              <a:t> Features</a:t>
            </a:r>
            <a:endParaRPr dirty="0"/>
          </a:p>
          <a:p>
            <a:pPr lvl="1"/>
            <a:r>
              <a:rPr sz="1100" dirty="0"/>
              <a:t>C</a:t>
            </a:r>
            <a:r>
              <a:rPr lang="en-US" sz="1100" dirty="0"/>
              <a:t>17</a:t>
            </a:r>
            <a:r>
              <a:rPr sz="1100" dirty="0"/>
              <a:t>, generated from GALEC</a:t>
            </a:r>
          </a:p>
          <a:p>
            <a:pPr lvl="1"/>
            <a:r>
              <a:rPr lang="en-US" sz="1100" dirty="0"/>
              <a:t>Compliant with </a:t>
            </a:r>
            <a:r>
              <a:rPr sz="1100" dirty="0"/>
              <a:t>MISRA C:2023</a:t>
            </a:r>
            <a:r>
              <a:rPr lang="en-US" sz="1100" dirty="0"/>
              <a:t>,</a:t>
            </a:r>
            <a:r>
              <a:rPr sz="1100" dirty="0"/>
              <a:t> SEI CERT C</a:t>
            </a:r>
          </a:p>
          <a:p>
            <a:pPr lvl="1"/>
            <a:r>
              <a:rPr sz="1100" dirty="0"/>
              <a:t>32- and 64-</a:t>
            </a:r>
            <a:r>
              <a:rPr lang="en-US" sz="1100" dirty="0"/>
              <a:t>Bit</a:t>
            </a:r>
            <a:r>
              <a:rPr sz="1100" dirty="0"/>
              <a:t> float</a:t>
            </a:r>
            <a:r>
              <a:rPr lang="en-US" sz="1100" dirty="0"/>
              <a:t>ing-point precision</a:t>
            </a:r>
          </a:p>
          <a:p>
            <a:pPr lvl="1"/>
            <a:r>
              <a:rPr lang="en-US" sz="1100" dirty="0"/>
              <a:t>No use of external libraries, only C Standard Library (mainly </a:t>
            </a:r>
            <a:r>
              <a:rPr lang="en-US" sz="1100" dirty="0" err="1">
                <a:latin typeface="CMU Typewriter Text" panose="02000609000000000000" pitchFamily="49" charset="0"/>
                <a:ea typeface="CMU Typewriter Text" panose="02000609000000000000" pitchFamily="49" charset="0"/>
                <a:cs typeface="CMU Typewriter Text" panose="02000609000000000000" pitchFamily="49" charset="0"/>
              </a:rPr>
              <a:t>math.h</a:t>
            </a:r>
            <a:r>
              <a:rPr lang="en-US" sz="1100" dirty="0"/>
              <a:t>)</a:t>
            </a:r>
            <a:endParaRPr sz="11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>
          <a:xfrm>
            <a:off x="320497" y="5130800"/>
            <a:ext cx="3667658" cy="1200916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</p:spPr>
        <p:txBody>
          <a:bodyPr wrap="square">
            <a:normAutofit fontScale="92500" lnSpcReduction="20000"/>
          </a:bodyPr>
          <a:lstStyle/>
          <a:p>
            <a:r>
              <a:rPr dirty="0"/>
              <a:t>Behavioral Model</a:t>
            </a:r>
          </a:p>
          <a:p>
            <a:pPr lvl="1"/>
            <a:r>
              <a:rPr lang="en-US" sz="1200" dirty="0"/>
              <a:t>Manifest file with test scenarios, units, tolerances</a:t>
            </a:r>
          </a:p>
          <a:p>
            <a:pPr lvl="1"/>
            <a:r>
              <a:rPr lang="en-US" sz="1200" dirty="0"/>
              <a:t>Variable or equidistant time grids</a:t>
            </a:r>
          </a:p>
          <a:p>
            <a:pPr lvl="1"/>
            <a:r>
              <a:rPr lang="en-US" sz="1200" dirty="0"/>
              <a:t>R</a:t>
            </a:r>
            <a:r>
              <a:rPr sz="1200" dirty="0"/>
              <a:t>eference trajectories in CSV</a:t>
            </a:r>
            <a:r>
              <a:rPr lang="en-US" sz="1200" dirty="0"/>
              <a:t> (described in manifest)</a:t>
            </a:r>
            <a:endParaRPr sz="120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4318110" y="4420339"/>
            <a:ext cx="7667563" cy="1908173"/>
          </a:xfrm>
        </p:spPr>
        <p:txBody>
          <a:bodyPr wrap="square">
            <a:normAutofit lnSpcReduction="10000"/>
          </a:bodyPr>
          <a:lstStyle/>
          <a:p>
            <a:pPr lvl="1"/>
            <a:r>
              <a:rPr b="1" dirty="0"/>
              <a:t>An </a:t>
            </a:r>
            <a:r>
              <a:rPr b="1" dirty="0" err="1"/>
              <a:t>eFMU</a:t>
            </a:r>
            <a:r>
              <a:rPr b="1" dirty="0"/>
              <a:t> is an open workspace container, </a:t>
            </a:r>
            <a:r>
              <a:rPr b="1" i="1" dirty="0"/>
              <a:t>not a sealed artefact</a:t>
            </a:r>
            <a:r>
              <a:rPr lang="en-US" dirty="0"/>
              <a:t> — </a:t>
            </a:r>
            <a:r>
              <a:rPr dirty="0"/>
              <a:t>it stays in development alongside the model.</a:t>
            </a:r>
          </a:p>
          <a:p>
            <a:pPr lvl="1"/>
            <a:r>
              <a:rPr b="1" dirty="0"/>
              <a:t>GALEC is the pivot</a:t>
            </a:r>
            <a:r>
              <a:rPr dirty="0"/>
              <a:t> — simulation tools target it; embedded code generators consume it, and </a:t>
            </a:r>
            <a:r>
              <a:rPr lang="en-US" dirty="0"/>
              <a:t>benefit from </a:t>
            </a:r>
            <a:r>
              <a:rPr dirty="0"/>
              <a:t>its guarantees.</a:t>
            </a:r>
            <a:endParaRPr lang="en-US" dirty="0"/>
          </a:p>
          <a:p>
            <a:r>
              <a:rPr lang="en-US" dirty="0">
                <a:solidFill>
                  <a:schemeClr val="accent1"/>
                </a:solidFill>
              </a:rPr>
              <a:t>Every container links back to the same </a:t>
            </a:r>
            <a:r>
              <a:rPr lang="en-US" dirty="0" err="1">
                <a:solidFill>
                  <a:schemeClr val="accent1"/>
                </a:solidFill>
              </a:rPr>
              <a:t>standardised</a:t>
            </a:r>
            <a:r>
              <a:rPr lang="en-US" dirty="0">
                <a:solidFill>
                  <a:schemeClr val="accent1"/>
                </a:solidFill>
              </a:rPr>
              <a:t> block interface! </a:t>
            </a:r>
            <a:br>
              <a:rPr lang="en-US" dirty="0">
                <a:solidFill>
                  <a:schemeClr val="accent1"/>
                </a:solidFill>
              </a:rPr>
            </a:br>
            <a:br>
              <a:rPr lang="en-US" sz="1100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Traceability is structural, not documentary!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More details: </a:t>
            </a:r>
            <a:r>
              <a:rPr lang="en-US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https://www.efmi-standard.org/</a:t>
            </a:r>
            <a:r>
              <a:rPr lang="en-US" dirty="0"/>
              <a:t> </a:t>
            </a:r>
          </a:p>
        </p:txBody>
      </p:sp>
      <p:sp>
        <p:nvSpPr>
          <p:cNvPr id="160" name="Footer"/>
          <p:cNvSpPr>
            <a:spLocks noGrp="1"/>
          </p:cNvSpPr>
          <p:nvPr>
            <p:ph type="ftr" sz="quarter" idx="11"/>
          </p:nvPr>
        </p:nvSpPr>
        <p:spPr>
          <a:xfrm>
            <a:off x="6400800" y="6675120"/>
            <a:ext cx="5486400" cy="16459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</a:defRPr>
            </a:lvl1pPr>
          </a:lstStyle>
          <a:p>
            <a:r>
              <a:t>American Modelica &amp; FMI Conference 2026 · Georgia Tech, Atlanta · 12–14 Oct 2026</a:t>
            </a:r>
          </a:p>
        </p:txBody>
      </p:sp>
      <p:sp>
        <p:nvSpPr>
          <p:cNvPr id="161" name="Slide Number"/>
          <p:cNvSpPr>
            <a:spLocks noGrp="1"/>
          </p:cNvSpPr>
          <p:nvPr>
            <p:ph type="sldNum" sz="quarter" idx="12"/>
          </p:nvPr>
        </p:nvSpPr>
        <p:spPr>
          <a:xfrm>
            <a:off x="11018520" y="6501384"/>
            <a:ext cx="868680" cy="20116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/>
              <a:t>6</a:t>
            </a:fld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5A3EAF4F-8CAC-3CF9-5882-BB96E536915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268" y="1149567"/>
            <a:ext cx="3382936" cy="2590060"/>
          </a:xfrm>
          <a:prstGeom prst="rect">
            <a:avLst/>
          </a:prstGeom>
        </p:spPr>
      </p:pic>
      <p:cxnSp>
        <p:nvCxnSpPr>
          <p:cNvPr id="38" name="Gewinkelte Verbindung 26">
            <a:extLst>
              <a:ext uri="{FF2B5EF4-FFF2-40B4-BE49-F238E27FC236}">
                <a16:creationId xmlns:a16="http://schemas.microsoft.com/office/drawing/2014/main" id="{673EE84C-EB9C-B74E-4D72-08FAB530B816}"/>
              </a:ext>
            </a:extLst>
          </p:cNvPr>
          <p:cNvCxnSpPr>
            <a:stCxn id="55" idx="3"/>
            <a:endCxn id="49" idx="2"/>
          </p:cNvCxnSpPr>
          <p:nvPr/>
        </p:nvCxnSpPr>
        <p:spPr>
          <a:xfrm flipV="1">
            <a:off x="5036404" y="2310429"/>
            <a:ext cx="555557" cy="920660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0070C0"/>
            </a:solidFill>
            <a:prstDash val="solid"/>
            <a:tailEnd type="arrow"/>
          </a:ln>
          <a:effectLst/>
        </p:spPr>
      </p:cxnSp>
      <p:pic>
        <p:nvPicPr>
          <p:cNvPr id="39" name="Picture 2">
            <a:extLst>
              <a:ext uri="{FF2B5EF4-FFF2-40B4-BE49-F238E27FC236}">
                <a16:creationId xmlns:a16="http://schemas.microsoft.com/office/drawing/2014/main" id="{516859CF-72C8-12C6-6A4A-616B4F9568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3249" y="1309254"/>
            <a:ext cx="988547" cy="9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1395AB63-A943-66B6-0693-CB7506275D75}"/>
              </a:ext>
            </a:extLst>
          </p:cNvPr>
          <p:cNvSpPr txBox="1"/>
          <p:nvPr/>
        </p:nvSpPr>
        <p:spPr>
          <a:xfrm>
            <a:off x="4368320" y="1071976"/>
            <a:ext cx="69762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5E676E"/>
                </a:solidFill>
                <a:effectLst/>
                <a:uLnTx/>
                <a:uFillTx/>
              </a:rPr>
              <a:t>model</a:t>
            </a:r>
          </a:p>
        </p:txBody>
      </p:sp>
      <p:cxnSp>
        <p:nvCxnSpPr>
          <p:cNvPr id="41" name="Gewinkelte Verbindung 26">
            <a:extLst>
              <a:ext uri="{FF2B5EF4-FFF2-40B4-BE49-F238E27FC236}">
                <a16:creationId xmlns:a16="http://schemas.microsoft.com/office/drawing/2014/main" id="{F2557489-9858-054E-B71C-D6F56B67DE10}"/>
              </a:ext>
            </a:extLst>
          </p:cNvPr>
          <p:cNvCxnSpPr>
            <a:cxnSpLocks/>
            <a:stCxn id="7" idx="3"/>
            <a:endCxn id="48" idx="4"/>
          </p:cNvCxnSpPr>
          <p:nvPr/>
        </p:nvCxnSpPr>
        <p:spPr>
          <a:xfrm flipH="1">
            <a:off x="6998105" y="1697369"/>
            <a:ext cx="1241818" cy="1261116"/>
          </a:xfrm>
          <a:prstGeom prst="bentConnector3">
            <a:avLst>
              <a:gd name="adj1" fmla="val -26078"/>
            </a:avLst>
          </a:prstGeom>
          <a:noFill/>
          <a:ln w="25400" cap="flat" cmpd="sng" algn="ctr">
            <a:solidFill>
              <a:srgbClr val="0070C0"/>
            </a:solidFill>
            <a:prstDash val="solid"/>
            <a:tailEnd type="arrow"/>
          </a:ln>
          <a:effectLst/>
        </p:spPr>
      </p:cxnSp>
      <p:cxnSp>
        <p:nvCxnSpPr>
          <p:cNvPr id="42" name="Gewinkelte Verbindung 26">
            <a:extLst>
              <a:ext uri="{FF2B5EF4-FFF2-40B4-BE49-F238E27FC236}">
                <a16:creationId xmlns:a16="http://schemas.microsoft.com/office/drawing/2014/main" id="{15BFD0C1-B71C-B5D4-2240-99B30A203359}"/>
              </a:ext>
            </a:extLst>
          </p:cNvPr>
          <p:cNvCxnSpPr>
            <a:stCxn id="39" idx="2"/>
            <a:endCxn id="55" idx="0"/>
          </p:cNvCxnSpPr>
          <p:nvPr/>
        </p:nvCxnSpPr>
        <p:spPr>
          <a:xfrm rot="5400000">
            <a:off x="4349022" y="2657205"/>
            <a:ext cx="737003" cy="1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0070C0"/>
            </a:solidFill>
            <a:prstDash val="solid"/>
            <a:tailEnd type="arrow"/>
          </a:ln>
          <a:effectLst/>
        </p:spPr>
      </p:cxnSp>
      <p:cxnSp>
        <p:nvCxnSpPr>
          <p:cNvPr id="43" name="Gewinkelte Verbindung 26">
            <a:extLst>
              <a:ext uri="{FF2B5EF4-FFF2-40B4-BE49-F238E27FC236}">
                <a16:creationId xmlns:a16="http://schemas.microsoft.com/office/drawing/2014/main" id="{63BBEFCF-7DE8-5212-C4F2-E9AAA3B1319F}"/>
              </a:ext>
            </a:extLst>
          </p:cNvPr>
          <p:cNvCxnSpPr>
            <a:stCxn id="49" idx="4"/>
            <a:endCxn id="52" idx="1"/>
          </p:cNvCxnSpPr>
          <p:nvPr/>
        </p:nvCxnSpPr>
        <p:spPr>
          <a:xfrm>
            <a:off x="7000387" y="2310429"/>
            <a:ext cx="269465" cy="206456"/>
          </a:xfrm>
          <a:prstGeom prst="bentConnector3">
            <a:avLst>
              <a:gd name="adj1" fmla="val 39717"/>
            </a:avLst>
          </a:prstGeom>
          <a:noFill/>
          <a:ln w="25400" cap="flat" cmpd="sng" algn="ctr">
            <a:solidFill>
              <a:srgbClr val="0070C0"/>
            </a:solidFill>
            <a:prstDash val="solid"/>
            <a:tailEnd type="arrow"/>
          </a:ln>
          <a:effectLst/>
        </p:spPr>
      </p:cxnSp>
      <p:cxnSp>
        <p:nvCxnSpPr>
          <p:cNvPr id="44" name="Gewinkelte Verbindung 26">
            <a:extLst>
              <a:ext uri="{FF2B5EF4-FFF2-40B4-BE49-F238E27FC236}">
                <a16:creationId xmlns:a16="http://schemas.microsoft.com/office/drawing/2014/main" id="{90D9AEB2-DC64-6C49-478C-CE3BDF6E080D}"/>
              </a:ext>
            </a:extLst>
          </p:cNvPr>
          <p:cNvCxnSpPr>
            <a:cxnSpLocks/>
            <a:stCxn id="49" idx="4"/>
          </p:cNvCxnSpPr>
          <p:nvPr/>
        </p:nvCxnSpPr>
        <p:spPr>
          <a:xfrm flipV="1">
            <a:off x="7000387" y="1689257"/>
            <a:ext cx="602888" cy="621172"/>
          </a:xfrm>
          <a:prstGeom prst="bentConnector3">
            <a:avLst>
              <a:gd name="adj1" fmla="val 17828"/>
            </a:avLst>
          </a:prstGeom>
          <a:noFill/>
          <a:ln w="25400" cap="flat" cmpd="sng" algn="ctr">
            <a:solidFill>
              <a:srgbClr val="0070C0"/>
            </a:solidFill>
            <a:prstDash val="solid"/>
            <a:tailEnd type="arrow"/>
          </a:ln>
          <a:effectLst/>
        </p:spPr>
      </p:cxnSp>
      <p:cxnSp>
        <p:nvCxnSpPr>
          <p:cNvPr id="45" name="Gewinkelte Verbindung 26">
            <a:extLst>
              <a:ext uri="{FF2B5EF4-FFF2-40B4-BE49-F238E27FC236}">
                <a16:creationId xmlns:a16="http://schemas.microsoft.com/office/drawing/2014/main" id="{F6B43702-C6F9-D685-41BB-6FE0E739C15E}"/>
              </a:ext>
            </a:extLst>
          </p:cNvPr>
          <p:cNvCxnSpPr>
            <a:stCxn id="52" idx="3"/>
            <a:endCxn id="48" idx="4"/>
          </p:cNvCxnSpPr>
          <p:nvPr/>
        </p:nvCxnSpPr>
        <p:spPr>
          <a:xfrm flipH="1">
            <a:off x="6998105" y="2516885"/>
            <a:ext cx="1458070" cy="441600"/>
          </a:xfrm>
          <a:prstGeom prst="bentConnector3">
            <a:avLst>
              <a:gd name="adj1" fmla="val -7443"/>
            </a:avLst>
          </a:prstGeom>
          <a:noFill/>
          <a:ln w="25400" cap="flat" cmpd="sng" algn="ctr">
            <a:solidFill>
              <a:srgbClr val="0070C0"/>
            </a:solidFill>
            <a:prstDash val="solid"/>
            <a:tailEnd type="arrow"/>
          </a:ln>
          <a:effectLst/>
        </p:spPr>
      </p:cxnSp>
      <p:cxnSp>
        <p:nvCxnSpPr>
          <p:cNvPr id="46" name="Gewinkelte Verbindung 26">
            <a:extLst>
              <a:ext uri="{FF2B5EF4-FFF2-40B4-BE49-F238E27FC236}">
                <a16:creationId xmlns:a16="http://schemas.microsoft.com/office/drawing/2014/main" id="{25CF2492-ECA2-FAA0-36B2-05B55A1CED6E}"/>
              </a:ext>
            </a:extLst>
          </p:cNvPr>
          <p:cNvCxnSpPr>
            <a:stCxn id="55" idx="3"/>
            <a:endCxn id="50" idx="2"/>
          </p:cNvCxnSpPr>
          <p:nvPr/>
        </p:nvCxnSpPr>
        <p:spPr>
          <a:xfrm flipV="1">
            <a:off x="5036404" y="1642653"/>
            <a:ext cx="555557" cy="1588436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0070C0"/>
            </a:solidFill>
            <a:prstDash val="solid"/>
            <a:tailEnd type="arrow"/>
          </a:ln>
          <a:effectLst/>
        </p:spPr>
      </p:cxnSp>
      <p:sp>
        <p:nvSpPr>
          <p:cNvPr id="47" name="Flowchart: Magnetic Disk 46">
            <a:extLst>
              <a:ext uri="{FF2B5EF4-FFF2-40B4-BE49-F238E27FC236}">
                <a16:creationId xmlns:a16="http://schemas.microsoft.com/office/drawing/2014/main" id="{BF4576F9-E81B-E47E-B356-43EF449F0404}"/>
              </a:ext>
            </a:extLst>
          </p:cNvPr>
          <p:cNvSpPr/>
          <p:nvPr/>
        </p:nvSpPr>
        <p:spPr>
          <a:xfrm>
            <a:off x="5590299" y="3166859"/>
            <a:ext cx="1408426" cy="869069"/>
          </a:xfrm>
          <a:prstGeom prst="flowChartMagneticDisk">
            <a:avLst/>
          </a:prstGeom>
          <a:solidFill>
            <a:srgbClr val="0070C0"/>
          </a:solidFill>
          <a:ln w="19050" cap="flat" cmpd="sng" algn="ctr">
            <a:solidFill>
              <a:srgbClr val="000000"/>
            </a:solidFill>
            <a:prstDash val="solid"/>
          </a:ln>
          <a:effectLst/>
        </p:spPr>
        <p:txBody>
          <a:bodyPr wrap="none" lIns="36000" rIns="36000" bIns="0" rtlCol="0" anchor="b" anchorCtr="1"/>
          <a:lstStyle/>
          <a:p>
            <a:pPr algn="ctr">
              <a:defRPr/>
            </a:pPr>
            <a:r>
              <a:rPr lang="en-US" sz="1300" b="1" kern="0" dirty="0">
                <a:solidFill>
                  <a:srgbClr val="FFFFFF"/>
                </a:solidFill>
                <a:latin typeface="Arial"/>
                <a:cs typeface="+mn-cs"/>
              </a:rPr>
              <a:t>Binary </a:t>
            </a:r>
            <a:br>
              <a:rPr lang="en-US" sz="1300" b="1" kern="0" dirty="0">
                <a:solidFill>
                  <a:srgbClr val="FFFFFF"/>
                </a:solidFill>
                <a:latin typeface="Arial"/>
                <a:cs typeface="+mn-cs"/>
              </a:rPr>
            </a:br>
            <a:r>
              <a:rPr lang="en-US" sz="1300" b="1" kern="0" dirty="0">
                <a:solidFill>
                  <a:srgbClr val="FFFFFF"/>
                </a:solidFill>
                <a:latin typeface="Arial"/>
                <a:cs typeface="+mn-cs"/>
              </a:rPr>
              <a:t>Code*</a:t>
            </a:r>
          </a:p>
        </p:txBody>
      </p:sp>
      <p:sp>
        <p:nvSpPr>
          <p:cNvPr id="48" name="Flowchart: Magnetic Disk 47">
            <a:extLst>
              <a:ext uri="{FF2B5EF4-FFF2-40B4-BE49-F238E27FC236}">
                <a16:creationId xmlns:a16="http://schemas.microsoft.com/office/drawing/2014/main" id="{C74D8480-D07F-FEF3-9D2C-AF8E85973689}"/>
              </a:ext>
            </a:extLst>
          </p:cNvPr>
          <p:cNvSpPr/>
          <p:nvPr/>
        </p:nvSpPr>
        <p:spPr>
          <a:xfrm>
            <a:off x="5589679" y="2523950"/>
            <a:ext cx="1408426" cy="869069"/>
          </a:xfrm>
          <a:prstGeom prst="flowChartMagneticDisk">
            <a:avLst/>
          </a:prstGeom>
          <a:solidFill>
            <a:srgbClr val="0070C0"/>
          </a:solidFill>
          <a:ln w="19050" cap="flat" cmpd="sng" algn="ctr">
            <a:solidFill>
              <a:srgbClr val="000000"/>
            </a:solidFill>
            <a:prstDash val="solid"/>
          </a:ln>
          <a:effectLst/>
        </p:spPr>
        <p:txBody>
          <a:bodyPr wrap="none" lIns="36000" rIns="36000" bIns="0" rtlCol="0" anchor="b" anchorCtr="1"/>
          <a:lstStyle/>
          <a:p>
            <a:pPr algn="ctr">
              <a:defRPr/>
            </a:pPr>
            <a:r>
              <a:rPr lang="en-US" sz="1300" b="1" kern="0" dirty="0">
                <a:solidFill>
                  <a:srgbClr val="FFFFFF"/>
                </a:solidFill>
                <a:latin typeface="Arial"/>
                <a:cs typeface="+mn-cs"/>
              </a:rPr>
              <a:t>Production </a:t>
            </a:r>
            <a:br>
              <a:rPr lang="en-US" sz="1300" b="1" kern="0" dirty="0">
                <a:solidFill>
                  <a:srgbClr val="FFFFFF"/>
                </a:solidFill>
                <a:latin typeface="Arial"/>
                <a:cs typeface="+mn-cs"/>
              </a:rPr>
            </a:br>
            <a:r>
              <a:rPr lang="en-US" sz="1300" b="1" kern="0" dirty="0">
                <a:solidFill>
                  <a:srgbClr val="FFFFFF"/>
                </a:solidFill>
                <a:latin typeface="Arial"/>
                <a:cs typeface="+mn-cs"/>
              </a:rPr>
              <a:t>Code*</a:t>
            </a:r>
          </a:p>
        </p:txBody>
      </p:sp>
      <p:sp>
        <p:nvSpPr>
          <p:cNvPr id="49" name="Flowchart: Magnetic Disk 48">
            <a:extLst>
              <a:ext uri="{FF2B5EF4-FFF2-40B4-BE49-F238E27FC236}">
                <a16:creationId xmlns:a16="http://schemas.microsoft.com/office/drawing/2014/main" id="{88DAA20E-0AB0-53D8-70F6-77DEB3F23531}"/>
              </a:ext>
            </a:extLst>
          </p:cNvPr>
          <p:cNvSpPr/>
          <p:nvPr/>
        </p:nvSpPr>
        <p:spPr>
          <a:xfrm>
            <a:off x="5591961" y="1875894"/>
            <a:ext cx="1408426" cy="869069"/>
          </a:xfrm>
          <a:prstGeom prst="flowChartMagneticDisk">
            <a:avLst/>
          </a:prstGeom>
          <a:solidFill>
            <a:srgbClr val="0070C0"/>
          </a:solidFill>
          <a:ln w="19050" cap="flat" cmpd="sng" algn="ctr">
            <a:solidFill>
              <a:srgbClr val="000000"/>
            </a:solidFill>
            <a:prstDash val="solid"/>
          </a:ln>
          <a:effectLst/>
        </p:spPr>
        <p:txBody>
          <a:bodyPr wrap="none" lIns="36000" rIns="36000" bIns="0" rtlCol="0" anchor="b" anchorCtr="1"/>
          <a:lstStyle/>
          <a:p>
            <a:pPr algn="ctr">
              <a:defRPr/>
            </a:pPr>
            <a:r>
              <a:rPr lang="en-US" sz="1300" b="1" kern="0" dirty="0">
                <a:solidFill>
                  <a:srgbClr val="FFFFFF"/>
                </a:solidFill>
                <a:latin typeface="Arial"/>
                <a:cs typeface="+mn-cs"/>
              </a:rPr>
              <a:t>Algorithm</a:t>
            </a:r>
            <a:br>
              <a:rPr lang="en-US" sz="1300" b="1" kern="0" dirty="0">
                <a:solidFill>
                  <a:srgbClr val="FFFFFF"/>
                </a:solidFill>
                <a:latin typeface="Arial"/>
                <a:cs typeface="+mn-cs"/>
              </a:rPr>
            </a:br>
            <a:r>
              <a:rPr lang="en-US" sz="1300" b="1" kern="0" dirty="0">
                <a:solidFill>
                  <a:srgbClr val="FFFFFF"/>
                </a:solidFill>
                <a:latin typeface="Arial"/>
                <a:cs typeface="+mn-cs"/>
              </a:rPr>
              <a:t>Code</a:t>
            </a:r>
          </a:p>
        </p:txBody>
      </p:sp>
      <p:sp>
        <p:nvSpPr>
          <p:cNvPr id="50" name="Flowchart: Magnetic Disk 49">
            <a:extLst>
              <a:ext uri="{FF2B5EF4-FFF2-40B4-BE49-F238E27FC236}">
                <a16:creationId xmlns:a16="http://schemas.microsoft.com/office/drawing/2014/main" id="{ED178AB7-8B96-15F4-E90E-D137A0686D65}"/>
              </a:ext>
            </a:extLst>
          </p:cNvPr>
          <p:cNvSpPr/>
          <p:nvPr/>
        </p:nvSpPr>
        <p:spPr>
          <a:xfrm>
            <a:off x="5591961" y="1183455"/>
            <a:ext cx="1408426" cy="918396"/>
          </a:xfrm>
          <a:prstGeom prst="flowChartMagneticDisk">
            <a:avLst/>
          </a:prstGeom>
          <a:solidFill>
            <a:srgbClr val="0070C0"/>
          </a:solidFill>
          <a:ln w="19050" cap="flat" cmpd="sng" algn="ctr">
            <a:solidFill>
              <a:srgbClr val="000000"/>
            </a:solidFill>
            <a:prstDash val="solid"/>
          </a:ln>
          <a:effectLst/>
        </p:spPr>
        <p:txBody>
          <a:bodyPr wrap="none" lIns="36000" rIns="36000" bIns="0" rtlCol="0" anchor="b" anchorCtr="1"/>
          <a:lstStyle/>
          <a:p>
            <a:pPr algn="ctr">
              <a:defRPr/>
            </a:pPr>
            <a:r>
              <a:rPr lang="en-US" sz="1300" b="1" kern="0" dirty="0">
                <a:solidFill>
                  <a:srgbClr val="FFFFFF"/>
                </a:solidFill>
                <a:latin typeface="Arial"/>
                <a:cs typeface="+mn-cs"/>
              </a:rPr>
              <a:t>Behavioral </a:t>
            </a:r>
            <a:br>
              <a:rPr lang="en-US" sz="1300" b="1" kern="0" dirty="0">
                <a:solidFill>
                  <a:srgbClr val="FFFFFF"/>
                </a:solidFill>
                <a:latin typeface="Arial"/>
                <a:cs typeface="+mn-cs"/>
              </a:rPr>
            </a:br>
            <a:r>
              <a:rPr lang="en-US" sz="1300" b="1" kern="0" dirty="0">
                <a:solidFill>
                  <a:srgbClr val="FFFFFF"/>
                </a:solidFill>
                <a:latin typeface="Arial"/>
                <a:cs typeface="+mn-cs"/>
              </a:rPr>
              <a:t>Model*</a:t>
            </a:r>
          </a:p>
        </p:txBody>
      </p:sp>
      <p:sp>
        <p:nvSpPr>
          <p:cNvPr id="51" name="Flowchart: Magnetic Disk 50">
            <a:extLst>
              <a:ext uri="{FF2B5EF4-FFF2-40B4-BE49-F238E27FC236}">
                <a16:creationId xmlns:a16="http://schemas.microsoft.com/office/drawing/2014/main" id="{93432232-C2A8-CB54-EC7A-AEEB4117DC6A}"/>
              </a:ext>
            </a:extLst>
          </p:cNvPr>
          <p:cNvSpPr/>
          <p:nvPr/>
        </p:nvSpPr>
        <p:spPr>
          <a:xfrm>
            <a:off x="5591961" y="918372"/>
            <a:ext cx="1408426" cy="509431"/>
          </a:xfrm>
          <a:prstGeom prst="flowChartMagneticDisk">
            <a:avLst/>
          </a:prstGeom>
          <a:solidFill>
            <a:srgbClr val="0070C0"/>
          </a:solidFill>
          <a:ln w="19050" cap="flat" cmpd="sng" algn="ctr">
            <a:solidFill>
              <a:srgbClr val="000000"/>
            </a:solidFill>
            <a:prstDash val="solid"/>
          </a:ln>
          <a:effectLst/>
        </p:spPr>
        <p:txBody>
          <a:bodyPr wrap="none" rtlCol="0" anchor="ctr"/>
          <a:lstStyle/>
          <a:p>
            <a:pPr algn="ctr">
              <a:defRPr/>
            </a:pPr>
            <a:r>
              <a:rPr lang="en-US" sz="1300" b="1" kern="0" dirty="0">
                <a:solidFill>
                  <a:srgbClr val="FFFFFF"/>
                </a:solidFill>
                <a:latin typeface="Arial"/>
                <a:cs typeface="+mn-cs"/>
              </a:rPr>
              <a:t>eFMU Manifest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CFDA8168-C3E8-8E9E-C393-52DCB99EDE5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9852" y="2302987"/>
            <a:ext cx="1186323" cy="427795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65D6FCBC-D38C-C1F8-7926-9E27F4CBBF5B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7545098" y="1942899"/>
            <a:ext cx="621965" cy="200055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5E676E"/>
                </a:solidFill>
                <a:effectLst/>
                <a:uLnTx/>
                <a:uFillTx/>
              </a:rPr>
              <a:t>Dymola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7E51D35-BCF3-9505-7582-B393E92A158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8640" y="3025707"/>
            <a:ext cx="637764" cy="410763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5AF52C87-5F37-8E31-52F6-FAAA5C669D89}"/>
              </a:ext>
            </a:extLst>
          </p:cNvPr>
          <p:cNvSpPr txBox="1"/>
          <p:nvPr/>
        </p:nvSpPr>
        <p:spPr>
          <a:xfrm>
            <a:off x="4280491" y="3570241"/>
            <a:ext cx="87277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5E676E"/>
                </a:solidFill>
                <a:effectLst/>
                <a:uLnTx/>
                <a:uFillTx/>
              </a:rPr>
              <a:t>Dymola</a:t>
            </a:r>
          </a:p>
        </p:txBody>
      </p:sp>
      <p:cxnSp>
        <p:nvCxnSpPr>
          <p:cNvPr id="57" name="Gewinkelte Verbindung 26">
            <a:extLst>
              <a:ext uri="{FF2B5EF4-FFF2-40B4-BE49-F238E27FC236}">
                <a16:creationId xmlns:a16="http://schemas.microsoft.com/office/drawing/2014/main" id="{BC44BAD8-4B15-68FE-659B-EBC2F9B18CA7}"/>
              </a:ext>
            </a:extLst>
          </p:cNvPr>
          <p:cNvCxnSpPr>
            <a:stCxn id="52" idx="3"/>
            <a:endCxn id="47" idx="4"/>
          </p:cNvCxnSpPr>
          <p:nvPr/>
        </p:nvCxnSpPr>
        <p:spPr>
          <a:xfrm flipH="1">
            <a:off x="6998725" y="2516885"/>
            <a:ext cx="1457450" cy="1084509"/>
          </a:xfrm>
          <a:prstGeom prst="bentConnector3">
            <a:avLst>
              <a:gd name="adj1" fmla="val -7577"/>
            </a:avLst>
          </a:prstGeom>
          <a:noFill/>
          <a:ln w="25400" cap="flat" cmpd="sng" algn="ctr">
            <a:solidFill>
              <a:srgbClr val="0070C0"/>
            </a:solidFill>
            <a:prstDash val="solid"/>
            <a:tailEnd type="arrow"/>
          </a:ln>
          <a:effectLst/>
        </p:spPr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A24D4108-5CE1-C085-954B-5A1F9D178913}"/>
              </a:ext>
            </a:extLst>
          </p:cNvPr>
          <p:cNvSpPr/>
          <p:nvPr/>
        </p:nvSpPr>
        <p:spPr>
          <a:xfrm>
            <a:off x="9961472" y="1823784"/>
            <a:ext cx="1128800" cy="1199516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6A1A090C-E5C8-F93F-1EE3-1E93123239EB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3741" y="2561321"/>
            <a:ext cx="1658352" cy="397163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0E25E929-50C4-97EC-A624-754CCA39BF0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3224" y="1814549"/>
            <a:ext cx="1058717" cy="741014"/>
          </a:xfrm>
          <a:prstGeom prst="rect">
            <a:avLst/>
          </a:prstGeom>
        </p:spPr>
      </p:pic>
      <p:cxnSp>
        <p:nvCxnSpPr>
          <p:cNvPr id="61" name="Gewinkelte Verbindung 26">
            <a:extLst>
              <a:ext uri="{FF2B5EF4-FFF2-40B4-BE49-F238E27FC236}">
                <a16:creationId xmlns:a16="http://schemas.microsoft.com/office/drawing/2014/main" id="{5AFA8683-3A62-218D-B4ED-68510903ECAA}"/>
              </a:ext>
            </a:extLst>
          </p:cNvPr>
          <p:cNvCxnSpPr>
            <a:stCxn id="47" idx="2"/>
            <a:endCxn id="55" idx="2"/>
          </p:cNvCxnSpPr>
          <p:nvPr/>
        </p:nvCxnSpPr>
        <p:spPr>
          <a:xfrm rot="10800000">
            <a:off x="4717523" y="3436470"/>
            <a:ext cx="872777" cy="164924"/>
          </a:xfrm>
          <a:prstGeom prst="bentConnector2">
            <a:avLst/>
          </a:prstGeom>
          <a:noFill/>
          <a:ln w="25400" cap="flat" cmpd="sng" algn="ctr">
            <a:solidFill>
              <a:srgbClr val="0070C0"/>
            </a:solidFill>
            <a:prstDash val="solid"/>
            <a:tailEnd type="arrow"/>
          </a:ln>
          <a:effectLst/>
        </p:spPr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48FB0DDE-D8D3-8453-DDD7-90B86CD7AD50}"/>
              </a:ext>
            </a:extLst>
          </p:cNvPr>
          <p:cNvSpPr txBox="1"/>
          <p:nvPr/>
        </p:nvSpPr>
        <p:spPr>
          <a:xfrm>
            <a:off x="5314182" y="3254302"/>
            <a:ext cx="313889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00B050"/>
                </a:solidFill>
                <a:latin typeface="Calibri" panose="020F0502020204030204"/>
                <a:cs typeface="+mn-cs"/>
              </a:rPr>
              <a:t>✔</a:t>
            </a:r>
            <a:br>
              <a:rPr lang="en-US" sz="2400" b="1" dirty="0">
                <a:solidFill>
                  <a:prstClr val="black"/>
                </a:solidFill>
                <a:latin typeface="Calibri" panose="020F0502020204030204"/>
                <a:cs typeface="+mn-cs"/>
              </a:rPr>
            </a:br>
            <a:r>
              <a:rPr lang="en-US" sz="2400" b="1" dirty="0">
                <a:solidFill>
                  <a:srgbClr val="FF0000"/>
                </a:solidFill>
                <a:latin typeface="Calibri" panose="020F0502020204030204"/>
                <a:cs typeface="+mn-cs"/>
              </a:rPr>
              <a:t>✖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CA0A5FFB-A6C2-DB3D-9026-B8B1186E72C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3561" y="3005818"/>
            <a:ext cx="430040" cy="389951"/>
          </a:xfrm>
          <a:prstGeom prst="rect">
            <a:avLst/>
          </a:prstGeom>
        </p:spPr>
      </p:pic>
      <p:sp>
        <p:nvSpPr>
          <p:cNvPr id="128" name="TextBox 127">
            <a:extLst>
              <a:ext uri="{FF2B5EF4-FFF2-40B4-BE49-F238E27FC236}">
                <a16:creationId xmlns:a16="http://schemas.microsoft.com/office/drawing/2014/main" id="{345630D5-BD8D-45FA-D58F-743A8EC1692C}"/>
              </a:ext>
            </a:extLst>
          </p:cNvPr>
          <p:cNvSpPr txBox="1"/>
          <p:nvPr/>
        </p:nvSpPr>
        <p:spPr>
          <a:xfrm>
            <a:off x="7488098" y="2980275"/>
            <a:ext cx="313889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00B050"/>
                </a:solidFill>
                <a:latin typeface="Calibri" panose="020F0502020204030204"/>
                <a:cs typeface="+mn-cs"/>
              </a:rPr>
              <a:t>✔</a:t>
            </a:r>
            <a:endParaRPr lang="en-US" sz="2400" b="1" dirty="0">
              <a:solidFill>
                <a:srgbClr val="FF0000"/>
              </a:solidFill>
              <a:latin typeface="Calibri" panose="020F0502020204030204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2114C3-E7A7-6F66-4073-D3BB814B24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3275" y="1492347"/>
            <a:ext cx="636648" cy="410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9FF1479-1294-DEAB-6020-5BA2F8DA076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98640" y="839429"/>
            <a:ext cx="698725" cy="2687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OpenIPSL_CHIL</a:t>
            </a:r>
            <a:r>
              <a:rPr dirty="0"/>
              <a:t>: OpenIPSL for embedded real-time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br>
              <a:rPr lang="en-US" dirty="0">
                <a:latin typeface="CMU Typewriter Text"/>
              </a:rPr>
            </a:br>
            <a:r>
              <a:rPr dirty="0">
                <a:latin typeface="CMU Typewriter Text"/>
              </a:rPr>
              <a:t>OpenIPSL 3.1.0</a:t>
            </a:r>
            <a:r>
              <a:rPr dirty="0"/>
              <a:t> — the starting point</a:t>
            </a:r>
          </a:p>
          <a:p>
            <a:pPr lvl="1"/>
            <a:r>
              <a:rPr dirty="0"/>
              <a:t>Open-source Modelica library for phasor-domain transient (RMS) power system simulation.</a:t>
            </a:r>
          </a:p>
          <a:p>
            <a:pPr lvl="1"/>
            <a:r>
              <a:rPr dirty="0"/>
              <a:t>Transmission, distribution with unbalanced three-phase, and mixed EMT / TS modelling.</a:t>
            </a:r>
            <a:br>
              <a:rPr lang="en-US" dirty="0"/>
            </a:br>
            <a:endParaRPr dirty="0"/>
          </a:p>
          <a:p>
            <a:r>
              <a:rPr dirty="0" err="1">
                <a:latin typeface="CMU Typewriter Text"/>
              </a:rPr>
              <a:t>OpenIPSL_CHIL</a:t>
            </a:r>
            <a:r>
              <a:rPr dirty="0"/>
              <a:t> — what this paper adds</a:t>
            </a:r>
          </a:p>
          <a:p>
            <a:pPr lvl="1"/>
            <a:r>
              <a:rPr lang="en-US" dirty="0"/>
              <a:t>Extensions of OpenIPSL for embedded real-time applications.</a:t>
            </a:r>
          </a:p>
          <a:p>
            <a:pPr lvl="1"/>
            <a:r>
              <a:rPr lang="en-US" b="1" dirty="0"/>
              <a:t>(B) </a:t>
            </a:r>
            <a:r>
              <a:rPr b="1" dirty="0"/>
              <a:t>Components</a:t>
            </a:r>
            <a:r>
              <a:rPr dirty="0"/>
              <a:t> — PSS variants, </a:t>
            </a:r>
            <a:r>
              <a:rPr dirty="0" err="1"/>
              <a:t>specialised</a:t>
            </a:r>
            <a:r>
              <a:rPr dirty="0"/>
              <a:t> blocks, and the OpenIPSL machine, line and fault models that needed modification for </a:t>
            </a:r>
            <a:r>
              <a:rPr dirty="0" err="1"/>
              <a:t>eFMU</a:t>
            </a:r>
            <a:r>
              <a:rPr dirty="0"/>
              <a:t> export.</a:t>
            </a:r>
          </a:p>
          <a:p>
            <a:pPr lvl="1"/>
            <a:r>
              <a:rPr lang="en-US" b="1" dirty="0"/>
              <a:t>(C)</a:t>
            </a:r>
            <a:r>
              <a:rPr b="1" dirty="0"/>
              <a:t>Generator / Network</a:t>
            </a:r>
            <a:r>
              <a:rPr dirty="0"/>
              <a:t> — generator-unit and grid variants per design stage: continuous, redesign, embedded.</a:t>
            </a:r>
          </a:p>
          <a:p>
            <a:pPr lvl="1"/>
            <a:r>
              <a:rPr lang="en-US" b="1" dirty="0"/>
              <a:t>(C) </a:t>
            </a:r>
            <a:r>
              <a:rPr b="1" dirty="0"/>
              <a:t>RTS</a:t>
            </a:r>
            <a:r>
              <a:rPr dirty="0"/>
              <a:t> — plant models for </a:t>
            </a:r>
            <a:r>
              <a:rPr dirty="0" err="1"/>
              <a:t>HiL</a:t>
            </a:r>
            <a:r>
              <a:rPr dirty="0"/>
              <a:t> and CHiL targets, with their </a:t>
            </a:r>
            <a:r>
              <a:rPr dirty="0" err="1"/>
              <a:t>eFMU</a:t>
            </a:r>
            <a:r>
              <a:rPr dirty="0"/>
              <a:t> configurations.</a:t>
            </a:r>
          </a:p>
          <a:p>
            <a:pPr lvl="1"/>
            <a:r>
              <a:rPr lang="en-US" b="1" dirty="0"/>
              <a:t>(D) </a:t>
            </a:r>
            <a:r>
              <a:rPr b="1" dirty="0"/>
              <a:t>Examples</a:t>
            </a:r>
            <a:r>
              <a:rPr dirty="0"/>
              <a:t> — whole-system closed-loop </a:t>
            </a:r>
            <a:r>
              <a:rPr dirty="0" err="1"/>
              <a:t>MiL</a:t>
            </a:r>
            <a:r>
              <a:rPr dirty="0"/>
              <a:t> and </a:t>
            </a:r>
            <a:r>
              <a:rPr dirty="0" err="1"/>
              <a:t>SiL</a:t>
            </a:r>
            <a:r>
              <a:rPr dirty="0"/>
              <a:t> experiments.</a:t>
            </a:r>
          </a:p>
          <a:p>
            <a:endParaRPr lang="en-US" sz="300" dirty="0">
              <a:solidFill>
                <a:schemeClr val="accent1"/>
              </a:solidFill>
            </a:endParaRPr>
          </a:p>
          <a:p>
            <a:r>
              <a:rPr dirty="0">
                <a:solidFill>
                  <a:schemeClr val="accent1"/>
                </a:solidFill>
              </a:rPr>
              <a:t>Every sub-package ships its </a:t>
            </a:r>
            <a:r>
              <a:rPr dirty="0" err="1">
                <a:solidFill>
                  <a:schemeClr val="accent1"/>
                </a:solidFill>
              </a:rPr>
              <a:t>eFMU</a:t>
            </a:r>
            <a:r>
              <a:rPr dirty="0">
                <a:solidFill>
                  <a:schemeClr val="accent1"/>
                </a:solidFill>
              </a:rPr>
              <a:t> generation configuration</a:t>
            </a:r>
            <a:r>
              <a:rPr lang="en-US" dirty="0">
                <a:solidFill>
                  <a:schemeClr val="accent1"/>
                </a:solidFill>
              </a:rPr>
              <a:t> (when appropriate)</a:t>
            </a:r>
            <a:r>
              <a:rPr dirty="0">
                <a:solidFill>
                  <a:schemeClr val="accent1"/>
                </a:solidFill>
              </a:rPr>
              <a:t> and unit tests.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>
          <a:xfrm>
            <a:off x="6721145" y="6073902"/>
            <a:ext cx="5105095" cy="277039"/>
          </a:xfrm>
        </p:spPr>
        <p:txBody>
          <a:bodyPr wrap="square"/>
          <a:lstStyle/>
          <a:p>
            <a:r>
              <a:rPr dirty="0" err="1"/>
              <a:t>OpenIPSL_CHIL</a:t>
            </a:r>
            <a:r>
              <a:rPr dirty="0"/>
              <a:t> library overview</a:t>
            </a:r>
          </a:p>
        </p:txBody>
      </p:sp>
      <p:sp>
        <p:nvSpPr>
          <p:cNvPr id="128" name="Footer"/>
          <p:cNvSpPr>
            <a:spLocks noGrp="1"/>
          </p:cNvSpPr>
          <p:nvPr>
            <p:ph type="ftr" sz="quarter" idx="11"/>
          </p:nvPr>
        </p:nvSpPr>
        <p:spPr>
          <a:xfrm>
            <a:off x="6400800" y="6675120"/>
            <a:ext cx="5486400" cy="16459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</a:defRPr>
            </a:lvl1pPr>
          </a:lstStyle>
          <a:p>
            <a:r>
              <a:t>American Modelica &amp; FMI Conference 2026 · Georgia Tech, Atlanta · 12–14 Oct 2026</a:t>
            </a:r>
          </a:p>
        </p:txBody>
      </p:sp>
      <p:sp>
        <p:nvSpPr>
          <p:cNvPr id="129" name="Slide Number"/>
          <p:cNvSpPr>
            <a:spLocks noGrp="1"/>
          </p:cNvSpPr>
          <p:nvPr>
            <p:ph type="sldNum" sz="quarter" idx="12"/>
          </p:nvPr>
        </p:nvSpPr>
        <p:spPr>
          <a:xfrm>
            <a:off x="11018520" y="6501384"/>
            <a:ext cx="868680" cy="20116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/>
              <a:t>7</a:t>
            </a:fld>
            <a:endParaRPr lang="en-US"/>
          </a:p>
        </p:txBody>
      </p:sp>
      <p:pic>
        <p:nvPicPr>
          <p:cNvPr id="130" name="Picture 129" descr="f03-openipsl-ch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1145" y="2024963"/>
            <a:ext cx="5105095" cy="39117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8E306C7-2E12-1DCF-F97C-B72A1460E3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3285" y="843534"/>
            <a:ext cx="1181429" cy="1181429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26D8550-5F7E-87B8-5256-1CF2934C7E31}"/>
              </a:ext>
            </a:extLst>
          </p:cNvPr>
          <p:cNvCxnSpPr>
            <a:cxnSpLocks/>
          </p:cNvCxnSpPr>
          <p:nvPr/>
        </p:nvCxnSpPr>
        <p:spPr>
          <a:xfrm>
            <a:off x="6234976" y="5353741"/>
            <a:ext cx="218887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DB4D9AB8-DE2F-8801-EA86-6C6DF01C5D99}"/>
              </a:ext>
            </a:extLst>
          </p:cNvPr>
          <p:cNvSpPr/>
          <p:nvPr/>
        </p:nvSpPr>
        <p:spPr>
          <a:xfrm>
            <a:off x="8480705" y="5244771"/>
            <a:ext cx="857546" cy="1752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588284-AC46-3537-4291-0532CCD31FF5}"/>
              </a:ext>
            </a:extLst>
          </p:cNvPr>
          <p:cNvSpPr/>
          <p:nvPr/>
        </p:nvSpPr>
        <p:spPr>
          <a:xfrm>
            <a:off x="10184664" y="5386905"/>
            <a:ext cx="857546" cy="1752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28016"/>
            <a:ext cx="9469962" cy="566928"/>
          </a:xfrm>
        </p:spPr>
        <p:txBody>
          <a:bodyPr>
            <a:normAutofit fontScale="90000"/>
          </a:bodyPr>
          <a:lstStyle/>
          <a:p>
            <a:r>
              <a:rPr lang="en-US" dirty="0"/>
              <a:t>Re-factoring the controller for </a:t>
            </a:r>
            <a:r>
              <a:rPr lang="en-US" dirty="0" err="1"/>
              <a:t>eFMI</a:t>
            </a:r>
            <a:r>
              <a:rPr lang="en-US" dirty="0"/>
              <a:t> Export: need </a:t>
            </a:r>
            <a:r>
              <a:rPr lang="en-US" dirty="0">
                <a:sym typeface="Wingdings" panose="05000000000000000000" pitchFamily="2" charset="2"/>
              </a:rPr>
              <a:t> µ-controller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760" y="914400"/>
            <a:ext cx="5326380" cy="5303520"/>
          </a:xfrm>
        </p:spPr>
        <p:txBody>
          <a:bodyPr wrap="square">
            <a:normAutofit/>
          </a:bodyPr>
          <a:lstStyle/>
          <a:p>
            <a:r>
              <a:rPr dirty="0"/>
              <a:t>From textbook block to deployable model</a:t>
            </a:r>
          </a:p>
          <a:p>
            <a:pPr lvl="1"/>
            <a:r>
              <a:rPr b="1" dirty="0"/>
              <a:t>(A) </a:t>
            </a:r>
            <a:r>
              <a:rPr lang="en-US" dirty="0"/>
              <a:t>is the textbook PSAT Type II, equivalently PSS®E STAB1 </a:t>
            </a:r>
            <a:br>
              <a:rPr lang="en-US" dirty="0"/>
            </a:br>
            <a:endParaRPr lang="en-US" dirty="0"/>
          </a:p>
          <a:p>
            <a:pPr lvl="1"/>
            <a:r>
              <a:rPr b="1" dirty="0"/>
              <a:t>(B)</a:t>
            </a:r>
            <a:r>
              <a:rPr dirty="0"/>
              <a:t> PSAT Type II / PSS®E STAB1: gain, washout, two lead-lag stages, limiter. Implemented in OpenIPSL as </a:t>
            </a:r>
            <a:r>
              <a:rPr dirty="0" err="1">
                <a:latin typeface="CMU Typewriter Text"/>
              </a:rPr>
              <a:t>PSSTypeII</a:t>
            </a:r>
            <a:r>
              <a:rPr dirty="0"/>
              <a:t>.</a:t>
            </a:r>
            <a:br>
              <a:rPr lang="en-US" dirty="0"/>
            </a:br>
            <a:endParaRPr dirty="0"/>
          </a:p>
          <a:p>
            <a:pPr lvl="1"/>
            <a:r>
              <a:rPr b="1" dirty="0"/>
              <a:t>(C) </a:t>
            </a:r>
            <a:r>
              <a:rPr lang="en-US" b="1" dirty="0"/>
              <a:t>I</a:t>
            </a:r>
            <a:r>
              <a:rPr b="1" dirty="0"/>
              <a:t>nput-dependent initiali</a:t>
            </a:r>
            <a:r>
              <a:rPr lang="en-US" b="1" dirty="0"/>
              <a:t>z</a:t>
            </a:r>
            <a:r>
              <a:rPr b="1" dirty="0"/>
              <a:t>ation</a:t>
            </a:r>
            <a:r>
              <a:rPr lang="en-US" b="1" dirty="0"/>
              <a:t>:</a:t>
            </a:r>
            <a:r>
              <a:rPr dirty="0"/>
              <a:t> </a:t>
            </a:r>
            <a:endParaRPr lang="en-US" dirty="0"/>
          </a:p>
          <a:p>
            <a:pPr lvl="2"/>
            <a:r>
              <a:rPr dirty="0" err="1">
                <a:latin typeface="CMU Typewriter Text"/>
              </a:rPr>
              <a:t>vSI_start</a:t>
            </a:r>
            <a:r>
              <a:rPr dirty="0"/>
              <a:t> as a tunable parameter; </a:t>
            </a:r>
            <a:endParaRPr lang="en-US" dirty="0"/>
          </a:p>
          <a:p>
            <a:pPr lvl="2"/>
            <a:r>
              <a:rPr lang="en-US" dirty="0"/>
              <a:t>Scaling: </a:t>
            </a:r>
            <a:r>
              <a:rPr dirty="0"/>
              <a:t>×10 input scaling to use the DAC range; </a:t>
            </a:r>
            <a:endParaRPr lang="en-US" dirty="0"/>
          </a:p>
          <a:p>
            <a:pPr lvl="2"/>
            <a:r>
              <a:rPr lang="en-US" dirty="0"/>
              <a:t>LPF: </a:t>
            </a:r>
            <a:r>
              <a:rPr dirty="0"/>
              <a:t>a 5 Hz low-pass against analog noise.</a:t>
            </a:r>
            <a:br>
              <a:rPr lang="en-US" dirty="0"/>
            </a:br>
            <a:endParaRPr dirty="0"/>
          </a:p>
          <a:p>
            <a:pPr lvl="1"/>
            <a:r>
              <a:rPr b="1" dirty="0"/>
              <a:t>(D) washout → </a:t>
            </a:r>
            <a:r>
              <a:rPr dirty="0" err="1">
                <a:latin typeface="CMU Typewriter Text"/>
              </a:rPr>
              <a:t>HighPassSimple</a:t>
            </a:r>
            <a:r>
              <a:rPr dirty="0"/>
              <a:t> — </a:t>
            </a:r>
            <a:r>
              <a:rPr lang="en-US" dirty="0"/>
              <a:t>implements </a:t>
            </a:r>
            <a:r>
              <a:rPr dirty="0"/>
              <a:t>a first-order Butterworth high-pass</a:t>
            </a:r>
            <a:r>
              <a:rPr lang="en-US" dirty="0"/>
              <a:t> to replace the “washout” (</a:t>
            </a:r>
            <a:r>
              <a:rPr lang="en-US" dirty="0" err="1">
                <a:latin typeface="CMU Typewriter Text" panose="02000609000000000000" pitchFamily="49" charset="0"/>
                <a:ea typeface="CMU Typewriter Text" panose="02000609000000000000" pitchFamily="49" charset="0"/>
                <a:cs typeface="CMU Typewriter Text" panose="02000609000000000000" pitchFamily="49" charset="0"/>
              </a:rPr>
              <a:t>derivativeLag</a:t>
            </a:r>
            <a:r>
              <a:rPr lang="en-US" dirty="0"/>
              <a:t>) block</a:t>
            </a:r>
          </a:p>
          <a:p>
            <a:pPr lvl="2"/>
            <a:r>
              <a:rPr dirty="0"/>
              <a:t>one state, one differential equation, </a:t>
            </a:r>
            <a:endParaRPr lang="en-US" dirty="0"/>
          </a:p>
          <a:p>
            <a:pPr lvl="2"/>
            <a:r>
              <a:rPr dirty="0"/>
              <a:t>one algebraic output, same </a:t>
            </a:r>
            <a:endParaRPr lang="en-US" dirty="0"/>
          </a:p>
          <a:p>
            <a:pPr lvl="2"/>
            <a:r>
              <a:rPr lang="en-US" dirty="0"/>
              <a:t>Benefits:</a:t>
            </a:r>
          </a:p>
          <a:p>
            <a:pPr lvl="3"/>
            <a:r>
              <a:rPr lang="en-US" dirty="0"/>
              <a:t>same </a:t>
            </a:r>
            <a:r>
              <a:rPr dirty="0" err="1"/>
              <a:t>parametrisation</a:t>
            </a:r>
            <a:r>
              <a:rPr dirty="0"/>
              <a:t>, </a:t>
            </a:r>
            <a:endParaRPr lang="en-US" dirty="0"/>
          </a:p>
          <a:p>
            <a:pPr lvl="3"/>
            <a:r>
              <a:rPr dirty="0"/>
              <a:t>no differentiation</a:t>
            </a:r>
            <a:r>
              <a:rPr lang="en-US" dirty="0"/>
              <a:t>!</a:t>
            </a:r>
            <a:endParaRPr dirty="0"/>
          </a:p>
          <a:p>
            <a:r>
              <a:rPr dirty="0">
                <a:solidFill>
                  <a:schemeClr val="accent1"/>
                </a:solidFill>
              </a:rPr>
              <a:t>⇒ Every change is</a:t>
            </a:r>
            <a:r>
              <a:rPr lang="en-US" dirty="0">
                <a:solidFill>
                  <a:schemeClr val="accent1"/>
                </a:solidFill>
              </a:rPr>
              <a:t> at the</a:t>
            </a:r>
            <a:r>
              <a:rPr dirty="0">
                <a:solidFill>
                  <a:schemeClr val="accent1"/>
                </a:solidFill>
              </a:rPr>
              <a:t> model-level</a:t>
            </a:r>
            <a:r>
              <a:rPr lang="en-US" dirty="0">
                <a:solidFill>
                  <a:schemeClr val="accent1"/>
                </a:solidFill>
              </a:rPr>
              <a:t>: </a:t>
            </a:r>
            <a:r>
              <a:rPr lang="en-US" dirty="0" err="1">
                <a:solidFill>
                  <a:schemeClr val="accent1"/>
                </a:solidFill>
              </a:rPr>
              <a:t>MiL</a:t>
            </a:r>
            <a:r>
              <a:rPr lang="en-US" dirty="0">
                <a:solidFill>
                  <a:schemeClr val="accent1"/>
                </a:solidFill>
              </a:rPr>
              <a:t> test can show the effects of every change.</a:t>
            </a:r>
          </a:p>
          <a:p>
            <a:r>
              <a:rPr lang="en-US" dirty="0">
                <a:solidFill>
                  <a:schemeClr val="accent1"/>
                </a:solidFill>
              </a:rPr>
              <a:t>⇒ </a:t>
            </a:r>
            <a:r>
              <a:rPr dirty="0">
                <a:solidFill>
                  <a:schemeClr val="accent1"/>
                </a:solidFill>
              </a:rPr>
              <a:t>The generated code is never edited.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>
          <a:xfrm>
            <a:off x="6545639" y="5181600"/>
            <a:ext cx="5105095" cy="475488"/>
          </a:xfrm>
        </p:spPr>
        <p:txBody>
          <a:bodyPr wrap="square"/>
          <a:lstStyle/>
          <a:p>
            <a:r>
              <a:rPr dirty="0"/>
              <a:t>PSS variants: (A) generic block, (B) OpenIPSL, (C) modified for </a:t>
            </a:r>
            <a:r>
              <a:rPr dirty="0" err="1"/>
              <a:t>eFMI</a:t>
            </a:r>
            <a:r>
              <a:rPr dirty="0"/>
              <a:t> export, </a:t>
            </a:r>
            <a:br>
              <a:rPr lang="en-US" dirty="0"/>
            </a:br>
            <a:r>
              <a:rPr dirty="0"/>
              <a:t>(D) final variant with the simplified high-pass filter</a:t>
            </a:r>
          </a:p>
        </p:txBody>
      </p:sp>
      <p:sp>
        <p:nvSpPr>
          <p:cNvPr id="128" name="Footer"/>
          <p:cNvSpPr>
            <a:spLocks noGrp="1"/>
          </p:cNvSpPr>
          <p:nvPr>
            <p:ph type="ftr" sz="quarter" idx="11"/>
          </p:nvPr>
        </p:nvSpPr>
        <p:spPr>
          <a:xfrm>
            <a:off x="6400800" y="6675120"/>
            <a:ext cx="5486400" cy="16459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</a:defRPr>
            </a:lvl1pPr>
          </a:lstStyle>
          <a:p>
            <a:r>
              <a:t>American Modelica &amp; FMI Conference 2026 · Georgia Tech, Atlanta · 12–14 Oct 2026</a:t>
            </a:r>
          </a:p>
        </p:txBody>
      </p:sp>
      <p:sp>
        <p:nvSpPr>
          <p:cNvPr id="129" name="Slide Number"/>
          <p:cNvSpPr>
            <a:spLocks noGrp="1"/>
          </p:cNvSpPr>
          <p:nvPr>
            <p:ph type="sldNum" sz="quarter" idx="12"/>
          </p:nvPr>
        </p:nvSpPr>
        <p:spPr>
          <a:xfrm>
            <a:off x="11018520" y="6501384"/>
            <a:ext cx="868680" cy="20116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/>
              <a:t>8</a:t>
            </a:fld>
            <a:endParaRPr lang="en-US"/>
          </a:p>
        </p:txBody>
      </p:sp>
      <p:pic>
        <p:nvPicPr>
          <p:cNvPr id="130" name="Picture 129" descr="f04-pss-variants-n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97864"/>
            <a:ext cx="6004375" cy="3764280"/>
          </a:xfrm>
          <a:prstGeom prst="rect">
            <a:avLst/>
          </a:prstGeom>
        </p:spPr>
      </p:pic>
      <p:sp>
        <p:nvSpPr>
          <p:cNvPr id="131" name="Rectangle 130"/>
          <p:cNvSpPr/>
          <p:nvPr/>
        </p:nvSpPr>
        <p:spPr>
          <a:xfrm>
            <a:off x="3651597" y="4003548"/>
            <a:ext cx="2040543" cy="1178052"/>
          </a:xfrm>
          <a:prstGeom prst="rect">
            <a:avLst/>
          </a:prstGeom>
          <a:solidFill>
            <a:srgbClr val="F4F4EF"/>
          </a:solidFill>
          <a:ln w="38100">
            <a:solidFill>
              <a:srgbClr val="008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>
            <a:normAutofit/>
          </a:bodyPr>
          <a:lstStyle/>
          <a:p>
            <a:pPr algn="l"/>
            <a:r>
              <a:rPr sz="1000">
                <a:solidFill>
                  <a:schemeClr val="tx1"/>
                </a:solidFill>
                <a:latin typeface="CMU Typewriter Text"/>
              </a:rPr>
              <a:t>block HighPassSimple</a:t>
            </a:r>
          </a:p>
          <a:p>
            <a:pPr algn="l"/>
            <a:r>
              <a:rPr sz="1000">
                <a:solidFill>
                  <a:schemeClr val="tx1"/>
                </a:solidFill>
                <a:latin typeface="CMU Typewriter Text"/>
              </a:rPr>
              <a:t>  parameter Real K = Kw*Tw;</a:t>
            </a:r>
          </a:p>
          <a:p>
            <a:pPr algn="l"/>
            <a:r>
              <a:rPr sz="1000">
                <a:solidFill>
                  <a:schemeClr val="tx1"/>
                </a:solidFill>
                <a:latin typeface="CMU Typewriter Text"/>
              </a:rPr>
              <a:t>  parameter Real T = Tw;</a:t>
            </a:r>
          </a:p>
          <a:p>
            <a:pPr algn="l"/>
            <a:r>
              <a:rPr sz="1000">
                <a:solidFill>
                  <a:schemeClr val="tx1"/>
                </a:solidFill>
                <a:latin typeface="CMU Typewriter Text"/>
              </a:rPr>
              <a:t>equation</a:t>
            </a:r>
          </a:p>
          <a:p>
            <a:pPr algn="l"/>
            <a:r>
              <a:rPr sz="1000">
                <a:solidFill>
                  <a:schemeClr val="tx1"/>
                </a:solidFill>
                <a:latin typeface="CMU Typewriter Text"/>
              </a:rPr>
              <a:t>  der(x) = (u - x)/T;</a:t>
            </a:r>
          </a:p>
          <a:p>
            <a:pPr algn="l"/>
            <a:r>
              <a:rPr sz="1000">
                <a:solidFill>
                  <a:schemeClr val="tx1"/>
                </a:solidFill>
                <a:latin typeface="CMU Typewriter Text"/>
              </a:rPr>
              <a:t>  y      = K/T*(u - x);</a:t>
            </a:r>
          </a:p>
          <a:p>
            <a:pPr algn="l"/>
            <a:r>
              <a:rPr sz="1000">
                <a:solidFill>
                  <a:schemeClr val="tx1"/>
                </a:solidFill>
                <a:latin typeface="CMU Typewriter Text"/>
              </a:rPr>
              <a:t>end HighPassSimple;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Re-factoring the Plant for </a:t>
            </a:r>
            <a:r>
              <a:rPr lang="en-US" dirty="0" err="1"/>
              <a:t>eFMI</a:t>
            </a:r>
            <a:r>
              <a:rPr lang="en-US" dirty="0"/>
              <a:t> Export: need </a:t>
            </a:r>
            <a:r>
              <a:rPr lang="en-US" dirty="0">
                <a:sym typeface="Wingdings" panose="05000000000000000000" pitchFamily="2" charset="2"/>
              </a:rPr>
              <a:t> RT Simulator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760" y="914399"/>
            <a:ext cx="5637063" cy="5257221"/>
          </a:xfrm>
        </p:spPr>
        <p:txBody>
          <a:bodyPr wrap="square">
            <a:noAutofit/>
          </a:bodyPr>
          <a:lstStyle/>
          <a:p>
            <a:r>
              <a:rPr dirty="0"/>
              <a:t>Three changes for GALEC code generation</a:t>
            </a:r>
            <a:r>
              <a:rPr lang="en-US" dirty="0"/>
              <a:t>:</a:t>
            </a:r>
            <a:br>
              <a:rPr lang="en-US" dirty="0"/>
            </a:br>
            <a:endParaRPr dirty="0"/>
          </a:p>
          <a:p>
            <a:pPr lvl="1"/>
            <a:r>
              <a:rPr b="1" dirty="0"/>
              <a:t>(A) generator unit</a:t>
            </a:r>
            <a:r>
              <a:rPr dirty="0"/>
              <a:t>: </a:t>
            </a:r>
            <a:r>
              <a:rPr dirty="0">
                <a:latin typeface="CMU Typewriter Text"/>
              </a:rPr>
              <a:t>atan3</a:t>
            </a:r>
            <a:r>
              <a:rPr dirty="0"/>
              <a:t> → </a:t>
            </a:r>
            <a:r>
              <a:rPr dirty="0">
                <a:latin typeface="CMU Typewriter Text"/>
              </a:rPr>
              <a:t>atan2</a:t>
            </a:r>
            <a:r>
              <a:rPr dirty="0"/>
              <a:t> in </a:t>
            </a:r>
            <a:r>
              <a:rPr dirty="0" err="1">
                <a:latin typeface="CMU Typewriter Text"/>
              </a:rPr>
              <a:t>baseMachine</a:t>
            </a:r>
            <a:r>
              <a:rPr dirty="0"/>
              <a:t> </a:t>
            </a:r>
            <a:endParaRPr lang="en-US" dirty="0"/>
          </a:p>
          <a:p>
            <a:pPr lvl="2"/>
            <a:r>
              <a:rPr dirty="0"/>
              <a:t>GALEC has no </a:t>
            </a:r>
            <a:r>
              <a:rPr dirty="0">
                <a:latin typeface="CMU Typewriter Text"/>
              </a:rPr>
              <a:t>atan3</a:t>
            </a:r>
            <a:r>
              <a:rPr dirty="0"/>
              <a:t>; </a:t>
            </a:r>
            <a:endParaRPr lang="en-US" dirty="0"/>
          </a:p>
          <a:p>
            <a:pPr lvl="2"/>
            <a:r>
              <a:rPr lang="en-US" dirty="0"/>
              <a:t>M</a:t>
            </a:r>
            <a:r>
              <a:rPr dirty="0"/>
              <a:t>athematically equivalent since the phase angle φ is always 0 in OpenIPSL.</a:t>
            </a:r>
            <a:endParaRPr lang="en-US" dirty="0"/>
          </a:p>
          <a:p>
            <a:pPr lvl="2"/>
            <a:endParaRPr dirty="0"/>
          </a:p>
          <a:p>
            <a:pPr lvl="1"/>
            <a:r>
              <a:rPr b="1" dirty="0"/>
              <a:t>(B)</a:t>
            </a:r>
            <a:r>
              <a:rPr lang="en-US" b="1" dirty="0"/>
              <a:t>/(C) fault and line-openings: </a:t>
            </a:r>
            <a:r>
              <a:rPr lang="en-US" dirty="0"/>
              <a:t>used to disturb the network and assess the controller’s performance.</a:t>
            </a:r>
            <a:br>
              <a:rPr lang="en-US" dirty="0"/>
            </a:br>
            <a:br>
              <a:rPr lang="en-US" dirty="0"/>
            </a:br>
            <a:r>
              <a:rPr lang="en-US" i="1" dirty="0"/>
              <a:t>Why this needs modifications?</a:t>
            </a:r>
            <a:br>
              <a:rPr lang="en-US" i="1" dirty="0"/>
            </a:br>
            <a:r>
              <a:rPr lang="en-US" dirty="0"/>
              <a:t>No global clock exists in CHiL, and fault to be triggered by user</a:t>
            </a:r>
            <a:br>
              <a:rPr lang="en-US" dirty="0"/>
            </a:br>
            <a:br>
              <a:rPr lang="en-US" dirty="0"/>
            </a:br>
            <a:r>
              <a:rPr lang="en-US" i="1" dirty="0"/>
              <a:t>Solution:</a:t>
            </a:r>
            <a:r>
              <a:rPr lang="en-US" dirty="0"/>
              <a:t> implicit </a:t>
            </a:r>
            <a:r>
              <a:rPr lang="en-US" dirty="0">
                <a:latin typeface="CMU Typewriter Text"/>
              </a:rPr>
              <a:t>time</a:t>
            </a:r>
            <a:r>
              <a:rPr lang="en-US" dirty="0"/>
              <a:t>-based switching → </a:t>
            </a:r>
            <a:r>
              <a:rPr lang="en-US" b="1" dirty="0"/>
              <a:t>explicit Boolean inputs</a:t>
            </a:r>
          </a:p>
          <a:p>
            <a:pPr lvl="1"/>
            <a:endParaRPr lang="en-US" b="1" dirty="0"/>
          </a:p>
          <a:p>
            <a:pPr lvl="1"/>
            <a:r>
              <a:rPr b="1" dirty="0"/>
              <a:t>(D) signal conditioning</a:t>
            </a:r>
            <a:r>
              <a:rPr lang="en-US" b="1" dirty="0"/>
              <a:t>:</a:t>
            </a:r>
            <a:r>
              <a:rPr dirty="0"/>
              <a:t> </a:t>
            </a:r>
            <a:endParaRPr lang="en-US" dirty="0"/>
          </a:p>
          <a:p>
            <a:pPr lvl="2"/>
            <a:r>
              <a:rPr lang="en-US" dirty="0"/>
              <a:t>STM32 boards equipped with </a:t>
            </a:r>
            <a:r>
              <a:rPr dirty="0"/>
              <a:t>12-</a:t>
            </a:r>
            <a:r>
              <a:rPr lang="en-US" dirty="0"/>
              <a:t>Bit</a:t>
            </a:r>
            <a:r>
              <a:rPr dirty="0"/>
              <a:t>, 0–3.3 V DAC</a:t>
            </a:r>
            <a:endParaRPr lang="en-US" dirty="0"/>
          </a:p>
          <a:p>
            <a:pPr lvl="2"/>
            <a:r>
              <a:rPr lang="en-US" dirty="0"/>
              <a:t>We need to: </a:t>
            </a:r>
            <a:br>
              <a:rPr lang="en-US" dirty="0"/>
            </a:br>
            <a:r>
              <a:rPr lang="en-US" dirty="0"/>
              <a:t>	</a:t>
            </a:r>
            <a:r>
              <a:rPr dirty="0"/>
              <a:t>remove the 1.0 </a:t>
            </a:r>
            <a:r>
              <a:rPr dirty="0" err="1"/>
              <a:t>pu</a:t>
            </a:r>
            <a:r>
              <a:rPr dirty="0"/>
              <a:t> offset, </a:t>
            </a:r>
            <a:br>
              <a:rPr lang="en-US" dirty="0"/>
            </a:br>
            <a:r>
              <a:rPr lang="en-US" dirty="0"/>
              <a:t>	</a:t>
            </a:r>
            <a:r>
              <a:rPr dirty="0"/>
              <a:t>scale by </a:t>
            </a:r>
            <a:r>
              <a:rPr dirty="0" err="1">
                <a:latin typeface="CMU Typewriter Text"/>
              </a:rPr>
              <a:t>wscale</a:t>
            </a:r>
            <a:r>
              <a:rPr dirty="0">
                <a:latin typeface="CMU Typewriter Text"/>
              </a:rPr>
              <a:t> = 10</a:t>
            </a:r>
            <a:r>
              <a:rPr dirty="0"/>
              <a:t>, </a:t>
            </a:r>
            <a:br>
              <a:rPr lang="en-US" dirty="0"/>
            </a:br>
            <a:r>
              <a:rPr lang="en-US" dirty="0"/>
              <a:t>	</a:t>
            </a:r>
            <a:r>
              <a:rPr dirty="0"/>
              <a:t>re-offset to 1.0.</a:t>
            </a:r>
            <a:endParaRPr lang="en-US" dirty="0"/>
          </a:p>
          <a:p>
            <a:pPr lvl="2"/>
            <a:r>
              <a:rPr dirty="0">
                <a:solidFill>
                  <a:schemeClr val="accent1"/>
                </a:solidFill>
              </a:rPr>
              <a:t>Speed deviations rarely exceed the third decimal — unscaled</a:t>
            </a:r>
            <a:r>
              <a:rPr lang="en-US" dirty="0">
                <a:solidFill>
                  <a:schemeClr val="accent1"/>
                </a:solidFill>
              </a:rPr>
              <a:t>,</a:t>
            </a:r>
            <a:r>
              <a:rPr dirty="0">
                <a:solidFill>
                  <a:schemeClr val="accent1"/>
                </a:solidFill>
              </a:rPr>
              <a:t> 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  <a:sym typeface="Wingdings" panose="05000000000000000000" pitchFamily="2" charset="2"/>
              </a:rPr>
              <a:t></a:t>
            </a:r>
            <a:r>
              <a:rPr dirty="0">
                <a:solidFill>
                  <a:schemeClr val="accent1"/>
                </a:solidFill>
              </a:rPr>
              <a:t>the signal would sit on the quantization floor.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>
          <a:xfrm>
            <a:off x="6455296" y="3587783"/>
            <a:ext cx="5105095" cy="475488"/>
          </a:xfrm>
        </p:spPr>
        <p:txBody>
          <a:bodyPr wrap="square"/>
          <a:lstStyle/>
          <a:p>
            <a:r>
              <a:rPr dirty="0"/>
              <a:t>The plant model: generator with ECS interconnected with a power grid — *.RTS.CHIL.Grid4CHIL</a:t>
            </a:r>
          </a:p>
        </p:txBody>
      </p:sp>
      <p:sp>
        <p:nvSpPr>
          <p:cNvPr id="128" name="Footer"/>
          <p:cNvSpPr>
            <a:spLocks noGrp="1"/>
          </p:cNvSpPr>
          <p:nvPr>
            <p:ph type="ftr" sz="quarter" idx="11"/>
          </p:nvPr>
        </p:nvSpPr>
        <p:spPr>
          <a:xfrm>
            <a:off x="6400800" y="6675120"/>
            <a:ext cx="5486400" cy="16459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</a:defRPr>
            </a:lvl1pPr>
          </a:lstStyle>
          <a:p>
            <a:r>
              <a:t>American Modelica &amp; FMI Conference 2026 · Georgia Tech, Atlanta · 12–14 Oct 2026</a:t>
            </a:r>
          </a:p>
        </p:txBody>
      </p:sp>
      <p:sp>
        <p:nvSpPr>
          <p:cNvPr id="129" name="Slide Number"/>
          <p:cNvSpPr>
            <a:spLocks noGrp="1"/>
          </p:cNvSpPr>
          <p:nvPr>
            <p:ph type="sldNum" sz="quarter" idx="12"/>
          </p:nvPr>
        </p:nvSpPr>
        <p:spPr>
          <a:xfrm>
            <a:off x="11018520" y="6501384"/>
            <a:ext cx="868680" cy="20116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/>
              <a:t>9</a:t>
            </a:fld>
            <a:endParaRPr lang="en-US"/>
          </a:p>
        </p:txBody>
      </p:sp>
      <p:pic>
        <p:nvPicPr>
          <p:cNvPr id="130" name="Picture 129" descr="f05-Grid4CHIL-annotate-pl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36536"/>
            <a:ext cx="5881378" cy="2343246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C86F7A06-D51D-EACA-AC3E-D2819F80B4DC}"/>
              </a:ext>
            </a:extLst>
          </p:cNvPr>
          <p:cNvGrpSpPr/>
          <p:nvPr/>
        </p:nvGrpSpPr>
        <p:grpSpPr>
          <a:xfrm>
            <a:off x="6543737" y="4556243"/>
            <a:ext cx="5138927" cy="1042416"/>
            <a:chOff x="6687008" y="4330384"/>
            <a:chExt cx="5138927" cy="1042416"/>
          </a:xfrm>
        </p:grpSpPr>
        <p:sp>
          <p:nvSpPr>
            <p:cNvPr id="131" name="TextBox 130"/>
            <p:cNvSpPr txBox="1"/>
            <p:nvPr/>
          </p:nvSpPr>
          <p:spPr>
            <a:xfrm>
              <a:off x="6687008" y="4330384"/>
              <a:ext cx="5102352" cy="256032"/>
            </a:xfrm>
            <a:prstGeom prst="rect">
              <a:avLst/>
            </a:prstGeom>
            <a:noFill/>
          </p:spPr>
          <p:txBody>
            <a:bodyPr wrap="square" lIns="27432" tIns="0" rIns="27432" bIns="0" anchor="t">
              <a:normAutofit/>
            </a:bodyPr>
            <a:lstStyle/>
            <a:p>
              <a:pPr algn="l"/>
              <a:r>
                <a:rPr sz="1150" b="1" i="0" dirty="0">
                  <a:solidFill>
                    <a:schemeClr val="accent2"/>
                  </a:solidFill>
                </a:rPr>
                <a:t>Signal conditioning (D) — making the deviation visible to a 12-</a:t>
              </a:r>
              <a:r>
                <a:rPr lang="en-US" sz="1150" b="1" i="0" dirty="0">
                  <a:solidFill>
                    <a:schemeClr val="accent2"/>
                  </a:solidFill>
                </a:rPr>
                <a:t>Bit</a:t>
              </a:r>
              <a:r>
                <a:rPr sz="1150" b="1" i="0" dirty="0">
                  <a:solidFill>
                    <a:schemeClr val="accent2"/>
                  </a:solidFill>
                </a:rPr>
                <a:t> DAC</a:t>
              </a:r>
            </a:p>
          </p:txBody>
        </p:sp>
        <p:sp>
          <p:nvSpPr>
            <p:cNvPr id="132" name="Rounded Rectangle 131"/>
            <p:cNvSpPr/>
            <p:nvPr/>
          </p:nvSpPr>
          <p:spPr>
            <a:xfrm>
              <a:off x="6687008" y="4641280"/>
              <a:ext cx="1051560" cy="731520"/>
            </a:xfrm>
            <a:prstGeom prst="roundRect">
              <a:avLst>
                <a:gd name="adj" fmla="val 7500"/>
              </a:avLst>
            </a:prstGeom>
            <a:solidFill>
              <a:srgbClr val="F2F2F2"/>
            </a:solidFill>
            <a:ln w="9525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09728" tIns="54864" rIns="109728" bIns="54864" rtlCol="0" anchor="ctr">
              <a:normAutofit/>
            </a:bodyPr>
            <a:lstStyle/>
            <a:p>
              <a:pPr algn="ctr"/>
              <a:r>
                <a:rPr sz="1000" b="1">
                  <a:solidFill>
                    <a:srgbClr val="33363A"/>
                  </a:solidFill>
                </a:rPr>
                <a:t>G1.w</a:t>
              </a:r>
            </a:p>
            <a:p>
              <a:pPr algn="ctr"/>
              <a:r>
                <a:rPr sz="800" b="0">
                  <a:solidFill>
                    <a:srgbClr val="33363A"/>
                  </a:solidFill>
                </a:rPr>
                <a:t>1.0 pu nominal</a:t>
              </a:r>
            </a:p>
          </p:txBody>
        </p:sp>
        <p:sp>
          <p:nvSpPr>
            <p:cNvPr id="133" name="Right Arrow 132"/>
            <p:cNvSpPr/>
            <p:nvPr/>
          </p:nvSpPr>
          <p:spPr>
            <a:xfrm>
              <a:off x="7784287" y="4860736"/>
              <a:ext cx="219456" cy="292608"/>
            </a:xfrm>
            <a:prstGeom prst="rightArrow">
              <a:avLst/>
            </a:prstGeom>
            <a:solidFill>
              <a:srgbClr val="F4B6B6"/>
            </a:solidFill>
            <a:ln w="9525">
              <a:solidFill>
                <a:srgbClr val="D6001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09728" tIns="54864" rIns="109728" bIns="54864" rtlCol="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134" name="Rounded Rectangle 133"/>
            <p:cNvSpPr/>
            <p:nvPr/>
          </p:nvSpPr>
          <p:spPr>
            <a:xfrm>
              <a:off x="8049463" y="4641280"/>
              <a:ext cx="1051560" cy="731520"/>
            </a:xfrm>
            <a:prstGeom prst="roundRect">
              <a:avLst>
                <a:gd name="adj" fmla="val 7500"/>
              </a:avLst>
            </a:prstGeom>
            <a:solidFill>
              <a:srgbClr val="F2F2F2"/>
            </a:solidFill>
            <a:ln w="9525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09728" tIns="54864" rIns="109728" bIns="54864" rtlCol="0" anchor="ctr">
              <a:normAutofit/>
            </a:bodyPr>
            <a:lstStyle/>
            <a:p>
              <a:pPr algn="ctr"/>
              <a:r>
                <a:rPr sz="1000" b="1">
                  <a:solidFill>
                    <a:srgbClr val="33363A"/>
                  </a:solidFill>
                </a:rPr>
                <a:t>− 1.0</a:t>
              </a:r>
            </a:p>
            <a:p>
              <a:pPr algn="ctr"/>
              <a:r>
                <a:rPr sz="800" b="0">
                  <a:solidFill>
                    <a:srgbClr val="33363A"/>
                  </a:solidFill>
                </a:rPr>
                <a:t>offset removal</a:t>
              </a:r>
            </a:p>
          </p:txBody>
        </p:sp>
        <p:sp>
          <p:nvSpPr>
            <p:cNvPr id="135" name="Right Arrow 134"/>
            <p:cNvSpPr/>
            <p:nvPr/>
          </p:nvSpPr>
          <p:spPr>
            <a:xfrm>
              <a:off x="9146743" y="4860736"/>
              <a:ext cx="219456" cy="292608"/>
            </a:xfrm>
            <a:prstGeom prst="rightArrow">
              <a:avLst/>
            </a:prstGeom>
            <a:solidFill>
              <a:srgbClr val="F4B6B6"/>
            </a:solidFill>
            <a:ln w="9525">
              <a:solidFill>
                <a:srgbClr val="D6001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09728" tIns="54864" rIns="109728" bIns="54864" rtlCol="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136" name="Rounded Rectangle 135"/>
            <p:cNvSpPr/>
            <p:nvPr/>
          </p:nvSpPr>
          <p:spPr>
            <a:xfrm>
              <a:off x="9411919" y="4641280"/>
              <a:ext cx="1051560" cy="731520"/>
            </a:xfrm>
            <a:prstGeom prst="roundRect">
              <a:avLst>
                <a:gd name="adj" fmla="val 7500"/>
              </a:avLst>
            </a:prstGeom>
            <a:solidFill>
              <a:srgbClr val="F2F4FA"/>
            </a:solidFill>
            <a:ln w="9525">
              <a:solidFill>
                <a:srgbClr val="0000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09728" tIns="54864" rIns="109728" bIns="54864" rtlCol="0" anchor="ctr">
              <a:normAutofit/>
            </a:bodyPr>
            <a:lstStyle/>
            <a:p>
              <a:pPr algn="ctr"/>
              <a:r>
                <a:rPr sz="1000" b="1">
                  <a:solidFill>
                    <a:srgbClr val="0000FF"/>
                  </a:solidFill>
                </a:rPr>
                <a:t>× 10</a:t>
              </a:r>
            </a:p>
            <a:p>
              <a:pPr algn="ctr"/>
              <a:r>
                <a:rPr sz="800" b="0">
                  <a:solidFill>
                    <a:srgbClr val="0000FF"/>
                  </a:solidFill>
                </a:rPr>
                <a:t>wscale</a:t>
              </a:r>
            </a:p>
          </p:txBody>
        </p:sp>
        <p:sp>
          <p:nvSpPr>
            <p:cNvPr id="137" name="Right Arrow 136"/>
            <p:cNvSpPr/>
            <p:nvPr/>
          </p:nvSpPr>
          <p:spPr>
            <a:xfrm>
              <a:off x="10509199" y="4860736"/>
              <a:ext cx="219456" cy="292608"/>
            </a:xfrm>
            <a:prstGeom prst="rightArrow">
              <a:avLst/>
            </a:prstGeom>
            <a:solidFill>
              <a:srgbClr val="F4B6B6"/>
            </a:solidFill>
            <a:ln w="9525">
              <a:solidFill>
                <a:srgbClr val="D6001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09728" tIns="54864" rIns="109728" bIns="54864" rtlCol="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138" name="Rounded Rectangle 137"/>
            <p:cNvSpPr/>
            <p:nvPr/>
          </p:nvSpPr>
          <p:spPr>
            <a:xfrm>
              <a:off x="10774375" y="4641280"/>
              <a:ext cx="1051560" cy="731520"/>
            </a:xfrm>
            <a:prstGeom prst="roundRect">
              <a:avLst>
                <a:gd name="adj" fmla="val 7500"/>
              </a:avLst>
            </a:prstGeom>
            <a:solidFill>
              <a:srgbClr val="F2F2F2"/>
            </a:solidFill>
            <a:ln w="9525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09728" tIns="54864" rIns="109728" bIns="54864" rtlCol="0" anchor="ctr">
              <a:normAutofit/>
            </a:bodyPr>
            <a:lstStyle/>
            <a:p>
              <a:pPr algn="ctr"/>
              <a:r>
                <a:rPr sz="1000" b="1">
                  <a:solidFill>
                    <a:srgbClr val="33363A"/>
                  </a:solidFill>
                </a:rPr>
                <a:t>+ 1.0</a:t>
              </a:r>
            </a:p>
            <a:p>
              <a:pPr algn="ctr"/>
              <a:r>
                <a:rPr sz="800" b="0">
                  <a:solidFill>
                    <a:srgbClr val="33363A"/>
                  </a:solidFill>
                </a:rPr>
                <a:t>DAC centring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365760" y="4596385"/>
            <a:ext cx="11826240" cy="1049272"/>
          </a:xfrm>
        </p:spPr>
        <p:txBody>
          <a:bodyPr wrap="square">
            <a:normAutofit/>
          </a:bodyPr>
          <a:lstStyle/>
          <a:p>
            <a:pPr lvl="1"/>
            <a:r>
              <a:rPr b="1" dirty="0"/>
              <a:t>Visually indistinguishable</a:t>
            </a:r>
            <a:r>
              <a:rPr dirty="0"/>
              <a:t> </a:t>
            </a:r>
            <a:r>
              <a:rPr lang="en-US" dirty="0"/>
              <a:t>(RHS Fig) </a:t>
            </a:r>
            <a:r>
              <a:rPr dirty="0"/>
              <a:t>— the five cases overlay in panel (A); the errors are in (B) and (C).</a:t>
            </a:r>
          </a:p>
          <a:p>
            <a:pPr lvl="1"/>
            <a:r>
              <a:rPr b="1" dirty="0"/>
              <a:t>Peaks in recovery, not in the fault</a:t>
            </a:r>
            <a:r>
              <a:rPr dirty="0"/>
              <a:t> — the worst error occurs near t ≈ 2.06 s, during post-fault recovery, </a:t>
            </a:r>
            <a:r>
              <a:rPr b="1" i="1" dirty="0">
                <a:solidFill>
                  <a:schemeClr val="accent1"/>
                </a:solidFill>
              </a:rPr>
              <a:t>which confirms the numerical stability of the </a:t>
            </a:r>
            <a:r>
              <a:rPr b="1" i="1" dirty="0" err="1">
                <a:solidFill>
                  <a:schemeClr val="accent1"/>
                </a:solidFill>
              </a:rPr>
              <a:t>eFMI</a:t>
            </a:r>
            <a:r>
              <a:rPr b="1" i="1" dirty="0">
                <a:solidFill>
                  <a:schemeClr val="accent1"/>
                </a:solidFill>
              </a:rPr>
              <a:t>-targeted variants.</a:t>
            </a:r>
          </a:p>
          <a:p>
            <a:pPr lvl="1"/>
            <a:r>
              <a:rPr b="1" dirty="0"/>
              <a:t>RMS an order of magnitude below the maxima</a:t>
            </a:r>
            <a:r>
              <a:rPr dirty="0"/>
              <a:t> — these are brief numerical transients, not a systematic bias.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MiL</a:t>
            </a:r>
            <a:r>
              <a:rPr dirty="0"/>
              <a:t>: five variants, one answer</a:t>
            </a:r>
            <a:r>
              <a:rPr lang="en-US" dirty="0"/>
              <a:t> – understanding re-factoring impact</a:t>
            </a:r>
            <a:endParaRPr dirty="0"/>
          </a:p>
        </p:txBody>
      </p:sp>
      <p:sp>
        <p:nvSpPr>
          <p:cNvPr id="134" name="Footer"/>
          <p:cNvSpPr>
            <a:spLocks noGrp="1"/>
          </p:cNvSpPr>
          <p:nvPr>
            <p:ph type="ftr" sz="quarter" idx="11"/>
          </p:nvPr>
        </p:nvSpPr>
        <p:spPr>
          <a:xfrm>
            <a:off x="6400800" y="6675120"/>
            <a:ext cx="5486400" cy="16459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</a:defRPr>
            </a:lvl1pPr>
          </a:lstStyle>
          <a:p>
            <a:r>
              <a:t>American Modelica &amp; FMI Conference 2026 · Georgia Tech, Atlanta · 12–14 Oct 2026</a:t>
            </a:r>
          </a:p>
        </p:txBody>
      </p:sp>
      <p:sp>
        <p:nvSpPr>
          <p:cNvPr id="135" name="Slide Number"/>
          <p:cNvSpPr>
            <a:spLocks noGrp="1"/>
          </p:cNvSpPr>
          <p:nvPr>
            <p:ph type="sldNum" sz="quarter" idx="12"/>
          </p:nvPr>
        </p:nvSpPr>
        <p:spPr>
          <a:xfrm>
            <a:off x="11018520" y="6501384"/>
            <a:ext cx="868680" cy="20116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/>
              <a:t>10</a:t>
            </a:fld>
            <a:endParaRPr lang="en-US"/>
          </a:p>
        </p:txBody>
      </p:sp>
      <p:pic>
        <p:nvPicPr>
          <p:cNvPr id="136" name="Picture 135" descr="sec03_fig4_all_cases_vs_bas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8107" y="932688"/>
            <a:ext cx="3177693" cy="3336578"/>
          </a:xfrm>
          <a:prstGeom prst="rect">
            <a:avLst/>
          </a:prstGeom>
        </p:spPr>
      </p:pic>
      <p:sp>
        <p:nvSpPr>
          <p:cNvPr id="137" name="Rounded Rectangle 136"/>
          <p:cNvSpPr/>
          <p:nvPr/>
        </p:nvSpPr>
        <p:spPr>
          <a:xfrm>
            <a:off x="1906504" y="5759196"/>
            <a:ext cx="2697480" cy="653796"/>
          </a:xfrm>
          <a:prstGeom prst="roundRect">
            <a:avLst>
              <a:gd name="adj" fmla="val 64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 lnSpcReduction="10000"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1.69 × 10⁻⁴ pu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worst-case deviation, all variants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4876800" y="5759196"/>
            <a:ext cx="2697480" cy="653796"/>
          </a:xfrm>
          <a:prstGeom prst="roundRect">
            <a:avLst>
              <a:gd name="adj" fmla="val 64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 lnSpcReduction="10000"/>
          </a:bodyPr>
          <a:lstStyle/>
          <a:p>
            <a:pPr algn="ctr"/>
            <a:r>
              <a:rPr sz="2600" b="1" dirty="0">
                <a:solidFill>
                  <a:srgbClr val="FFFFFF"/>
                </a:solidFill>
              </a:rPr>
              <a:t>8 × 10⁻⁴ </a:t>
            </a:r>
            <a:r>
              <a:rPr sz="2600" b="1" dirty="0" err="1">
                <a:solidFill>
                  <a:srgbClr val="FFFFFF"/>
                </a:solidFill>
              </a:rPr>
              <a:t>pu</a:t>
            </a:r>
            <a:endParaRPr sz="2600" b="1" dirty="0">
              <a:solidFill>
                <a:srgbClr val="FFFFFF"/>
              </a:solidFill>
            </a:endParaRPr>
          </a:p>
          <a:p>
            <a:pPr algn="ctr"/>
            <a:r>
              <a:rPr sz="1100" dirty="0">
                <a:solidFill>
                  <a:srgbClr val="FFFFFF"/>
                </a:solidFill>
              </a:rPr>
              <a:t>12-</a:t>
            </a:r>
            <a:r>
              <a:rPr lang="en-US" sz="1100" dirty="0">
                <a:solidFill>
                  <a:srgbClr val="FFFFFF"/>
                </a:solidFill>
              </a:rPr>
              <a:t>Bit</a:t>
            </a:r>
            <a:r>
              <a:rPr sz="1100" dirty="0">
                <a:solidFill>
                  <a:srgbClr val="FFFFFF"/>
                </a:solidFill>
              </a:rPr>
              <a:t> DAC </a:t>
            </a:r>
            <a:r>
              <a:rPr sz="1100" dirty="0" err="1">
                <a:solidFill>
                  <a:srgbClr val="FFFFFF"/>
                </a:solidFill>
              </a:rPr>
              <a:t>quantisation</a:t>
            </a:r>
            <a:r>
              <a:rPr sz="1100" dirty="0">
                <a:solidFill>
                  <a:srgbClr val="FFFFFF"/>
                </a:solidFill>
              </a:rPr>
              <a:t> floor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7847096" y="5759196"/>
            <a:ext cx="2907792" cy="653796"/>
          </a:xfrm>
          <a:prstGeom prst="roundRect">
            <a:avLst>
              <a:gd name="adj" fmla="val 64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 fontScale="85000" lnSpcReduction="20000"/>
          </a:bodyPr>
          <a:lstStyle/>
          <a:p>
            <a:pPr algn="ctr"/>
            <a:r>
              <a:rPr sz="2600" b="1" dirty="0">
                <a:solidFill>
                  <a:srgbClr val="FFFFFF"/>
                </a:solidFill>
              </a:rPr>
              <a:t>4.7 ×</a:t>
            </a:r>
          </a:p>
          <a:p>
            <a:pPr algn="ctr"/>
            <a:r>
              <a:rPr sz="1100" dirty="0">
                <a:solidFill>
                  <a:srgbClr val="FFFFFF"/>
                </a:solidFill>
              </a:rPr>
              <a:t>margin — the refactoring is invisible to the hardware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4701207" y="971732"/>
            <a:ext cx="3962622" cy="3511114"/>
          </a:xfrm>
          <a:prstGeom prst="roundRect">
            <a:avLst>
              <a:gd name="adj" fmla="val 4878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>
            <a:normAutofit lnSpcReduction="10000"/>
          </a:bodyPr>
          <a:lstStyle/>
          <a:p>
            <a:pPr algn="l"/>
            <a:r>
              <a:rPr lang="en-US" sz="1300" b="1" dirty="0">
                <a:solidFill>
                  <a:schemeClr val="accent2"/>
                </a:solidFill>
              </a:rPr>
              <a:t>Models:</a:t>
            </a:r>
          </a:p>
          <a:p>
            <a:pPr marL="182880" indent="-146304">
              <a:spcBef>
                <a:spcPts val="300"/>
              </a:spcBef>
              <a:buClr>
                <a:schemeClr val="accent1"/>
              </a:buClr>
              <a:buFont typeface="+mn-lt"/>
              <a:buChar char="•"/>
            </a:pPr>
            <a:r>
              <a:rPr lang="en-US" sz="1150" b="1" i="1" dirty="0">
                <a:solidFill>
                  <a:schemeClr val="tx1"/>
                </a:solidFill>
              </a:rPr>
              <a:t>Reference (Ref.) Model: </a:t>
            </a:r>
            <a:r>
              <a:rPr lang="en-US" sz="1150" dirty="0">
                <a:solidFill>
                  <a:schemeClr val="tx1"/>
                </a:solidFill>
              </a:rPr>
              <a:t>represents the deployment of the digital control in a “real-world” power plant</a:t>
            </a:r>
          </a:p>
          <a:p>
            <a:pPr marL="182880" indent="-146304">
              <a:spcBef>
                <a:spcPts val="300"/>
              </a:spcBef>
              <a:buClr>
                <a:schemeClr val="accent1"/>
              </a:buClr>
              <a:buFont typeface="+mn-lt"/>
              <a:buChar char="•"/>
            </a:pPr>
            <a:r>
              <a:rPr lang="en-US" sz="1150" b="1" i="1" dirty="0">
                <a:solidFill>
                  <a:schemeClr val="tx1"/>
                </a:solidFill>
              </a:rPr>
              <a:t>CHiL-Models: </a:t>
            </a:r>
            <a:r>
              <a:rPr lang="en-US" sz="1150" dirty="0">
                <a:solidFill>
                  <a:schemeClr val="tx1"/>
                </a:solidFill>
              </a:rPr>
              <a:t>representation of the experimental controller-hardware-in-the-loop setup we will build with HW </a:t>
            </a:r>
            <a:r>
              <a:rPr lang="en-US" sz="1150" dirty="0">
                <a:solidFill>
                  <a:schemeClr val="tx1"/>
                </a:solidFill>
                <a:sym typeface="Wingdings" panose="05000000000000000000" pitchFamily="2" charset="2"/>
              </a:rPr>
              <a:t> continuous and clocked representation (both controller </a:t>
            </a:r>
            <a:r>
              <a:rPr lang="en-US" sz="1150" b="1" dirty="0">
                <a:solidFill>
                  <a:schemeClr val="tx1"/>
                </a:solidFill>
                <a:sym typeface="Wingdings" panose="05000000000000000000" pitchFamily="2" charset="2"/>
              </a:rPr>
              <a:t>and plant</a:t>
            </a:r>
            <a:r>
              <a:rPr lang="en-US" sz="1150" dirty="0">
                <a:solidFill>
                  <a:schemeClr val="tx1"/>
                </a:solidFill>
                <a:sym typeface="Wingdings" panose="05000000000000000000" pitchFamily="2" charset="2"/>
              </a:rPr>
              <a:t>)</a:t>
            </a:r>
            <a:endParaRPr lang="en-US" sz="1150" b="1" dirty="0">
              <a:solidFill>
                <a:schemeClr val="accent2"/>
              </a:solidFill>
            </a:endParaRPr>
          </a:p>
          <a:p>
            <a:pPr algn="l"/>
            <a:r>
              <a:rPr sz="1300" b="1" dirty="0">
                <a:solidFill>
                  <a:schemeClr val="accent2"/>
                </a:solidFill>
              </a:rPr>
              <a:t>Five cases, same experiment</a:t>
            </a:r>
            <a:endParaRPr sz="1300" dirty="0">
              <a:solidFill>
                <a:schemeClr val="accent2"/>
              </a:solidFill>
            </a:endParaRPr>
          </a:p>
          <a:p>
            <a:pPr marL="182880" indent="-146304" algn="l">
              <a:spcBef>
                <a:spcPts val="300"/>
              </a:spcBef>
              <a:buClr>
                <a:schemeClr val="accent1"/>
              </a:buClr>
              <a:buFont typeface="+mn-lt"/>
              <a:buChar char="•"/>
            </a:pPr>
            <a:r>
              <a:rPr lang="en-US" sz="1150" b="1" i="1" dirty="0">
                <a:solidFill>
                  <a:schemeClr val="tx1"/>
                </a:solidFill>
              </a:rPr>
              <a:t>Sim 1:</a:t>
            </a:r>
            <a:r>
              <a:rPr lang="en-US" sz="1150" dirty="0">
                <a:solidFill>
                  <a:schemeClr val="tx1"/>
                </a:solidFill>
              </a:rPr>
              <a:t> Ref. </a:t>
            </a:r>
            <a:r>
              <a:rPr sz="1150" dirty="0">
                <a:solidFill>
                  <a:schemeClr val="tx1"/>
                </a:solidFill>
              </a:rPr>
              <a:t>with DASSL, </a:t>
            </a:r>
            <a:r>
              <a:rPr lang="en-US" sz="1150" dirty="0">
                <a:solidFill>
                  <a:schemeClr val="tx1"/>
                </a:solidFill>
                <a:latin typeface="CMU Typewriter Text" panose="02000609000000000000" pitchFamily="49" charset="0"/>
                <a:ea typeface="CMU Typewriter Text" panose="02000609000000000000" pitchFamily="49" charset="0"/>
                <a:cs typeface="CMU Typewriter Text" panose="02000609000000000000" pitchFamily="49" charset="0"/>
              </a:rPr>
              <a:t>Interval = 0.0002</a:t>
            </a:r>
            <a:endParaRPr sz="1150" dirty="0">
              <a:solidFill>
                <a:schemeClr val="tx1"/>
              </a:solidFill>
              <a:latin typeface="CMU Typewriter Text" panose="02000609000000000000" pitchFamily="49" charset="0"/>
              <a:ea typeface="CMU Typewriter Text" panose="02000609000000000000" pitchFamily="49" charset="0"/>
              <a:cs typeface="CMU Typewriter Text" panose="02000609000000000000" pitchFamily="49" charset="0"/>
            </a:endParaRPr>
          </a:p>
          <a:p>
            <a:pPr marL="182880" indent="-146304" algn="l">
              <a:spcBef>
                <a:spcPts val="300"/>
              </a:spcBef>
              <a:buClr>
                <a:schemeClr val="accent1"/>
              </a:buClr>
              <a:buFont typeface="+mn-lt"/>
              <a:buChar char="•"/>
            </a:pPr>
            <a:r>
              <a:rPr lang="en-US" sz="1150" b="1" i="1" dirty="0">
                <a:solidFill>
                  <a:schemeClr val="accent1"/>
                </a:solidFill>
              </a:rPr>
              <a:t>Sim 2:</a:t>
            </a:r>
            <a:r>
              <a:rPr lang="en-US" sz="1150" b="1" i="1" dirty="0">
                <a:solidFill>
                  <a:schemeClr val="tx1"/>
                </a:solidFill>
              </a:rPr>
              <a:t> </a:t>
            </a:r>
            <a:r>
              <a:rPr lang="en-US" sz="1150" dirty="0">
                <a:solidFill>
                  <a:schemeClr val="tx1"/>
                </a:solidFill>
              </a:rPr>
              <a:t>Ref. with Exp. Euler, 0.2 </a:t>
            </a:r>
            <a:r>
              <a:rPr lang="en-US" sz="1150" dirty="0" err="1">
                <a:solidFill>
                  <a:schemeClr val="tx1"/>
                </a:solidFill>
              </a:rPr>
              <a:t>ms</a:t>
            </a:r>
            <a:r>
              <a:rPr lang="en-US" sz="1150" dirty="0">
                <a:solidFill>
                  <a:schemeClr val="tx1"/>
                </a:solidFill>
              </a:rPr>
              <a:t> fixed step</a:t>
            </a:r>
          </a:p>
          <a:p>
            <a:pPr marL="182880" indent="-146304">
              <a:spcBef>
                <a:spcPts val="300"/>
              </a:spcBef>
              <a:buClr>
                <a:schemeClr val="accent1"/>
              </a:buClr>
              <a:buFont typeface="+mn-lt"/>
              <a:buChar char="•"/>
            </a:pPr>
            <a:r>
              <a:rPr lang="en-US" sz="1150" b="1" i="1" dirty="0">
                <a:solidFill>
                  <a:srgbClr val="E57000"/>
                </a:solidFill>
              </a:rPr>
              <a:t>Sim 3: </a:t>
            </a:r>
            <a:r>
              <a:rPr lang="en-US" sz="1150" dirty="0">
                <a:solidFill>
                  <a:schemeClr val="tx1"/>
                </a:solidFill>
              </a:rPr>
              <a:t>CHiL (A) with DASSL, </a:t>
            </a:r>
            <a:r>
              <a:rPr lang="en-US" sz="1150" dirty="0">
                <a:solidFill>
                  <a:schemeClr val="tx1"/>
                </a:solidFill>
                <a:latin typeface="CMU Typewriter Text" panose="02000609000000000000" pitchFamily="49" charset="0"/>
                <a:ea typeface="CMU Typewriter Text" panose="02000609000000000000" pitchFamily="49" charset="0"/>
                <a:cs typeface="CMU Typewriter Text" panose="02000609000000000000" pitchFamily="49" charset="0"/>
              </a:rPr>
              <a:t>Interval = 0.0002</a:t>
            </a:r>
            <a:endParaRPr lang="en-US" sz="1150" dirty="0">
              <a:solidFill>
                <a:schemeClr val="tx1"/>
              </a:solidFill>
            </a:endParaRPr>
          </a:p>
          <a:p>
            <a:pPr marL="182880" indent="-146304">
              <a:spcBef>
                <a:spcPts val="300"/>
              </a:spcBef>
              <a:buClr>
                <a:schemeClr val="accent1"/>
              </a:buClr>
              <a:buFont typeface="+mn-lt"/>
              <a:buChar char="•"/>
            </a:pPr>
            <a:r>
              <a:rPr lang="en-US" sz="1150" b="1" i="1" dirty="0">
                <a:solidFill>
                  <a:srgbClr val="0057D9"/>
                </a:solidFill>
              </a:rPr>
              <a:t>Sim 4:</a:t>
            </a:r>
            <a:r>
              <a:rPr lang="en-US" sz="1150" dirty="0">
                <a:solidFill>
                  <a:schemeClr val="tx1"/>
                </a:solidFill>
              </a:rPr>
              <a:t> CHiL (A) with Exp. Euler, 0.2 </a:t>
            </a:r>
            <a:r>
              <a:rPr lang="en-US" sz="1150" dirty="0" err="1">
                <a:solidFill>
                  <a:schemeClr val="tx1"/>
                </a:solidFill>
              </a:rPr>
              <a:t>ms</a:t>
            </a:r>
            <a:r>
              <a:rPr lang="en-US" sz="1150" dirty="0">
                <a:solidFill>
                  <a:schemeClr val="tx1"/>
                </a:solidFill>
              </a:rPr>
              <a:t> fixed step</a:t>
            </a:r>
          </a:p>
          <a:p>
            <a:pPr marL="182880" indent="-146304">
              <a:spcBef>
                <a:spcPts val="300"/>
              </a:spcBef>
              <a:buClr>
                <a:schemeClr val="accent1"/>
              </a:buClr>
              <a:buFont typeface="+mn-lt"/>
              <a:buChar char="•"/>
            </a:pPr>
            <a:r>
              <a:rPr lang="en-US" sz="1150" b="1" i="1" dirty="0">
                <a:solidFill>
                  <a:srgbClr val="9A4CC7"/>
                </a:solidFill>
              </a:rPr>
              <a:t>Sim 5:</a:t>
            </a:r>
            <a:r>
              <a:rPr lang="en-US" sz="1150" dirty="0">
                <a:solidFill>
                  <a:schemeClr val="tx1"/>
                </a:solidFill>
              </a:rPr>
              <a:t> </a:t>
            </a:r>
            <a:r>
              <a:rPr sz="1150" dirty="0" err="1">
                <a:solidFill>
                  <a:schemeClr val="tx1"/>
                </a:solidFill>
              </a:rPr>
              <a:t>C</a:t>
            </a:r>
            <a:r>
              <a:rPr lang="en-US" sz="1150" dirty="0" err="1">
                <a:solidFill>
                  <a:schemeClr val="tx1"/>
                </a:solidFill>
              </a:rPr>
              <a:t>H</a:t>
            </a:r>
            <a:r>
              <a:rPr sz="1150" dirty="0" err="1">
                <a:solidFill>
                  <a:schemeClr val="tx1"/>
                </a:solidFill>
              </a:rPr>
              <a:t>iL</a:t>
            </a:r>
            <a:r>
              <a:rPr lang="en-US" sz="1150" dirty="0">
                <a:solidFill>
                  <a:schemeClr val="tx1"/>
                </a:solidFill>
              </a:rPr>
              <a:t> (B) </a:t>
            </a:r>
            <a:r>
              <a:rPr sz="1150" b="1" i="1" dirty="0">
                <a:solidFill>
                  <a:schemeClr val="tx1"/>
                </a:solidFill>
              </a:rPr>
              <a:t>clocked</a:t>
            </a:r>
            <a:r>
              <a:rPr lang="en-US" sz="1150" b="1" i="1" dirty="0">
                <a:solidFill>
                  <a:schemeClr val="tx1"/>
                </a:solidFill>
              </a:rPr>
              <a:t> representation</a:t>
            </a:r>
            <a:r>
              <a:rPr sz="1150" dirty="0">
                <a:solidFill>
                  <a:schemeClr val="tx1"/>
                </a:solidFill>
              </a:rPr>
              <a:t>, </a:t>
            </a:r>
            <a:r>
              <a:rPr lang="en-US" sz="1150" dirty="0">
                <a:solidFill>
                  <a:schemeClr val="tx1"/>
                </a:solidFill>
              </a:rPr>
              <a:t>with DASSL, </a:t>
            </a:r>
            <a:r>
              <a:rPr lang="en-US" sz="1150" dirty="0">
                <a:solidFill>
                  <a:schemeClr val="tx1"/>
                </a:solidFill>
                <a:latin typeface="CMU Typewriter Text" panose="02000609000000000000" pitchFamily="49" charset="0"/>
                <a:ea typeface="CMU Typewriter Text" panose="02000609000000000000" pitchFamily="49" charset="0"/>
                <a:cs typeface="CMU Typewriter Text" panose="02000609000000000000" pitchFamily="49" charset="0"/>
              </a:rPr>
              <a:t>Interval = 0.0002</a:t>
            </a:r>
          </a:p>
          <a:p>
            <a:pPr marL="182880" indent="-146304">
              <a:spcBef>
                <a:spcPts val="300"/>
              </a:spcBef>
              <a:buClr>
                <a:schemeClr val="accent1"/>
              </a:buClr>
              <a:buFont typeface="+mn-lt"/>
              <a:buChar char="•"/>
            </a:pPr>
            <a:endParaRPr lang="en-US" sz="1150" dirty="0">
              <a:solidFill>
                <a:schemeClr val="tx1"/>
              </a:solidFill>
              <a:latin typeface="CMU Typewriter Text" panose="02000609000000000000" pitchFamily="49" charset="0"/>
              <a:ea typeface="CMU Typewriter Text" panose="02000609000000000000" pitchFamily="49" charset="0"/>
              <a:cs typeface="CMU Typewriter Text" panose="02000609000000000000" pitchFamily="49" charset="0"/>
            </a:endParaRPr>
          </a:p>
          <a:p>
            <a:pPr marL="36576">
              <a:spcBef>
                <a:spcPts val="300"/>
              </a:spcBef>
              <a:buClr>
                <a:schemeClr val="accent1"/>
              </a:buClr>
            </a:pPr>
            <a:r>
              <a:rPr lang="fr-FR" sz="1150" dirty="0">
                <a:solidFill>
                  <a:schemeClr val="tx1"/>
                </a:solidFill>
              </a:rPr>
              <a:t>Explicit-Euler </a:t>
            </a:r>
            <a:r>
              <a:rPr lang="fr-FR" sz="1150" dirty="0" err="1">
                <a:solidFill>
                  <a:schemeClr val="tx1"/>
                </a:solidFill>
              </a:rPr>
              <a:t>baseline</a:t>
            </a:r>
            <a:r>
              <a:rPr lang="fr-FR" sz="1150" dirty="0">
                <a:solidFill>
                  <a:schemeClr val="tx1"/>
                </a:solidFill>
              </a:rPr>
              <a:t> penalty </a:t>
            </a:r>
            <a:r>
              <a:rPr lang="fr-FR" sz="1150" dirty="0" err="1">
                <a:solidFill>
                  <a:schemeClr val="tx1"/>
                </a:solidFill>
              </a:rPr>
              <a:t>alone</a:t>
            </a:r>
            <a:r>
              <a:rPr lang="fr-FR" sz="1150" dirty="0">
                <a:solidFill>
                  <a:schemeClr val="tx1"/>
                </a:solidFill>
              </a:rPr>
              <a:t>: max 3.02 × 10⁻⁵ pu, RMS 9.23 × 10⁻⁶ pu (in </a:t>
            </a:r>
            <a:r>
              <a:rPr lang="fr-FR" sz="1150" dirty="0" err="1">
                <a:solidFill>
                  <a:schemeClr val="tx1"/>
                </a:solidFill>
              </a:rPr>
              <a:t>other</a:t>
            </a:r>
            <a:r>
              <a:rPr lang="fr-FR" sz="1150" dirty="0">
                <a:solidFill>
                  <a:schemeClr val="tx1"/>
                </a:solidFill>
              </a:rPr>
              <a:t> </a:t>
            </a:r>
            <a:r>
              <a:rPr lang="fr-FR" sz="1150" dirty="0" err="1">
                <a:solidFill>
                  <a:schemeClr val="tx1"/>
                </a:solidFill>
              </a:rPr>
              <a:t>words</a:t>
            </a:r>
            <a:r>
              <a:rPr lang="fr-FR" sz="1150" dirty="0">
                <a:solidFill>
                  <a:schemeClr val="tx1"/>
                </a:solidFill>
              </a:rPr>
              <a:t>: noise </a:t>
            </a:r>
            <a:r>
              <a:rPr lang="fr-FR" sz="1150" dirty="0" err="1">
                <a:solidFill>
                  <a:schemeClr val="tx1"/>
                </a:solidFill>
              </a:rPr>
              <a:t>is</a:t>
            </a:r>
            <a:r>
              <a:rPr lang="fr-FR" sz="1150" dirty="0">
                <a:solidFill>
                  <a:schemeClr val="tx1"/>
                </a:solidFill>
              </a:rPr>
              <a:t> &gt;&gt;)</a:t>
            </a:r>
          </a:p>
          <a:p>
            <a:pPr marL="182880" indent="-146304">
              <a:spcBef>
                <a:spcPts val="300"/>
              </a:spcBef>
              <a:buClr>
                <a:schemeClr val="accent1"/>
              </a:buClr>
              <a:buFont typeface="+mn-lt"/>
              <a:buChar char="•"/>
            </a:pPr>
            <a:endParaRPr lang="en-US" sz="1150" dirty="0">
              <a:solidFill>
                <a:schemeClr val="tx1"/>
              </a:solidFill>
              <a:latin typeface="CMU Typewriter Text" panose="02000609000000000000" pitchFamily="49" charset="0"/>
              <a:ea typeface="CMU Typewriter Text" panose="02000609000000000000" pitchFamily="49" charset="0"/>
              <a:cs typeface="CMU Typewriter Text" panose="02000609000000000000" pitchFamily="49" charset="0"/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FE5E5233-E5ED-3B63-F069-C7AAE54720DC}"/>
              </a:ext>
            </a:extLst>
          </p:cNvPr>
          <p:cNvSpPr txBox="1">
            <a:spLocks/>
          </p:cNvSpPr>
          <p:nvPr/>
        </p:nvSpPr>
        <p:spPr>
          <a:xfrm>
            <a:off x="2587504" y="1123589"/>
            <a:ext cx="1772051" cy="1049271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200"/>
              </a:spcBef>
              <a:buNone/>
              <a:defRPr sz="1100" b="0" i="1">
                <a:solidFill>
                  <a:schemeClr val="accent3"/>
                </a:solidFill>
                <a:latin typeface="+mn-lt"/>
              </a:defRPr>
            </a:lvl1pPr>
            <a:lvl2pPr marL="256032" indent="-201168" algn="l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SzPct val="90000"/>
              <a:buFont typeface="+mn-lt"/>
              <a:buChar char="•"/>
              <a:defRPr sz="1350" b="0" i="0">
                <a:solidFill>
                  <a:schemeClr val="tx1"/>
                </a:solidFill>
                <a:latin typeface="+mn-lt"/>
              </a:defRPr>
            </a:lvl2pPr>
            <a:lvl3pPr marL="475488" indent="-182880" algn="l">
              <a:lnSpc>
                <a:spcPct val="100000"/>
              </a:lnSpc>
              <a:spcBef>
                <a:spcPts val="300"/>
              </a:spcBef>
              <a:buClr>
                <a:schemeClr val="accent3"/>
              </a:buClr>
              <a:buSzPct val="90000"/>
              <a:buFont typeface="+mn-lt"/>
              <a:buChar char="–"/>
              <a:defRPr sz="1200" b="0" i="0">
                <a:solidFill>
                  <a:schemeClr val="tx2"/>
                </a:solidFill>
                <a:latin typeface="+mn-lt"/>
              </a:defRPr>
            </a:lvl3pPr>
            <a:lvl4pPr marL="694944" indent="-182880" algn="l">
              <a:lnSpc>
                <a:spcPct val="100000"/>
              </a:lnSpc>
              <a:spcBef>
                <a:spcPts val="300"/>
              </a:spcBef>
              <a:buClr>
                <a:schemeClr val="accent3"/>
              </a:buClr>
              <a:buSzPct val="90000"/>
              <a:buFont typeface="+mn-lt"/>
              <a:buChar char="·"/>
              <a:defRPr sz="1100" b="0" i="0">
                <a:solidFill>
                  <a:schemeClr val="tx2"/>
                </a:solidFill>
                <a:latin typeface="+mn-lt"/>
              </a:defRPr>
            </a:lvl4pPr>
          </a:lstStyle>
          <a:p>
            <a:pPr>
              <a:buClrTx/>
              <a:buFontTx/>
            </a:pPr>
            <a:r>
              <a:rPr lang="en-US" dirty="0"/>
              <a:t>Reference Model (</a:t>
            </a:r>
            <a:r>
              <a:rPr lang="en-US" b="1" dirty="0"/>
              <a:t>Sim1</a:t>
            </a:r>
            <a:r>
              <a:rPr lang="en-US" dirty="0"/>
              <a:t>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(A) Generator in power grid</a:t>
            </a:r>
            <a:br>
              <a:rPr lang="en-US" dirty="0"/>
            </a:br>
            <a:r>
              <a:rPr lang="en-US" dirty="0"/>
              <a:t>(B) Inside the generator unit, showing the PSS</a:t>
            </a:r>
            <a:br>
              <a:rPr lang="en-US" dirty="0"/>
            </a:br>
            <a:r>
              <a:rPr lang="en-US" dirty="0"/>
              <a:t>(C) Reminder of the grid</a:t>
            </a:r>
          </a:p>
        </p:txBody>
      </p:sp>
      <p:pic>
        <p:nvPicPr>
          <p:cNvPr id="6" name="Picture 5" descr="f08-allsetups-2.png">
            <a:extLst>
              <a:ext uri="{FF2B5EF4-FFF2-40B4-BE49-F238E27FC236}">
                <a16:creationId xmlns:a16="http://schemas.microsoft.com/office/drawing/2014/main" id="{271229E6-3425-BD9E-810A-CAA4F843558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6407"/>
          <a:stretch>
            <a:fillRect/>
          </a:stretch>
        </p:blipFill>
        <p:spPr>
          <a:xfrm>
            <a:off x="1906504" y="2540023"/>
            <a:ext cx="2486738" cy="1793530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idx="4"/>
          </p:nvPr>
        </p:nvSpPr>
        <p:spPr>
          <a:xfrm>
            <a:off x="8983827" y="4278411"/>
            <a:ext cx="3131973" cy="274320"/>
          </a:xfrm>
        </p:spPr>
        <p:txBody>
          <a:bodyPr wrap="square">
            <a:normAutofit fontScale="92500"/>
          </a:bodyPr>
          <a:lstStyle/>
          <a:p>
            <a:r>
              <a:rPr dirty="0" err="1"/>
              <a:t>MiL</a:t>
            </a:r>
            <a:r>
              <a:rPr dirty="0"/>
              <a:t> simulations: all cases vs the DASSL reference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5E7001B-A96C-9B29-2B99-C50323149A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5" y="932688"/>
            <a:ext cx="2522481" cy="1563681"/>
          </a:xfrm>
          <a:prstGeom prst="rect">
            <a:avLst/>
          </a:prstGeom>
        </p:spPr>
      </p:pic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6014A5E-2158-765C-3D5F-8696DE34B7AC}"/>
              </a:ext>
            </a:extLst>
          </p:cNvPr>
          <p:cNvSpPr txBox="1">
            <a:spLocks/>
          </p:cNvSpPr>
          <p:nvPr/>
        </p:nvSpPr>
        <p:spPr>
          <a:xfrm>
            <a:off x="127649" y="2904364"/>
            <a:ext cx="1772051" cy="1429189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200"/>
              </a:spcBef>
              <a:buNone/>
              <a:defRPr sz="1100" b="0" i="1">
                <a:solidFill>
                  <a:schemeClr val="accent3"/>
                </a:solidFill>
                <a:latin typeface="+mn-lt"/>
              </a:defRPr>
            </a:lvl1pPr>
            <a:lvl2pPr marL="256032" indent="-201168" algn="l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SzPct val="90000"/>
              <a:buFont typeface="+mn-lt"/>
              <a:buChar char="•"/>
              <a:defRPr sz="1350" b="0" i="0">
                <a:solidFill>
                  <a:schemeClr val="tx1"/>
                </a:solidFill>
                <a:latin typeface="+mn-lt"/>
              </a:defRPr>
            </a:lvl2pPr>
            <a:lvl3pPr marL="475488" indent="-182880" algn="l">
              <a:lnSpc>
                <a:spcPct val="100000"/>
              </a:lnSpc>
              <a:spcBef>
                <a:spcPts val="300"/>
              </a:spcBef>
              <a:buClr>
                <a:schemeClr val="accent3"/>
              </a:buClr>
              <a:buSzPct val="90000"/>
              <a:buFont typeface="+mn-lt"/>
              <a:buChar char="–"/>
              <a:defRPr sz="1200" b="0" i="0">
                <a:solidFill>
                  <a:schemeClr val="tx2"/>
                </a:solidFill>
                <a:latin typeface="+mn-lt"/>
              </a:defRPr>
            </a:lvl3pPr>
            <a:lvl4pPr marL="694944" indent="-182880" algn="l">
              <a:lnSpc>
                <a:spcPct val="100000"/>
              </a:lnSpc>
              <a:spcBef>
                <a:spcPts val="300"/>
              </a:spcBef>
              <a:buClr>
                <a:schemeClr val="accent3"/>
              </a:buClr>
              <a:buSzPct val="90000"/>
              <a:buFont typeface="+mn-lt"/>
              <a:buChar char="·"/>
              <a:defRPr sz="1100" b="0" i="0">
                <a:solidFill>
                  <a:schemeClr val="tx2"/>
                </a:solidFill>
                <a:latin typeface="+mn-lt"/>
              </a:defRPr>
            </a:lvl4pPr>
          </a:lstStyle>
          <a:p>
            <a:pPr>
              <a:buClrTx/>
              <a:buFontTx/>
            </a:pPr>
            <a:r>
              <a:rPr lang="en-US" dirty="0"/>
              <a:t>CHiL Models used for </a:t>
            </a:r>
            <a:br>
              <a:rPr lang="en-US" dirty="0"/>
            </a:br>
            <a:r>
              <a:rPr lang="en-US" dirty="0"/>
              <a:t>Simulations 2-5</a:t>
            </a:r>
            <a:br>
              <a:rPr lang="en-US" dirty="0"/>
            </a:br>
            <a:endParaRPr lang="en-US" dirty="0"/>
          </a:p>
          <a:p>
            <a:pPr>
              <a:buClrTx/>
              <a:buFontTx/>
            </a:pPr>
            <a:r>
              <a:rPr lang="en-US" dirty="0"/>
              <a:t>(A) Continuous time representation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(B) Clocked Representation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Picture 129" descr="SiL-test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798" y="2363515"/>
            <a:ext cx="3581400" cy="349190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8AE471B-2389-1152-3390-141CF13885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7078" y="694944"/>
            <a:ext cx="3387728" cy="223875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eFMU</a:t>
            </a:r>
            <a:r>
              <a:rPr dirty="0"/>
              <a:t> generation and </a:t>
            </a:r>
            <a:r>
              <a:rPr dirty="0" err="1"/>
              <a:t>SiL</a:t>
            </a:r>
            <a:r>
              <a:rPr dirty="0"/>
              <a:t> testing</a:t>
            </a:r>
            <a:r>
              <a:rPr lang="en-US" dirty="0"/>
              <a:t> using Dymola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760" y="914400"/>
            <a:ext cx="5906703" cy="5303520"/>
          </a:xfrm>
        </p:spPr>
        <p:txBody>
          <a:bodyPr wrap="square">
            <a:noAutofit/>
          </a:bodyPr>
          <a:lstStyle/>
          <a:p>
            <a:r>
              <a:rPr dirty="0"/>
              <a:t>Configuration is just a Modelica package</a:t>
            </a:r>
          </a:p>
          <a:p>
            <a:pPr lvl="1"/>
            <a:r>
              <a:rPr dirty="0" err="1">
                <a:latin typeface="CMU Typewriter Text"/>
              </a:rPr>
              <a:t>DymolaEmbedded.EmbeddedConfiguration</a:t>
            </a:r>
            <a:r>
              <a:rPr lang="en-US" dirty="0"/>
              <a:t>:</a:t>
            </a:r>
          </a:p>
          <a:p>
            <a:pPr lvl="2"/>
            <a:r>
              <a:rPr lang="en-US" i="1" dirty="0"/>
              <a:t>Model Configuration:</a:t>
            </a:r>
            <a:r>
              <a:rPr lang="en-US" dirty="0"/>
              <a:t> define the </a:t>
            </a:r>
            <a:r>
              <a:rPr dirty="0"/>
              <a:t>model</a:t>
            </a:r>
            <a:r>
              <a:rPr lang="en-US" dirty="0"/>
              <a:t> subject to </a:t>
            </a:r>
            <a:r>
              <a:rPr lang="en-US" dirty="0" err="1"/>
              <a:t>eFMU</a:t>
            </a:r>
            <a:r>
              <a:rPr lang="en-US" dirty="0"/>
              <a:t> export</a:t>
            </a:r>
          </a:p>
          <a:p>
            <a:pPr lvl="2"/>
            <a:r>
              <a:rPr lang="en-US" i="1" dirty="0"/>
              <a:t>Integrator Configuration:</a:t>
            </a:r>
            <a:r>
              <a:rPr lang="en-US" dirty="0"/>
              <a:t> define fixed </a:t>
            </a:r>
            <a:r>
              <a:rPr dirty="0"/>
              <a:t>sampling period</a:t>
            </a:r>
            <a:r>
              <a:rPr lang="en-US" dirty="0"/>
              <a:t> (mandatory)</a:t>
            </a:r>
            <a:r>
              <a:rPr dirty="0"/>
              <a:t>, </a:t>
            </a:r>
            <a:r>
              <a:rPr lang="en-US" dirty="0"/>
              <a:t>and optional solver method for inline integration. </a:t>
            </a:r>
            <a:br>
              <a:rPr lang="en-US" dirty="0"/>
            </a:br>
            <a:r>
              <a:rPr lang="en-US" dirty="0"/>
              <a:t>Available solvers: Explicit Euler (mature), implicit Euler and </a:t>
            </a:r>
            <a:r>
              <a:rPr lang="en-US" dirty="0" err="1"/>
              <a:t>Ronsenbrock</a:t>
            </a:r>
            <a:r>
              <a:rPr lang="en-US" dirty="0"/>
              <a:t> (under dev).</a:t>
            </a:r>
          </a:p>
          <a:p>
            <a:pPr lvl="2"/>
            <a:r>
              <a:rPr lang="en-US" i="1" dirty="0"/>
              <a:t>Code Configuration: </a:t>
            </a:r>
            <a:r>
              <a:rPr lang="en-US" dirty="0"/>
              <a:t>optional options to obfuscate GALEC code, keep multi-dimensional entries intact, etc.</a:t>
            </a:r>
          </a:p>
          <a:p>
            <a:pPr lvl="2"/>
            <a:r>
              <a:rPr lang="en-US" i="1" dirty="0"/>
              <a:t>Software Production Engineering Configurations: </a:t>
            </a:r>
            <a:r>
              <a:rPr lang="en-US" dirty="0"/>
              <a:t>define the</a:t>
            </a:r>
            <a:br>
              <a:rPr lang="en-US" dirty="0"/>
            </a:br>
            <a:r>
              <a:rPr dirty="0"/>
              <a:t>float</a:t>
            </a:r>
            <a:r>
              <a:rPr lang="en-US" dirty="0"/>
              <a:t>ing-point</a:t>
            </a:r>
            <a:r>
              <a:rPr dirty="0"/>
              <a:t> precision</a:t>
            </a:r>
            <a:r>
              <a:rPr lang="en-US" dirty="0"/>
              <a:t> (</a:t>
            </a:r>
            <a:r>
              <a:rPr lang="en-US" dirty="0" err="1"/>
              <a:t>fpp</a:t>
            </a:r>
            <a:r>
              <a:rPr lang="en-US" dirty="0"/>
              <a:t>)</a:t>
            </a:r>
            <a:r>
              <a:rPr dirty="0"/>
              <a:t>, target architectures.</a:t>
            </a:r>
          </a:p>
          <a:p>
            <a:pPr lvl="1"/>
            <a:r>
              <a:rPr b="1" dirty="0"/>
              <a:t>Fully scriptable</a:t>
            </a:r>
            <a:r>
              <a:rPr lang="en-US" b="1" dirty="0"/>
              <a:t> automation </a:t>
            </a:r>
            <a:r>
              <a:rPr lang="en-US" b="1" dirty="0" err="1"/>
              <a:t>fuctions</a:t>
            </a:r>
            <a:r>
              <a:rPr dirty="0"/>
              <a:t> in </a:t>
            </a:r>
            <a:r>
              <a:rPr dirty="0">
                <a:latin typeface="CMU Typewriter Text"/>
              </a:rPr>
              <a:t>*.</a:t>
            </a:r>
            <a:r>
              <a:rPr dirty="0" err="1">
                <a:latin typeface="CMU Typewriter Text"/>
              </a:rPr>
              <a:t>mos</a:t>
            </a:r>
            <a:r>
              <a:rPr dirty="0"/>
              <a:t>: </a:t>
            </a:r>
            <a:r>
              <a:rPr dirty="0">
                <a:latin typeface="CMU Typewriter Text"/>
              </a:rPr>
              <a:t>build()</a:t>
            </a:r>
            <a:r>
              <a:rPr dirty="0"/>
              <a:t>, </a:t>
            </a:r>
            <a:r>
              <a:rPr dirty="0" err="1">
                <a:latin typeface="CMU Typewriter Text"/>
              </a:rPr>
              <a:t>check_codes</a:t>
            </a:r>
            <a:r>
              <a:rPr dirty="0">
                <a:latin typeface="CMU Typewriter Text"/>
              </a:rPr>
              <a:t>()</a:t>
            </a:r>
            <a:r>
              <a:rPr dirty="0"/>
              <a:t>, </a:t>
            </a:r>
            <a:r>
              <a:rPr dirty="0" err="1">
                <a:latin typeface="CMU Typewriter Text"/>
              </a:rPr>
              <a:t>build_tests</a:t>
            </a:r>
            <a:r>
              <a:rPr dirty="0">
                <a:latin typeface="CMU Typewriter Text"/>
              </a:rPr>
              <a:t>()</a:t>
            </a:r>
            <a:r>
              <a:rPr dirty="0"/>
              <a:t>.</a:t>
            </a:r>
          </a:p>
          <a:p>
            <a:r>
              <a:rPr dirty="0" err="1"/>
              <a:t>SiL</a:t>
            </a:r>
            <a:r>
              <a:rPr dirty="0"/>
              <a:t> </a:t>
            </a:r>
            <a:r>
              <a:rPr lang="en-US" dirty="0"/>
              <a:t>Experiment Packages</a:t>
            </a:r>
          </a:p>
          <a:p>
            <a:pPr lvl="1"/>
            <a:r>
              <a:rPr lang="en-US" dirty="0"/>
              <a:t>Derived from the </a:t>
            </a:r>
            <a:r>
              <a:rPr lang="en-US" dirty="0" err="1"/>
              <a:t>MiL</a:t>
            </a:r>
            <a:r>
              <a:rPr lang="en-US" dirty="0"/>
              <a:t> experiments.</a:t>
            </a:r>
            <a:endParaRPr lang="en-US" b="1" dirty="0"/>
          </a:p>
          <a:p>
            <a:pPr lvl="1"/>
            <a:r>
              <a:rPr b="1" dirty="0"/>
              <a:t>No new test authoring</a:t>
            </a:r>
            <a:r>
              <a:rPr dirty="0"/>
              <a:t> — reference trajectories</a:t>
            </a:r>
            <a:r>
              <a:rPr lang="en-US" dirty="0"/>
              <a:t> come from the existing </a:t>
            </a:r>
            <a:r>
              <a:rPr lang="en-US" dirty="0" err="1"/>
              <a:t>MiL</a:t>
            </a:r>
            <a:r>
              <a:rPr lang="en-US" dirty="0"/>
              <a:t> experiment; tolerances are the only user input</a:t>
            </a:r>
            <a:endParaRPr dirty="0"/>
          </a:p>
          <a:p>
            <a:pPr lvl="1"/>
            <a:r>
              <a:rPr b="1" dirty="0"/>
              <a:t>Deviations</a:t>
            </a:r>
            <a:r>
              <a:rPr lang="en-US" b="1" dirty="0"/>
              <a:t>: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C</a:t>
            </a:r>
            <a:r>
              <a:rPr dirty="0"/>
              <a:t>ontroller ≈3.65 × 10⁻⁴ (32-</a:t>
            </a:r>
            <a:r>
              <a:rPr lang="en-US" dirty="0"/>
              <a:t>Bit </a:t>
            </a:r>
            <a:r>
              <a:rPr lang="en-US" dirty="0" err="1"/>
              <a:t>fpp</a:t>
            </a:r>
            <a:r>
              <a:rPr dirty="0"/>
              <a:t>) / ≈1.39 × 10⁻¹⁶ (64-</a:t>
            </a:r>
            <a:r>
              <a:rPr lang="en-US" dirty="0"/>
              <a:t>Bit </a:t>
            </a:r>
            <a:r>
              <a:rPr lang="en-US" dirty="0" err="1"/>
              <a:t>fpp</a:t>
            </a:r>
            <a:r>
              <a:rPr dirty="0"/>
              <a:t>) </a:t>
            </a:r>
            <a:endParaRPr lang="en-US" dirty="0"/>
          </a:p>
          <a:p>
            <a:pPr lvl="2"/>
            <a:r>
              <a:rPr lang="en-US" dirty="0"/>
              <a:t>P</a:t>
            </a:r>
            <a:r>
              <a:rPr dirty="0"/>
              <a:t>lant ≈1.61 × 10⁻⁴ </a:t>
            </a:r>
            <a:r>
              <a:rPr lang="en-US" dirty="0"/>
              <a:t>(32-Bit </a:t>
            </a:r>
            <a:r>
              <a:rPr lang="en-US" dirty="0" err="1"/>
              <a:t>fpp</a:t>
            </a:r>
            <a:r>
              <a:rPr lang="en-US" dirty="0"/>
              <a:t>) </a:t>
            </a:r>
            <a:r>
              <a:rPr dirty="0"/>
              <a:t>/ ≈1.78 × 10⁻¹⁴</a:t>
            </a:r>
            <a:r>
              <a:rPr lang="en-US" dirty="0"/>
              <a:t> (64-Bit </a:t>
            </a:r>
            <a:r>
              <a:rPr lang="en-US" dirty="0" err="1"/>
              <a:t>fpp</a:t>
            </a:r>
            <a:r>
              <a:rPr lang="en-US" dirty="0"/>
              <a:t>)</a:t>
            </a:r>
            <a:endParaRPr dirty="0"/>
          </a:p>
          <a:p>
            <a:r>
              <a:rPr dirty="0">
                <a:solidFill>
                  <a:schemeClr val="accent1"/>
                </a:solidFill>
              </a:rPr>
              <a:t>32-</a:t>
            </a:r>
            <a:r>
              <a:rPr lang="en-US" dirty="0">
                <a:solidFill>
                  <a:schemeClr val="accent1"/>
                </a:solidFill>
              </a:rPr>
              <a:t>Bit</a:t>
            </a:r>
            <a:r>
              <a:rPr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fpp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dirty="0">
                <a:solidFill>
                  <a:schemeClr val="accent1"/>
                </a:solidFill>
              </a:rPr>
              <a:t>goes on the hardware: </a:t>
            </a:r>
            <a:r>
              <a:rPr lang="en-US" b="0" dirty="0">
                <a:solidFill>
                  <a:schemeClr val="accent1"/>
                </a:solidFill>
              </a:rPr>
              <a:t>t</a:t>
            </a:r>
            <a:r>
              <a:rPr b="0" dirty="0">
                <a:solidFill>
                  <a:schemeClr val="accent1"/>
                </a:solidFill>
              </a:rPr>
              <a:t>he </a:t>
            </a:r>
            <a:r>
              <a:rPr lang="en-US" b="0" dirty="0">
                <a:solidFill>
                  <a:schemeClr val="accent1"/>
                </a:solidFill>
              </a:rPr>
              <a:t>NUCLEO-</a:t>
            </a:r>
            <a:r>
              <a:rPr b="0" dirty="0">
                <a:solidFill>
                  <a:schemeClr val="accent1"/>
                </a:solidFill>
              </a:rPr>
              <a:t>L476RG</a:t>
            </a:r>
            <a:r>
              <a:rPr lang="en-US" b="0" dirty="0">
                <a:solidFill>
                  <a:schemeClr val="accent1"/>
                </a:solidFill>
              </a:rPr>
              <a:t> (controller)</a:t>
            </a:r>
            <a:r>
              <a:rPr b="0" dirty="0">
                <a:solidFill>
                  <a:schemeClr val="accent1"/>
                </a:solidFill>
              </a:rPr>
              <a:t> accelerates only </a:t>
            </a:r>
            <a:r>
              <a:rPr lang="en-US" b="0" dirty="0">
                <a:solidFill>
                  <a:schemeClr val="accent1"/>
                </a:solidFill>
              </a:rPr>
              <a:t>32-Bit </a:t>
            </a:r>
            <a:r>
              <a:rPr lang="en-US" b="0" dirty="0" err="1">
                <a:solidFill>
                  <a:schemeClr val="accent1"/>
                </a:solidFill>
              </a:rPr>
              <a:t>fpp</a:t>
            </a:r>
            <a:r>
              <a:rPr lang="en-US" b="0" dirty="0">
                <a:solidFill>
                  <a:schemeClr val="accent1"/>
                </a:solidFill>
              </a:rPr>
              <a:t>, and 64-Bit </a:t>
            </a:r>
            <a:r>
              <a:rPr lang="en-US" b="0" dirty="0" err="1">
                <a:solidFill>
                  <a:schemeClr val="accent1"/>
                </a:solidFill>
              </a:rPr>
              <a:t>fpp</a:t>
            </a:r>
            <a:r>
              <a:rPr lang="en-US" b="0" dirty="0">
                <a:solidFill>
                  <a:schemeClr val="accent1"/>
                </a:solidFill>
              </a:rPr>
              <a:t> plant code left too little real-time headroom</a:t>
            </a:r>
            <a:r>
              <a:rPr b="0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>
          <a:xfrm>
            <a:off x="6328408" y="5925312"/>
            <a:ext cx="3726180" cy="475488"/>
          </a:xfrm>
        </p:spPr>
        <p:txBody>
          <a:bodyPr wrap="square">
            <a:normAutofit/>
          </a:bodyPr>
          <a:lstStyle/>
          <a:p>
            <a:r>
              <a:rPr dirty="0" err="1"/>
              <a:t>SiL</a:t>
            </a:r>
            <a:r>
              <a:rPr dirty="0"/>
              <a:t> experiment package derived from the </a:t>
            </a:r>
            <a:r>
              <a:rPr dirty="0" err="1"/>
              <a:t>MiL</a:t>
            </a:r>
            <a:r>
              <a:rPr dirty="0"/>
              <a:t> experiment, </a:t>
            </a:r>
            <a:r>
              <a:rPr lang="en-US" dirty="0"/>
              <a:t>&amp;</a:t>
            </a:r>
            <a:r>
              <a:rPr dirty="0"/>
              <a:t> test model for the 32-</a:t>
            </a:r>
            <a:r>
              <a:rPr lang="en-US" dirty="0"/>
              <a:t>Bit</a:t>
            </a:r>
            <a:r>
              <a:rPr dirty="0"/>
              <a:t> production code</a:t>
            </a:r>
          </a:p>
        </p:txBody>
      </p:sp>
      <p:sp>
        <p:nvSpPr>
          <p:cNvPr id="128" name="Footer"/>
          <p:cNvSpPr>
            <a:spLocks noGrp="1"/>
          </p:cNvSpPr>
          <p:nvPr>
            <p:ph type="ftr" sz="quarter" idx="11"/>
          </p:nvPr>
        </p:nvSpPr>
        <p:spPr>
          <a:xfrm>
            <a:off x="6400800" y="6675120"/>
            <a:ext cx="5486400" cy="16459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</a:defRPr>
            </a:lvl1pPr>
          </a:lstStyle>
          <a:p>
            <a:r>
              <a:t>American Modelica &amp; FMI Conference 2026 · Georgia Tech, Atlanta · 12–14 Oct 2026</a:t>
            </a:r>
          </a:p>
        </p:txBody>
      </p:sp>
      <p:sp>
        <p:nvSpPr>
          <p:cNvPr id="129" name="Slide Number"/>
          <p:cNvSpPr>
            <a:spLocks noGrp="1"/>
          </p:cNvSpPr>
          <p:nvPr>
            <p:ph type="sldNum" sz="quarter" idx="12"/>
          </p:nvPr>
        </p:nvSpPr>
        <p:spPr>
          <a:xfrm>
            <a:off x="11018520" y="6501384"/>
            <a:ext cx="868680" cy="20116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/>
              <a:t>11</a:t>
            </a:fld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A0C1B0F7-E13F-9ACE-0EC7-F2C102478100}"/>
              </a:ext>
            </a:extLst>
          </p:cNvPr>
          <p:cNvSpPr txBox="1">
            <a:spLocks/>
          </p:cNvSpPr>
          <p:nvPr/>
        </p:nvSpPr>
        <p:spPr>
          <a:xfrm>
            <a:off x="9982198" y="3020568"/>
            <a:ext cx="2148841" cy="47548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t">
            <a:normAutofit fontScale="92500"/>
          </a:bodyPr>
          <a:lstStyle>
            <a:lvl1pPr marL="0" indent="0" algn="ctr">
              <a:lnSpc>
                <a:spcPct val="100000"/>
              </a:lnSpc>
              <a:spcBef>
                <a:spcPts val="200"/>
              </a:spcBef>
              <a:buNone/>
              <a:defRPr sz="1100" b="0" i="1">
                <a:solidFill>
                  <a:schemeClr val="accent3"/>
                </a:solidFill>
                <a:latin typeface="+mn-lt"/>
              </a:defRPr>
            </a:lvl1pPr>
            <a:lvl2pPr marL="256032" indent="-201168" algn="l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SzPct val="90000"/>
              <a:buFont typeface="+mn-lt"/>
              <a:buChar char="•"/>
              <a:defRPr sz="1350" b="0" i="0">
                <a:solidFill>
                  <a:schemeClr val="tx1"/>
                </a:solidFill>
                <a:latin typeface="+mn-lt"/>
              </a:defRPr>
            </a:lvl2pPr>
            <a:lvl3pPr marL="475488" indent="-182880" algn="l">
              <a:lnSpc>
                <a:spcPct val="100000"/>
              </a:lnSpc>
              <a:spcBef>
                <a:spcPts val="300"/>
              </a:spcBef>
              <a:buClr>
                <a:schemeClr val="accent3"/>
              </a:buClr>
              <a:buSzPct val="90000"/>
              <a:buFont typeface="+mn-lt"/>
              <a:buChar char="–"/>
              <a:defRPr sz="1200" b="0" i="0">
                <a:solidFill>
                  <a:schemeClr val="tx2"/>
                </a:solidFill>
                <a:latin typeface="+mn-lt"/>
              </a:defRPr>
            </a:lvl3pPr>
            <a:lvl4pPr marL="694944" indent="-182880" algn="l">
              <a:lnSpc>
                <a:spcPct val="100000"/>
              </a:lnSpc>
              <a:spcBef>
                <a:spcPts val="300"/>
              </a:spcBef>
              <a:buClr>
                <a:schemeClr val="accent3"/>
              </a:buClr>
              <a:buSzPct val="90000"/>
              <a:buFont typeface="+mn-lt"/>
              <a:buChar char="·"/>
              <a:defRPr sz="1100" b="0" i="0">
                <a:solidFill>
                  <a:schemeClr val="tx2"/>
                </a:solidFill>
                <a:latin typeface="+mn-lt"/>
              </a:defRPr>
            </a:lvl4pPr>
          </a:lstStyle>
          <a:p>
            <a:pPr>
              <a:buClrTx/>
              <a:buFontTx/>
            </a:pPr>
            <a:r>
              <a:rPr lang="en-US" dirty="0" err="1">
                <a:latin typeface="CMU Typewriter Text"/>
              </a:rPr>
              <a:t>DymolaEmbedded</a:t>
            </a:r>
            <a:r>
              <a:rPr lang="en-US" dirty="0">
                <a:latin typeface="CMU Typewriter Text"/>
              </a:rPr>
              <a:t>.</a:t>
            </a:r>
            <a:br>
              <a:rPr lang="en-US" dirty="0">
                <a:latin typeface="CMU Typewriter Text"/>
              </a:rPr>
            </a:br>
            <a:r>
              <a:rPr lang="en-US" dirty="0" err="1">
                <a:latin typeface="CMU Typewriter Text"/>
              </a:rPr>
              <a:t>EmbeddedConfiguration</a:t>
            </a:r>
            <a:r>
              <a:rPr lang="en-US" dirty="0"/>
              <a:t> — </a:t>
            </a:r>
            <a:r>
              <a:rPr lang="en-US" dirty="0" err="1"/>
              <a:t>eFMU</a:t>
            </a:r>
            <a:r>
              <a:rPr lang="en-US" dirty="0"/>
              <a:t> configuration for the PSS controller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00DB324A-2A00-4FA2-5484-54923B594C07}"/>
              </a:ext>
            </a:extLst>
          </p:cNvPr>
          <p:cNvSpPr/>
          <p:nvPr/>
        </p:nvSpPr>
        <p:spPr>
          <a:xfrm rot="16200000">
            <a:off x="8612558" y="1356593"/>
            <a:ext cx="279532" cy="56692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74834834-85FF-3B75-2656-FA401FEC86D6}"/>
              </a:ext>
            </a:extLst>
          </p:cNvPr>
          <p:cNvSpPr/>
          <p:nvPr/>
        </p:nvSpPr>
        <p:spPr>
          <a:xfrm rot="16200000">
            <a:off x="346635" y="3191209"/>
            <a:ext cx="279532" cy="41373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eFMI</a:t>
            </a:r>
            <a:r>
              <a:rPr lang="en-US" dirty="0"/>
              <a:t> </a:t>
            </a:r>
            <a:r>
              <a:rPr dirty="0"/>
              <a:t>generated code</a:t>
            </a:r>
            <a:r>
              <a:rPr lang="en-US" dirty="0"/>
              <a:t> and exchange with FMI</a:t>
            </a:r>
            <a:r>
              <a:rPr dirty="0"/>
              <a:t>: 175× smaller FMUs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365760" y="4975860"/>
            <a:ext cx="11457432" cy="1388364"/>
          </a:xfrm>
        </p:spPr>
        <p:txBody>
          <a:bodyPr wrap="square">
            <a:normAutofit/>
          </a:bodyPr>
          <a:lstStyle/>
          <a:p>
            <a:r>
              <a:rPr sz="1800" dirty="0">
                <a:solidFill>
                  <a:schemeClr val="accent1"/>
                </a:solidFill>
              </a:rPr>
              <a:t>≈175× smaller than the same model exported as an ordinary source-code FMU</a:t>
            </a:r>
            <a:r>
              <a:rPr lang="en-US" sz="1800" dirty="0">
                <a:solidFill>
                  <a:schemeClr val="accent1"/>
                </a:solidFill>
              </a:rPr>
              <a:t>!</a:t>
            </a:r>
            <a:endParaRPr sz="1800" dirty="0">
              <a:solidFill>
                <a:schemeClr val="accent1"/>
              </a:solidFill>
            </a:endParaRPr>
          </a:p>
          <a:p>
            <a:pPr lvl="1"/>
            <a:r>
              <a:rPr lang="en-US" sz="1600" b="1" dirty="0" err="1"/>
              <a:t>eFMU</a:t>
            </a:r>
            <a:r>
              <a:rPr lang="en-US" sz="1600" b="1" dirty="0"/>
              <a:t> exported as source code FMU, the same artefact </a:t>
            </a:r>
            <a:r>
              <a:rPr sz="1600" b="1" dirty="0"/>
              <a:t>imports</a:t>
            </a:r>
            <a:r>
              <a:rPr sz="1600" dirty="0"/>
              <a:t> into </a:t>
            </a:r>
            <a:r>
              <a:rPr sz="1600" dirty="0" err="1"/>
              <a:t>dSPACE</a:t>
            </a:r>
            <a:r>
              <a:rPr sz="1600" dirty="0"/>
              <a:t> </a:t>
            </a:r>
            <a:r>
              <a:rPr sz="1600" dirty="0" err="1"/>
              <a:t>ConfigurationDesk</a:t>
            </a:r>
            <a:r>
              <a:rPr sz="1600" dirty="0"/>
              <a:t>®, TwinCAT® or Silver®, which compile and deploy it themselves — </a:t>
            </a:r>
            <a:r>
              <a:rPr sz="1600" i="1" dirty="0"/>
              <a:t>so </a:t>
            </a:r>
            <a:r>
              <a:rPr sz="1600" i="1" dirty="0" err="1"/>
              <a:t>eFMI</a:t>
            </a:r>
            <a:r>
              <a:rPr sz="1600" i="1" dirty="0"/>
              <a:t> reaches the established real-time platforms</a:t>
            </a:r>
            <a:r>
              <a:rPr lang="en-US" sz="1600" i="1" dirty="0"/>
              <a:t>.</a:t>
            </a:r>
            <a:endParaRPr sz="1600" i="1" dirty="0"/>
          </a:p>
          <a:p>
            <a:pPr lvl="1"/>
            <a:r>
              <a:rPr sz="1600" b="1" dirty="0"/>
              <a:t>Exports also as</a:t>
            </a:r>
            <a:r>
              <a:rPr sz="1600" dirty="0"/>
              <a:t> a Simulink® C Function block or an Arduino® sketch, </a:t>
            </a:r>
            <a:r>
              <a:rPr sz="1600" i="1" dirty="0"/>
              <a:t>with the production code used as is.</a:t>
            </a:r>
          </a:p>
        </p:txBody>
      </p:sp>
      <p:sp>
        <p:nvSpPr>
          <p:cNvPr id="160" name="Footer"/>
          <p:cNvSpPr>
            <a:spLocks noGrp="1"/>
          </p:cNvSpPr>
          <p:nvPr>
            <p:ph type="ftr" sz="quarter" idx="11"/>
          </p:nvPr>
        </p:nvSpPr>
        <p:spPr>
          <a:xfrm>
            <a:off x="6400800" y="6675120"/>
            <a:ext cx="5486400" cy="16459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</a:defRPr>
            </a:lvl1pPr>
          </a:lstStyle>
          <a:p>
            <a:r>
              <a:t>American Modelica &amp; FMI Conference 2026 · Georgia Tech, Atlanta · 12–14 Oct 2026</a:t>
            </a:r>
          </a:p>
        </p:txBody>
      </p:sp>
      <p:sp>
        <p:nvSpPr>
          <p:cNvPr id="161" name="Slide Number"/>
          <p:cNvSpPr>
            <a:spLocks noGrp="1"/>
          </p:cNvSpPr>
          <p:nvPr>
            <p:ph type="sldNum" sz="quarter" idx="12"/>
          </p:nvPr>
        </p:nvSpPr>
        <p:spPr>
          <a:xfrm>
            <a:off x="11018520" y="6501384"/>
            <a:ext cx="868680" cy="20116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/>
              <a:t>12</a:t>
            </a:fld>
            <a:endParaRPr lang="en-US"/>
          </a:p>
        </p:txBody>
      </p:sp>
      <p:sp>
        <p:nvSpPr>
          <p:cNvPr id="162" name="Rounded Rectangle 161"/>
          <p:cNvSpPr/>
          <p:nvPr/>
        </p:nvSpPr>
        <p:spPr>
          <a:xfrm>
            <a:off x="365760" y="186690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2600" b="1" dirty="0">
                <a:solidFill>
                  <a:srgbClr val="FFFFFF"/>
                </a:solidFill>
              </a:rPr>
              <a:t>31 kB</a:t>
            </a:r>
          </a:p>
          <a:p>
            <a:pPr algn="ctr"/>
            <a:r>
              <a:rPr sz="1100" dirty="0">
                <a:solidFill>
                  <a:srgbClr val="FFFFFF"/>
                </a:solidFill>
              </a:rPr>
              <a:t>controller, </a:t>
            </a:r>
            <a:r>
              <a:rPr sz="1100" dirty="0" err="1">
                <a:solidFill>
                  <a:srgbClr val="FFFFFF"/>
                </a:solidFill>
              </a:rPr>
              <a:t>eFMU</a:t>
            </a:r>
            <a:r>
              <a:rPr sz="1100" dirty="0">
                <a:solidFill>
                  <a:srgbClr val="FFFFFF"/>
                </a:solidFill>
              </a:rPr>
              <a:t> source </a:t>
            </a:r>
            <a:r>
              <a:rPr lang="en-US" sz="1100" dirty="0">
                <a:solidFill>
                  <a:srgbClr val="FFFFFF"/>
                </a:solidFill>
              </a:rPr>
              <a:t>code </a:t>
            </a:r>
            <a:r>
              <a:rPr sz="1100" dirty="0">
                <a:solidFill>
                  <a:srgbClr val="FFFFFF"/>
                </a:solidFill>
              </a:rPr>
              <a:t>FMU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3273552" y="186690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5A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2600" b="1" dirty="0">
                <a:solidFill>
                  <a:srgbClr val="FFFFFF"/>
                </a:solidFill>
              </a:rPr>
              <a:t>5.41 MB</a:t>
            </a:r>
          </a:p>
          <a:p>
            <a:pPr algn="ctr"/>
            <a:r>
              <a:rPr sz="1100" dirty="0">
                <a:solidFill>
                  <a:srgbClr val="FFFFFF"/>
                </a:solidFill>
              </a:rPr>
              <a:t>controller, ordinary source</a:t>
            </a:r>
            <a:r>
              <a:rPr lang="en-US" sz="1100" dirty="0">
                <a:solidFill>
                  <a:srgbClr val="FFFFFF"/>
                </a:solidFill>
              </a:rPr>
              <a:t> code</a:t>
            </a:r>
            <a:r>
              <a:rPr sz="1100" dirty="0">
                <a:solidFill>
                  <a:srgbClr val="FFFFFF"/>
                </a:solidFill>
              </a:rPr>
              <a:t> FMU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6181344" y="186690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2600" b="1" dirty="0">
                <a:solidFill>
                  <a:srgbClr val="FFFFFF"/>
                </a:solidFill>
              </a:rPr>
              <a:t>38 kB</a:t>
            </a:r>
          </a:p>
          <a:p>
            <a:pPr algn="ctr"/>
            <a:r>
              <a:rPr sz="1100" dirty="0">
                <a:solidFill>
                  <a:srgbClr val="FFFFFF"/>
                </a:solidFill>
              </a:rPr>
              <a:t>plant, </a:t>
            </a:r>
            <a:r>
              <a:rPr sz="1100" dirty="0" err="1">
                <a:solidFill>
                  <a:srgbClr val="FFFFFF"/>
                </a:solidFill>
              </a:rPr>
              <a:t>eFMU</a:t>
            </a:r>
            <a:r>
              <a:rPr sz="1100" dirty="0">
                <a:solidFill>
                  <a:srgbClr val="FFFFFF"/>
                </a:solidFill>
              </a:rPr>
              <a:t> source</a:t>
            </a:r>
            <a:r>
              <a:rPr lang="en-US" sz="1100" dirty="0">
                <a:solidFill>
                  <a:srgbClr val="FFFFFF"/>
                </a:solidFill>
              </a:rPr>
              <a:t> code</a:t>
            </a:r>
            <a:r>
              <a:rPr sz="1100" dirty="0">
                <a:solidFill>
                  <a:srgbClr val="FFFFFF"/>
                </a:solidFill>
              </a:rPr>
              <a:t> FMU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9089136" y="1866900"/>
            <a:ext cx="2734056" cy="1417320"/>
          </a:xfrm>
          <a:prstGeom prst="roundRect">
            <a:avLst>
              <a:gd name="adj" fmla="val 5161"/>
            </a:avLst>
          </a:prstGeom>
          <a:solidFill>
            <a:srgbClr val="5A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2600" b="1" dirty="0">
                <a:solidFill>
                  <a:srgbClr val="FFFFFF"/>
                </a:solidFill>
              </a:rPr>
              <a:t>5.49 MB</a:t>
            </a:r>
          </a:p>
          <a:p>
            <a:pPr algn="ctr"/>
            <a:r>
              <a:rPr sz="1100" dirty="0">
                <a:solidFill>
                  <a:srgbClr val="FFFFFF"/>
                </a:solidFill>
              </a:rPr>
              <a:t>plant, ordinary source </a:t>
            </a:r>
            <a:r>
              <a:rPr lang="en-US" sz="1100" dirty="0">
                <a:solidFill>
                  <a:srgbClr val="FFFFFF"/>
                </a:solidFill>
              </a:rPr>
              <a:t>code </a:t>
            </a:r>
            <a:r>
              <a:rPr sz="1100" dirty="0">
                <a:solidFill>
                  <a:srgbClr val="FFFFFF"/>
                </a:solidFill>
              </a:rPr>
              <a:t>FMU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365760" y="3512820"/>
            <a:ext cx="5614416" cy="1234440"/>
          </a:xfrm>
          <a:prstGeom prst="roundRect">
            <a:avLst>
              <a:gd name="adj" fmla="val 4444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>
            <a:normAutofit/>
          </a:bodyPr>
          <a:lstStyle/>
          <a:p>
            <a:pPr algn="l"/>
            <a:r>
              <a:rPr sz="1800" b="1" dirty="0">
                <a:solidFill>
                  <a:schemeClr val="accent2"/>
                </a:solidFill>
              </a:rPr>
              <a:t>Compiled binaries, the same story</a:t>
            </a:r>
          </a:p>
          <a:p>
            <a:pPr marL="182880" indent="-146304" algn="l">
              <a:spcBef>
                <a:spcPts val="300"/>
              </a:spcBef>
              <a:buClr>
                <a:schemeClr val="accent1"/>
              </a:buClr>
              <a:buFont typeface="+mn-lt"/>
              <a:buChar char="•"/>
            </a:pPr>
            <a:r>
              <a:rPr sz="1600" i="1" dirty="0" err="1">
                <a:solidFill>
                  <a:schemeClr val="tx1"/>
                </a:solidFill>
              </a:rPr>
              <a:t>eFMU</a:t>
            </a:r>
            <a:r>
              <a:rPr sz="1600" i="1" dirty="0">
                <a:solidFill>
                  <a:schemeClr val="tx1"/>
                </a:solidFill>
              </a:rPr>
              <a:t>-backed</a:t>
            </a:r>
            <a:r>
              <a:rPr lang="en-US" sz="1600" i="1" dirty="0">
                <a:solidFill>
                  <a:schemeClr val="tx1"/>
                </a:solidFill>
              </a:rPr>
              <a:t> FMU</a:t>
            </a:r>
            <a:r>
              <a:rPr sz="1600" i="1" dirty="0">
                <a:solidFill>
                  <a:schemeClr val="tx1"/>
                </a:solidFill>
              </a:rPr>
              <a:t>: </a:t>
            </a:r>
            <a:r>
              <a:rPr sz="1600" dirty="0">
                <a:solidFill>
                  <a:schemeClr val="tx1"/>
                </a:solidFill>
              </a:rPr>
              <a:t>176 kB controller, 220 kB plant</a:t>
            </a:r>
          </a:p>
          <a:p>
            <a:pPr marL="182880" indent="-146304" algn="l">
              <a:spcBef>
                <a:spcPts val="300"/>
              </a:spcBef>
              <a:buClr>
                <a:schemeClr val="accent1"/>
              </a:buClr>
              <a:buFont typeface="+mn-lt"/>
              <a:buChar char="•"/>
            </a:pPr>
            <a:r>
              <a:rPr sz="1600" i="1" dirty="0">
                <a:solidFill>
                  <a:schemeClr val="tx1"/>
                </a:solidFill>
              </a:rPr>
              <a:t>Ordinary Dymola binary FMU: </a:t>
            </a:r>
            <a:r>
              <a:rPr sz="1600" dirty="0">
                <a:solidFill>
                  <a:schemeClr val="tx1"/>
                </a:solidFill>
              </a:rPr>
              <a:t>2.84 MB and 2.93 MB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6203429" y="3512820"/>
            <a:ext cx="5614416" cy="1234440"/>
          </a:xfrm>
          <a:prstGeom prst="roundRect">
            <a:avLst>
              <a:gd name="adj" fmla="val 4444"/>
            </a:avLst>
          </a:prstGeom>
          <a:solidFill>
            <a:srgbClr val="EEF7EE"/>
          </a:solidFill>
          <a:ln w="9525">
            <a:solidFill>
              <a:srgbClr val="007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>
            <a:normAutofit/>
          </a:bodyPr>
          <a:lstStyle/>
          <a:p>
            <a:pPr algn="l"/>
            <a:r>
              <a:rPr sz="1800" b="1" dirty="0">
                <a:solidFill>
                  <a:srgbClr val="007733"/>
                </a:solidFill>
              </a:rPr>
              <a:t>Why it matters</a:t>
            </a:r>
          </a:p>
          <a:p>
            <a:pPr marL="182880" indent="-146304" algn="l">
              <a:spcBef>
                <a:spcPts val="300"/>
              </a:spcBef>
              <a:buClr>
                <a:schemeClr val="accent1"/>
              </a:buClr>
              <a:buFont typeface="+mn-lt"/>
              <a:buChar char="•"/>
            </a:pPr>
            <a:r>
              <a:rPr sz="1600" b="1" i="1" dirty="0">
                <a:solidFill>
                  <a:schemeClr val="tx1"/>
                </a:solidFill>
              </a:rPr>
              <a:t>It is what lets the code fit a microcontrolle</a:t>
            </a:r>
            <a:r>
              <a:rPr lang="en-US" sz="1600" b="1" i="1" dirty="0">
                <a:solidFill>
                  <a:schemeClr val="tx1"/>
                </a:solidFill>
              </a:rPr>
              <a:t>r!</a:t>
            </a:r>
            <a:endParaRPr sz="1600" b="1" i="1" dirty="0">
              <a:solidFill>
                <a:schemeClr val="tx1"/>
              </a:solidFill>
            </a:endParaRPr>
          </a:p>
          <a:p>
            <a:pPr marL="182880" indent="-146304" algn="l">
              <a:spcBef>
                <a:spcPts val="300"/>
              </a:spcBef>
              <a:buClr>
                <a:schemeClr val="accent1"/>
              </a:buClr>
              <a:buFont typeface="+mn-lt"/>
              <a:buChar char="•"/>
            </a:pPr>
            <a:r>
              <a:rPr sz="1600" dirty="0">
                <a:solidFill>
                  <a:schemeClr val="tx1"/>
                </a:solidFill>
              </a:rPr>
              <a:t>No dependency beyond </a:t>
            </a:r>
            <a:r>
              <a:rPr sz="1600" b="1" dirty="0" err="1">
                <a:solidFill>
                  <a:schemeClr val="tx1"/>
                </a:solidFill>
                <a:latin typeface="CMU Typewriter Text" panose="02000609000000000000" pitchFamily="49" charset="0"/>
                <a:ea typeface="CMU Typewriter Text" panose="02000609000000000000" pitchFamily="49" charset="0"/>
                <a:cs typeface="CMU Typewriter Text" panose="02000609000000000000" pitchFamily="49" charset="0"/>
              </a:rPr>
              <a:t>math.h</a:t>
            </a:r>
            <a:r>
              <a:rPr sz="1600" dirty="0">
                <a:solidFill>
                  <a:schemeClr val="tx1"/>
                </a:solidFill>
              </a:rPr>
              <a:t> — portable by construction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D64746-D41E-EB5A-B29F-02F57527C5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1743" b="42034"/>
          <a:stretch>
            <a:fillRect/>
          </a:stretch>
        </p:blipFill>
        <p:spPr>
          <a:xfrm>
            <a:off x="1325761" y="1139009"/>
            <a:ext cx="3694414" cy="4992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30A3566-E4C1-DA97-261A-D4BF0ED843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554" y="775213"/>
            <a:ext cx="3042194" cy="110742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Production code quality: MISRA C:2023 and SEI CERT 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760" y="914400"/>
            <a:ext cx="8991600" cy="5303520"/>
          </a:xfrm>
        </p:spPr>
        <p:txBody>
          <a:bodyPr wrap="square"/>
          <a:lstStyle/>
          <a:p>
            <a:r>
              <a:rPr dirty="0"/>
              <a:t>The analysis is deliberately as strict as it goes</a:t>
            </a:r>
          </a:p>
          <a:p>
            <a:pPr lvl="1"/>
            <a:r>
              <a:rPr b="1" dirty="0" err="1"/>
              <a:t>Cppcheck</a:t>
            </a:r>
            <a:r>
              <a:rPr b="1" dirty="0"/>
              <a:t> Premium 26.3.0</a:t>
            </a:r>
            <a:r>
              <a:rPr dirty="0"/>
              <a:t> — exhaustive check level, style and information analyses, inconclusive reports included, MISRA C:2023 and SEI CERT C enabled</a:t>
            </a:r>
          </a:p>
          <a:p>
            <a:pPr lvl="1"/>
            <a:r>
              <a:rPr b="1" dirty="0"/>
              <a:t>clang-tidy (Clang Tools 19.1.5)</a:t>
            </a:r>
            <a:r>
              <a:rPr dirty="0"/>
              <a:t> — all checks except four, each excluded for a stated reason: short physics variable names, magic numbers in equations, loop unrolling left to the compiler, and struct alignment left to the compiler</a:t>
            </a:r>
          </a:p>
          <a:p>
            <a:r>
              <a:rPr dirty="0"/>
              <a:t>204 reports, none of them a defect</a:t>
            </a:r>
          </a:p>
          <a:p>
            <a:pPr lvl="1"/>
            <a:r>
              <a:rPr b="1" dirty="0"/>
              <a:t>The only reports clang-tidy raises</a:t>
            </a:r>
            <a:r>
              <a:rPr dirty="0"/>
              <a:t> are 64-</a:t>
            </a:r>
            <a:r>
              <a:rPr lang="en-US" dirty="0"/>
              <a:t>Bit</a:t>
            </a:r>
            <a:r>
              <a:rPr dirty="0"/>
              <a:t> literals narrowed into 32-</a:t>
            </a:r>
            <a:r>
              <a:rPr lang="en-US" dirty="0"/>
              <a:t>Bit</a:t>
            </a:r>
            <a:r>
              <a:rPr dirty="0"/>
              <a:t> variables — intended, but Dymola omits the </a:t>
            </a:r>
            <a:r>
              <a:rPr dirty="0">
                <a:latin typeface="CMU Typewriter Text"/>
              </a:rPr>
              <a:t>F</a:t>
            </a:r>
            <a:r>
              <a:rPr dirty="0"/>
              <a:t> suffix that would make it explicit — and false-positive uninitialized locals</a:t>
            </a:r>
          </a:p>
          <a:p>
            <a:r>
              <a:rPr dirty="0">
                <a:solidFill>
                  <a:schemeClr val="accent1"/>
                </a:solidFill>
              </a:rPr>
              <a:t>One genuine-looking MISRA violation</a:t>
            </a:r>
            <a:r>
              <a:rPr lang="en-US" dirty="0">
                <a:solidFill>
                  <a:schemeClr val="accent1"/>
                </a:solidFill>
              </a:rPr>
              <a:t>: “A loop counter shall not have essentially floating type”, false-positive, </a:t>
            </a:r>
            <a:r>
              <a:rPr dirty="0" err="1">
                <a:solidFill>
                  <a:schemeClr val="accent1"/>
                </a:solidFill>
              </a:rPr>
              <a:t>Cppcheck</a:t>
            </a:r>
            <a:r>
              <a:rPr dirty="0">
                <a:solidFill>
                  <a:schemeClr val="accent1"/>
                </a:solidFill>
              </a:rPr>
              <a:t> bug — fixed upstream in 26.6.0 </a:t>
            </a:r>
            <a:r>
              <a:rPr lang="en-US" dirty="0">
                <a:solidFill>
                  <a:schemeClr val="accent1"/>
                </a:solidFill>
              </a:rPr>
              <a:t>based </a:t>
            </a:r>
            <a:r>
              <a:rPr dirty="0">
                <a:solidFill>
                  <a:schemeClr val="accent1"/>
                </a:solidFill>
              </a:rPr>
              <a:t>on our report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9555480" y="914400"/>
            <a:ext cx="2270455" cy="1658112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</p:spPr>
        <p:txBody>
          <a:bodyPr wrap="square">
            <a:normAutofit lnSpcReduction="10000"/>
          </a:bodyPr>
          <a:lstStyle/>
          <a:p>
            <a:r>
              <a:rPr dirty="0"/>
              <a:t>159 × MISRA 8.7</a:t>
            </a:r>
          </a:p>
          <a:p>
            <a:pPr lvl="1"/>
            <a:r>
              <a:rPr lang="en-US" dirty="0"/>
              <a:t>A</a:t>
            </a:r>
            <a:r>
              <a:rPr dirty="0"/>
              <a:t>dvisory: external linkage in one translation unit</a:t>
            </a:r>
          </a:p>
          <a:p>
            <a:pPr lvl="1"/>
            <a:r>
              <a:rPr lang="en-US" dirty="0"/>
              <a:t>A</a:t>
            </a:r>
            <a:r>
              <a:rPr dirty="0"/>
              <a:t>ll are GALEC built-ins, intended as a shared library</a:t>
            </a:r>
            <a:endParaRPr lang="en-US" dirty="0"/>
          </a:p>
          <a:p>
            <a:pPr lvl="1"/>
            <a:r>
              <a:rPr lang="en-US" b="1" dirty="0"/>
              <a:t>Can be ignored.</a:t>
            </a:r>
            <a:endParaRPr b="1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>
          <a:xfrm>
            <a:off x="9555480" y="2737104"/>
            <a:ext cx="2270455" cy="1658112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</p:spPr>
        <p:txBody>
          <a:bodyPr wrap="square"/>
          <a:lstStyle/>
          <a:p>
            <a:r>
              <a:rPr dirty="0"/>
              <a:t>23 × SEI CERT DCL06-C</a:t>
            </a:r>
          </a:p>
          <a:p>
            <a:pPr lvl="1"/>
            <a:r>
              <a:rPr lang="en-US" dirty="0"/>
              <a:t>Use s</a:t>
            </a:r>
            <a:r>
              <a:rPr dirty="0"/>
              <a:t>ymbolic constants for literals</a:t>
            </a:r>
          </a:p>
          <a:p>
            <a:pPr lvl="1"/>
            <a:r>
              <a:rPr lang="en-US" dirty="0"/>
              <a:t>Stem from m</a:t>
            </a:r>
            <a:r>
              <a:rPr dirty="0"/>
              <a:t>agic numbers in physics equations</a:t>
            </a:r>
            <a:endParaRPr lang="en-US" dirty="0"/>
          </a:p>
          <a:p>
            <a:pPr lvl="1"/>
            <a:r>
              <a:rPr lang="en-US" b="1" dirty="0"/>
              <a:t>Can be ignored too.</a:t>
            </a:r>
            <a:endParaRPr b="1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4"/>
          </p:nvPr>
        </p:nvSpPr>
        <p:spPr>
          <a:xfrm>
            <a:off x="9555480" y="4559808"/>
            <a:ext cx="2270455" cy="1407429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</p:spPr>
        <p:txBody>
          <a:bodyPr wrap="square"/>
          <a:lstStyle/>
          <a:p>
            <a:r>
              <a:rPr dirty="0"/>
              <a:t>3 × SEI CERT INT30-C</a:t>
            </a:r>
          </a:p>
          <a:p>
            <a:pPr lvl="1"/>
            <a:r>
              <a:rPr lang="en-US" dirty="0"/>
              <a:t>U</a:t>
            </a:r>
            <a:r>
              <a:rPr dirty="0"/>
              <a:t>nsigned wrap</a:t>
            </a:r>
          </a:p>
          <a:p>
            <a:pPr lvl="1"/>
            <a:r>
              <a:rPr lang="en-US" dirty="0"/>
              <a:t>I</a:t>
            </a:r>
            <a:r>
              <a:rPr dirty="0"/>
              <a:t>mpossible: </a:t>
            </a:r>
            <a:r>
              <a:rPr dirty="0">
                <a:latin typeface="CMU Typewriter Text"/>
              </a:rPr>
              <a:t>index - 1</a:t>
            </a:r>
            <a:r>
              <a:rPr dirty="0"/>
              <a:t> ≥ 0 </a:t>
            </a:r>
            <a:endParaRPr lang="en-US" dirty="0"/>
          </a:p>
          <a:p>
            <a:pPr lvl="1"/>
            <a:r>
              <a:rPr dirty="0"/>
              <a:t>GALEC indexes from 1</a:t>
            </a:r>
            <a:endParaRPr lang="en-US" dirty="0"/>
          </a:p>
          <a:p>
            <a:pPr lvl="1"/>
            <a:r>
              <a:rPr lang="en-US" b="1" dirty="0"/>
              <a:t>False positives.</a:t>
            </a:r>
          </a:p>
          <a:p>
            <a:pPr marL="36576" lvl="1" indent="0">
              <a:buNone/>
            </a:pPr>
            <a:endParaRPr lang="en-US" b="1" dirty="0"/>
          </a:p>
          <a:p>
            <a:pPr lvl="1"/>
            <a:endParaRPr dirty="0"/>
          </a:p>
        </p:txBody>
      </p:sp>
      <p:sp>
        <p:nvSpPr>
          <p:cNvPr id="153" name="Footer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</a:defRPr>
            </a:lvl1pPr>
          </a:lstStyle>
          <a:p>
            <a:r>
              <a:t>American Modelica &amp; FMI Conference 2026 · Georgia Tech, Atlanta · 12–14 Oct 2026</a:t>
            </a:r>
          </a:p>
        </p:txBody>
      </p:sp>
      <p:sp>
        <p:nvSpPr>
          <p:cNvPr id="154" name="Slide Number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/>
              <a:t>13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01DF25-9644-EEBE-FB46-0DC0C1AA1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320" y="3716781"/>
            <a:ext cx="5807479" cy="225045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3265ACA-E136-EA28-8883-D1F52546F6B2}"/>
              </a:ext>
            </a:extLst>
          </p:cNvPr>
          <p:cNvSpPr txBox="1"/>
          <p:nvPr/>
        </p:nvSpPr>
        <p:spPr>
          <a:xfrm>
            <a:off x="2225040" y="6054105"/>
            <a:ext cx="580747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lang="en-US" sz="1100" i="1" dirty="0">
                <a:solidFill>
                  <a:schemeClr val="accent3"/>
                </a:solidFill>
              </a:rPr>
              <a:t> Excerpt of the </a:t>
            </a:r>
            <a:r>
              <a:rPr lang="en-US" sz="1100" i="1" dirty="0" err="1">
                <a:solidFill>
                  <a:schemeClr val="accent3"/>
                </a:solidFill>
              </a:rPr>
              <a:t>Cppcheck</a:t>
            </a:r>
            <a:r>
              <a:rPr lang="en-US" sz="1100" i="1" dirty="0">
                <a:solidFill>
                  <a:schemeClr val="accent3"/>
                </a:solidFill>
              </a:rPr>
              <a:t> Premium report for the 32-Bit floating-point precision production code generated for the PSS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STM32 integration and the CHiL bench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4"/>
          </p:nvPr>
        </p:nvSpPr>
        <p:spPr>
          <a:xfrm>
            <a:off x="7858963" y="4478655"/>
            <a:ext cx="4157472" cy="291846"/>
          </a:xfrm>
        </p:spPr>
        <p:txBody>
          <a:bodyPr wrap="square">
            <a:normAutofit/>
          </a:bodyPr>
          <a:lstStyle/>
          <a:p>
            <a:pPr algn="r"/>
            <a:r>
              <a:rPr dirty="0"/>
              <a:t>CHiL </a:t>
            </a:r>
            <a:r>
              <a:rPr lang="en-US" dirty="0"/>
              <a:t>test </a:t>
            </a:r>
            <a:r>
              <a:rPr dirty="0"/>
              <a:t>bench: </a:t>
            </a:r>
            <a:r>
              <a:rPr lang="en-US" dirty="0"/>
              <a:t>(C) </a:t>
            </a:r>
            <a:r>
              <a:rPr dirty="0"/>
              <a:t>controller</a:t>
            </a:r>
            <a:r>
              <a:rPr lang="en-US" dirty="0"/>
              <a:t>, </a:t>
            </a:r>
            <a:r>
              <a:rPr dirty="0"/>
              <a:t>(</a:t>
            </a:r>
            <a:r>
              <a:rPr lang="en-US" dirty="0"/>
              <a:t>P) </a:t>
            </a:r>
            <a:r>
              <a:rPr dirty="0"/>
              <a:t>plant</a:t>
            </a:r>
            <a:r>
              <a:rPr lang="en-US" dirty="0"/>
              <a:t>, (M) </a:t>
            </a:r>
            <a:r>
              <a:rPr dirty="0"/>
              <a:t>Analog Discovery 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365761" y="3299460"/>
            <a:ext cx="7421879" cy="2918460"/>
          </a:xfrm>
        </p:spPr>
        <p:txBody>
          <a:bodyPr wrap="square">
            <a:normAutofit fontScale="92500" lnSpcReduction="10000"/>
          </a:bodyPr>
          <a:lstStyle/>
          <a:p>
            <a:pPr lvl="1"/>
            <a:r>
              <a:rPr sz="1600" b="1" dirty="0"/>
              <a:t>Production Code containers are symbolically linked</a:t>
            </a:r>
            <a:r>
              <a:rPr sz="1600" dirty="0"/>
              <a:t> into the STM32CubeIDE projects</a:t>
            </a:r>
            <a:r>
              <a:rPr lang="en-US" sz="1600" dirty="0"/>
              <a:t>:</a:t>
            </a:r>
            <a:r>
              <a:rPr sz="1600" dirty="0"/>
              <a:t> </a:t>
            </a:r>
            <a:endParaRPr lang="en-US" sz="1600" dirty="0"/>
          </a:p>
          <a:p>
            <a:pPr lvl="2"/>
            <a:r>
              <a:rPr sz="1600" dirty="0"/>
              <a:t>re-export from Dymola, </a:t>
            </a:r>
            <a:r>
              <a:rPr lang="en-US" sz="1600" dirty="0"/>
              <a:t>just </a:t>
            </a:r>
            <a:r>
              <a:rPr sz="1600" dirty="0"/>
              <a:t>refresh</a:t>
            </a:r>
            <a:r>
              <a:rPr lang="en-US" sz="1600" dirty="0"/>
              <a:t> and</a:t>
            </a:r>
            <a:r>
              <a:rPr sz="1600" dirty="0"/>
              <a:t> rebuild</a:t>
            </a:r>
            <a:endParaRPr lang="en-US" sz="1600" dirty="0"/>
          </a:p>
          <a:p>
            <a:pPr lvl="2"/>
            <a:r>
              <a:rPr sz="1600" dirty="0"/>
              <a:t>No manual re-import</a:t>
            </a:r>
            <a:r>
              <a:rPr lang="en-US" sz="1600" dirty="0"/>
              <a:t> </a:t>
            </a:r>
            <a:r>
              <a:rPr lang="en-US" sz="1600" dirty="0">
                <a:sym typeface="Wingdings" panose="05000000000000000000" pitchFamily="2" charset="2"/>
              </a:rPr>
              <a:t> </a:t>
            </a:r>
            <a:r>
              <a:rPr sz="1600" dirty="0"/>
              <a:t>makes the prototyping loop fast.</a:t>
            </a:r>
            <a:br>
              <a:rPr lang="en-US" sz="1600" dirty="0"/>
            </a:br>
            <a:endParaRPr sz="1600" dirty="0"/>
          </a:p>
          <a:p>
            <a:pPr lvl="1"/>
            <a:r>
              <a:rPr sz="1600" b="1" dirty="0"/>
              <a:t>Integration is confined to </a:t>
            </a:r>
            <a:r>
              <a:rPr sz="1600" dirty="0" err="1">
                <a:latin typeface="CMU Typewriter Text"/>
              </a:rPr>
              <a:t>main.c</a:t>
            </a:r>
            <a:r>
              <a:rPr sz="1600" dirty="0"/>
              <a:t>: </a:t>
            </a:r>
            <a:endParaRPr lang="en-US" sz="1600" dirty="0"/>
          </a:p>
          <a:p>
            <a:pPr lvl="2"/>
            <a:r>
              <a:rPr sz="1600" dirty="0"/>
              <a:t>include the block header, call </a:t>
            </a:r>
            <a:r>
              <a:rPr sz="1600" dirty="0">
                <a:latin typeface="CMU Typewriter Text"/>
              </a:rPr>
              <a:t>Startup()</a:t>
            </a:r>
            <a:r>
              <a:rPr sz="1600" dirty="0"/>
              <a:t> and </a:t>
            </a:r>
            <a:r>
              <a:rPr sz="1600" dirty="0" err="1">
                <a:latin typeface="CMU Typewriter Text"/>
              </a:rPr>
              <a:t>DoStep</a:t>
            </a:r>
            <a:r>
              <a:rPr sz="1600" dirty="0">
                <a:latin typeface="CMU Typewriter Text"/>
              </a:rPr>
              <a:t>()</a:t>
            </a:r>
            <a:r>
              <a:rPr sz="1600" dirty="0"/>
              <a:t> on the timer tick, and </a:t>
            </a:r>
            <a:endParaRPr lang="en-US" sz="1600" dirty="0"/>
          </a:p>
          <a:p>
            <a:pPr lvl="2"/>
            <a:r>
              <a:rPr sz="1600" dirty="0"/>
              <a:t>handle ADC/DAC scaling and clamping around it.</a:t>
            </a:r>
            <a:br>
              <a:rPr lang="en-US" sz="1600" dirty="0"/>
            </a:br>
            <a:endParaRPr sz="1600" dirty="0"/>
          </a:p>
          <a:p>
            <a:pPr lvl="1"/>
            <a:r>
              <a:rPr sz="1600" b="1" dirty="0"/>
              <a:t>Interactive testing</a:t>
            </a:r>
            <a:r>
              <a:rPr lang="en-US" sz="1600" b="1" dirty="0"/>
              <a:t>:</a:t>
            </a:r>
            <a:r>
              <a:rPr sz="1600" dirty="0"/>
              <a:t> — </a:t>
            </a:r>
            <a:endParaRPr lang="en-US" sz="1600" dirty="0"/>
          </a:p>
          <a:p>
            <a:pPr lvl="2"/>
            <a:r>
              <a:rPr sz="1600" dirty="0"/>
              <a:t>onboard buttons inject the plant fault and engage or disengage the PSS; </a:t>
            </a:r>
            <a:endParaRPr lang="en-US" sz="1600" dirty="0"/>
          </a:p>
          <a:p>
            <a:pPr lvl="2"/>
            <a:r>
              <a:rPr sz="1600" dirty="0"/>
              <a:t>LEDs signal overruns and </a:t>
            </a:r>
            <a:r>
              <a:rPr sz="1600" dirty="0" err="1"/>
              <a:t>eFMU</a:t>
            </a:r>
            <a:r>
              <a:rPr sz="1600" dirty="0"/>
              <a:t> error signals.</a:t>
            </a:r>
          </a:p>
        </p:txBody>
      </p:sp>
      <p:sp>
        <p:nvSpPr>
          <p:cNvPr id="134" name="Footer"/>
          <p:cNvSpPr>
            <a:spLocks noGrp="1"/>
          </p:cNvSpPr>
          <p:nvPr>
            <p:ph type="ftr" sz="quarter" idx="11"/>
          </p:nvPr>
        </p:nvSpPr>
        <p:spPr>
          <a:xfrm>
            <a:off x="6400800" y="6675120"/>
            <a:ext cx="5486400" cy="16459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</a:defRPr>
            </a:lvl1pPr>
          </a:lstStyle>
          <a:p>
            <a:r>
              <a:t>American Modelica &amp; FMI Conference 2026 · Georgia Tech, Atlanta · 12–14 Oct 2026</a:t>
            </a:r>
          </a:p>
        </p:txBody>
      </p:sp>
      <p:sp>
        <p:nvSpPr>
          <p:cNvPr id="135" name="Slide Number"/>
          <p:cNvSpPr>
            <a:spLocks noGrp="1"/>
          </p:cNvSpPr>
          <p:nvPr>
            <p:ph type="sldNum" sz="quarter" idx="12"/>
          </p:nvPr>
        </p:nvSpPr>
        <p:spPr>
          <a:xfrm>
            <a:off x="11018520" y="6501384"/>
            <a:ext cx="868680" cy="20116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/>
              <a:t>14</a:t>
            </a:fld>
            <a:endParaRPr lang="en-US"/>
          </a:p>
        </p:txBody>
      </p:sp>
      <p:pic>
        <p:nvPicPr>
          <p:cNvPr id="136" name="Picture 135" descr="setup-pa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1463" y="890203"/>
            <a:ext cx="3532471" cy="3532471"/>
          </a:xfrm>
          <a:prstGeom prst="rect">
            <a:avLst/>
          </a:prstGeom>
        </p:spPr>
      </p:pic>
      <p:sp>
        <p:nvSpPr>
          <p:cNvPr id="137" name="Rounded Rectangle 136"/>
          <p:cNvSpPr/>
          <p:nvPr/>
        </p:nvSpPr>
        <p:spPr>
          <a:xfrm>
            <a:off x="4407714" y="1008888"/>
            <a:ext cx="2308860" cy="1234440"/>
          </a:xfrm>
          <a:prstGeom prst="roundRect">
            <a:avLst>
              <a:gd name="adj" fmla="val 4444"/>
            </a:avLst>
          </a:prstGeom>
          <a:solidFill>
            <a:srgbClr val="F2F4FA"/>
          </a:solidFill>
          <a:ln w="9525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>
            <a:normAutofit/>
          </a:bodyPr>
          <a:lstStyle/>
          <a:p>
            <a:pPr algn="l"/>
            <a:r>
              <a:rPr lang="en-US" sz="1300" b="1" dirty="0">
                <a:solidFill>
                  <a:srgbClr val="0000FF"/>
                </a:solidFill>
              </a:rPr>
              <a:t>Plant</a:t>
            </a:r>
            <a:endParaRPr sz="1300" b="1" dirty="0">
              <a:solidFill>
                <a:srgbClr val="0000FF"/>
              </a:solidFill>
            </a:endParaRPr>
          </a:p>
          <a:p>
            <a:pPr marL="182880" indent="-146304">
              <a:spcBef>
                <a:spcPts val="300"/>
              </a:spcBef>
              <a:buClr>
                <a:schemeClr val="accent1"/>
              </a:buClr>
              <a:buFont typeface="+mn-lt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NUCLEO-H723ZG</a:t>
            </a:r>
          </a:p>
          <a:p>
            <a:pPr marL="182880" indent="-146304">
              <a:spcBef>
                <a:spcPts val="300"/>
              </a:spcBef>
              <a:buClr>
                <a:schemeClr val="accent1"/>
              </a:buClr>
              <a:buFont typeface="+mn-lt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550 MHz Arm Cortex-M7</a:t>
            </a:r>
          </a:p>
          <a:p>
            <a:pPr marL="182880" indent="-146304">
              <a:spcBef>
                <a:spcPts val="300"/>
              </a:spcBef>
              <a:buClr>
                <a:schemeClr val="accent1"/>
              </a:buClr>
              <a:buFont typeface="+mn-lt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For the matrix algebra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72084" y="2564892"/>
            <a:ext cx="3714294" cy="566928"/>
          </a:xfrm>
          <a:prstGeom prst="rect">
            <a:avLst/>
          </a:prstGeom>
          <a:solidFill>
            <a:srgbClr val="F4F4EF"/>
          </a:solidFill>
          <a:ln w="9525">
            <a:solidFill>
              <a:srgbClr val="CCC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>
            <a:normAutofit/>
          </a:bodyPr>
          <a:lstStyle/>
          <a:p>
            <a:pPr algn="l"/>
            <a:r>
              <a:rPr sz="1100" dirty="0" err="1">
                <a:solidFill>
                  <a:schemeClr val="tx1"/>
                </a:solidFill>
                <a:latin typeface="CMU Typewriter Text"/>
              </a:rPr>
              <a:t>freq</a:t>
            </a:r>
            <a:r>
              <a:rPr sz="1100" dirty="0">
                <a:solidFill>
                  <a:schemeClr val="tx1"/>
                </a:solidFill>
                <a:latin typeface="CMU Typewriter Text"/>
              </a:rPr>
              <a:t> = (550/2 MHz) / ((ARR+1)(PSC+1))</a:t>
            </a:r>
          </a:p>
          <a:p>
            <a:pPr algn="l"/>
            <a:r>
              <a:rPr sz="1100" dirty="0">
                <a:solidFill>
                  <a:schemeClr val="tx1"/>
                </a:solidFill>
                <a:latin typeface="CMU Typewriter Text"/>
              </a:rPr>
              <a:t>     = (275 MHz) / ((199+1)(274+1))  =  5 kHz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386378" y="2681859"/>
            <a:ext cx="2350314" cy="310896"/>
          </a:xfrm>
          <a:prstGeom prst="rect">
            <a:avLst/>
          </a:prstGeom>
          <a:noFill/>
        </p:spPr>
        <p:txBody>
          <a:bodyPr wrap="square" lIns="27432" tIns="0" rIns="27432" bIns="0" anchor="t">
            <a:normAutofit lnSpcReduction="10000"/>
          </a:bodyPr>
          <a:lstStyle/>
          <a:p>
            <a:pPr algn="ctr"/>
            <a:r>
              <a:rPr sz="1100" b="0" i="1" dirty="0">
                <a:solidFill>
                  <a:schemeClr val="accent3"/>
                </a:solidFill>
              </a:rPr>
              <a:t>The board timer must match the </a:t>
            </a:r>
            <a:r>
              <a:rPr sz="1100" b="0" i="1" dirty="0" err="1">
                <a:solidFill>
                  <a:schemeClr val="accent3"/>
                </a:solidFill>
              </a:rPr>
              <a:t>eFMU</a:t>
            </a:r>
            <a:r>
              <a:rPr sz="1100" b="0" i="1" dirty="0">
                <a:solidFill>
                  <a:schemeClr val="accent3"/>
                </a:solidFill>
              </a:rPr>
              <a:t> sampling period exactly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5CBE4E-2DAD-BDF0-6C7C-188C905E1D68}"/>
              </a:ext>
            </a:extLst>
          </p:cNvPr>
          <p:cNvSpPr txBox="1">
            <a:spLocks/>
          </p:cNvSpPr>
          <p:nvPr/>
        </p:nvSpPr>
        <p:spPr>
          <a:xfrm>
            <a:off x="7858963" y="4943856"/>
            <a:ext cx="4157472" cy="15026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sz="1500" b="1" i="0">
                <a:solidFill>
                  <a:schemeClr val="tx2"/>
                </a:solidFill>
                <a:latin typeface="+mn-lt"/>
              </a:defRPr>
            </a:lvl1pPr>
            <a:lvl2pPr marL="256032" indent="-201168" algn="l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SzPct val="90000"/>
              <a:buFont typeface="+mn-lt"/>
              <a:buChar char="•"/>
              <a:defRPr sz="1350" b="0" i="0">
                <a:solidFill>
                  <a:schemeClr val="tx1"/>
                </a:solidFill>
                <a:latin typeface="+mn-lt"/>
              </a:defRPr>
            </a:lvl2pPr>
            <a:lvl3pPr marL="475488" indent="-182880" algn="l">
              <a:lnSpc>
                <a:spcPct val="100000"/>
              </a:lnSpc>
              <a:spcBef>
                <a:spcPts val="300"/>
              </a:spcBef>
              <a:buClr>
                <a:schemeClr val="accent3"/>
              </a:buClr>
              <a:buSzPct val="90000"/>
              <a:buFont typeface="+mn-lt"/>
              <a:buChar char="–"/>
              <a:defRPr sz="1200" b="0" i="0">
                <a:solidFill>
                  <a:schemeClr val="tx2"/>
                </a:solidFill>
                <a:latin typeface="+mn-lt"/>
              </a:defRPr>
            </a:lvl3pPr>
            <a:lvl4pPr marL="694944" indent="-182880" algn="l">
              <a:lnSpc>
                <a:spcPct val="100000"/>
              </a:lnSpc>
              <a:spcBef>
                <a:spcPts val="300"/>
              </a:spcBef>
              <a:buClr>
                <a:schemeClr val="accent3"/>
              </a:buClr>
              <a:buSzPct val="90000"/>
              <a:buFont typeface="+mn-lt"/>
              <a:buChar char="·"/>
              <a:defRPr sz="1100" b="0" i="0">
                <a:solidFill>
                  <a:schemeClr val="tx2"/>
                </a:solidFill>
                <a:latin typeface="+mn-lt"/>
              </a:defRPr>
            </a:lvl4pPr>
          </a:lstStyle>
          <a:p>
            <a:pPr lvl="1"/>
            <a:endParaRPr lang="en-US" sz="1150" dirty="0"/>
          </a:p>
        </p:txBody>
      </p:sp>
      <p:sp>
        <p:nvSpPr>
          <p:cNvPr id="6" name="Rounded Rectangle 137">
            <a:extLst>
              <a:ext uri="{FF2B5EF4-FFF2-40B4-BE49-F238E27FC236}">
                <a16:creationId xmlns:a16="http://schemas.microsoft.com/office/drawing/2014/main" id="{4CA59CCD-698F-0BEE-8050-5900CAB220F9}"/>
              </a:ext>
            </a:extLst>
          </p:cNvPr>
          <p:cNvSpPr/>
          <p:nvPr/>
        </p:nvSpPr>
        <p:spPr>
          <a:xfrm>
            <a:off x="1240536" y="1008888"/>
            <a:ext cx="2250948" cy="1234440"/>
          </a:xfrm>
          <a:prstGeom prst="roundRect">
            <a:avLst>
              <a:gd name="adj" fmla="val 4444"/>
            </a:avLst>
          </a:prstGeom>
          <a:solidFill>
            <a:srgbClr val="EEF7EE"/>
          </a:solidFill>
          <a:ln w="9525">
            <a:solidFill>
              <a:srgbClr val="007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>
            <a:normAutofit/>
          </a:bodyPr>
          <a:lstStyle/>
          <a:p>
            <a:pPr algn="l"/>
            <a:r>
              <a:rPr lang="en-US" sz="1300" b="1" dirty="0">
                <a:solidFill>
                  <a:srgbClr val="007733"/>
                </a:solidFill>
              </a:rPr>
              <a:t>Controller</a:t>
            </a:r>
            <a:endParaRPr sz="1300" b="1" dirty="0">
              <a:solidFill>
                <a:srgbClr val="007733"/>
              </a:solidFill>
            </a:endParaRPr>
          </a:p>
          <a:p>
            <a:pPr marL="182880" indent="-146304">
              <a:spcBef>
                <a:spcPts val="300"/>
              </a:spcBef>
              <a:buClr>
                <a:schemeClr val="accent1"/>
              </a:buClr>
              <a:buFont typeface="+mn-lt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NUCLEO-L476RG</a:t>
            </a:r>
          </a:p>
          <a:p>
            <a:pPr marL="182880" indent="-146304">
              <a:spcBef>
                <a:spcPts val="300"/>
              </a:spcBef>
              <a:buClr>
                <a:schemeClr val="accent1"/>
              </a:buClr>
              <a:buFont typeface="+mn-lt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80 MHz Arm Cortex-M4</a:t>
            </a:r>
          </a:p>
          <a:p>
            <a:pPr marL="182880" indent="-146304">
              <a:spcBef>
                <a:spcPts val="300"/>
              </a:spcBef>
              <a:buClr>
                <a:schemeClr val="accent1"/>
              </a:buClr>
              <a:buFont typeface="+mn-lt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Hardware FPU, 32-Bit FPP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FAFDB4E-0321-709F-EB40-E4161B2C775D}"/>
              </a:ext>
            </a:extLst>
          </p:cNvPr>
          <p:cNvCxnSpPr>
            <a:stCxn id="6" idx="3"/>
            <a:endCxn id="137" idx="1"/>
          </p:cNvCxnSpPr>
          <p:nvPr/>
        </p:nvCxnSpPr>
        <p:spPr>
          <a:xfrm>
            <a:off x="3491484" y="1626108"/>
            <a:ext cx="916230" cy="0"/>
          </a:xfrm>
          <a:prstGeom prst="straightConnector1">
            <a:avLst/>
          </a:prstGeom>
          <a:ln w="38100">
            <a:solidFill>
              <a:srgbClr val="E57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139">
            <a:extLst>
              <a:ext uri="{FF2B5EF4-FFF2-40B4-BE49-F238E27FC236}">
                <a16:creationId xmlns:a16="http://schemas.microsoft.com/office/drawing/2014/main" id="{6ADCE4EA-AB30-8298-99CD-96994CB07190}"/>
              </a:ext>
            </a:extLst>
          </p:cNvPr>
          <p:cNvSpPr/>
          <p:nvPr/>
        </p:nvSpPr>
        <p:spPr>
          <a:xfrm>
            <a:off x="8042228" y="4758690"/>
            <a:ext cx="3844972" cy="1622148"/>
          </a:xfrm>
          <a:prstGeom prst="roundRect">
            <a:avLst>
              <a:gd name="adj" fmla="val 5217"/>
            </a:avLst>
          </a:prstGeom>
          <a:solidFill>
            <a:srgbClr val="FAF2F2"/>
          </a:solidFill>
          <a:ln w="9525">
            <a:solidFill>
              <a:srgbClr val="98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Autofit/>
          </a:bodyPr>
          <a:lstStyle/>
          <a:p>
            <a:pPr lvl="1"/>
            <a:r>
              <a:rPr lang="en-US" dirty="0">
                <a:solidFill>
                  <a:schemeClr val="accent1"/>
                </a:solidFill>
              </a:rPr>
              <a:t>Total hardware cost: &lt; $90.00* </a:t>
            </a:r>
            <a:r>
              <a:rPr lang="en-US" dirty="0"/>
              <a:t> </a:t>
            </a:r>
            <a:endParaRPr lang="en-US" dirty="0">
              <a:solidFill>
                <a:schemeClr val="accent1"/>
              </a:solidFill>
            </a:endParaRPr>
          </a:p>
          <a:p>
            <a:pPr marL="171450" lvl="2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NUCLEO-L476RG - $21.30 at </a:t>
            </a:r>
            <a:r>
              <a:rPr lang="en-US" dirty="0" err="1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DigiKey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marL="171450" lvl="2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NUCLEO-H723ZG - $40.81 at </a:t>
            </a:r>
            <a:r>
              <a:rPr lang="en-US" dirty="0" err="1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DigiKey</a:t>
            </a:r>
            <a:endParaRPr lang="en-US" dirty="0">
              <a:solidFill>
                <a:schemeClr val="tx1"/>
              </a:solidFill>
            </a:endParaRPr>
          </a:p>
          <a:p>
            <a:pPr marL="171450" lvl="2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Break boards + patch cables: ~$11.00-$25.00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* Excl the Analog Discovery 3 ~$379.00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54C5FBC-96C2-C58F-F785-6C9E3A6E5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STM32 System Integration Code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C5B877E-335E-23D4-5DBD-A53F610C03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196" t="38743" r="-41" b="-90"/>
          <a:stretch>
            <a:fillRect/>
          </a:stretch>
        </p:blipFill>
        <p:spPr>
          <a:xfrm>
            <a:off x="2290582" y="1320036"/>
            <a:ext cx="7610833" cy="487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813D812B-5B2C-8524-2CF7-E943402D9FB4}"/>
              </a:ext>
            </a:extLst>
          </p:cNvPr>
          <p:cNvSpPr/>
          <p:nvPr/>
        </p:nvSpPr>
        <p:spPr>
          <a:xfrm>
            <a:off x="1003778" y="4207064"/>
            <a:ext cx="1375038" cy="6875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10A4C0-6964-828B-E3CC-8868FCDF32B7}"/>
              </a:ext>
            </a:extLst>
          </p:cNvPr>
          <p:cNvSpPr txBox="1"/>
          <p:nvPr/>
        </p:nvSpPr>
        <p:spPr>
          <a:xfrm>
            <a:off x="3778488" y="796816"/>
            <a:ext cx="46350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i="1" dirty="0">
                <a:solidFill>
                  <a:srgbClr val="FF0000"/>
                </a:solidFill>
              </a:rPr>
              <a:t>All details in the paper!</a:t>
            </a:r>
          </a:p>
        </p:txBody>
      </p:sp>
    </p:spTree>
    <p:extLst>
      <p:ext uri="{BB962C8B-B14F-4D97-AF65-F5344CB8AC3E}">
        <p14:creationId xmlns:p14="http://schemas.microsoft.com/office/powerpoint/2010/main" val="37663329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CHiL results: the controller does its job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>
          <a:xfrm>
            <a:off x="931684" y="3754495"/>
            <a:ext cx="4764191" cy="274320"/>
          </a:xfrm>
        </p:spPr>
        <p:txBody>
          <a:bodyPr wrap="square"/>
          <a:lstStyle/>
          <a:p>
            <a:r>
              <a:rPr dirty="0"/>
              <a:t>PSS engaged — damped within seconds.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365760" y="4087367"/>
            <a:ext cx="5730240" cy="2314315"/>
          </a:xfrm>
        </p:spPr>
        <p:txBody>
          <a:bodyPr wrap="square">
            <a:normAutofit/>
          </a:bodyPr>
          <a:lstStyle/>
          <a:p>
            <a:pPr lvl="1"/>
            <a:r>
              <a:rPr lang="en-US" sz="1400" b="1" dirty="0"/>
              <a:t>Engaged: </a:t>
            </a:r>
          </a:p>
          <a:p>
            <a:pPr lvl="2"/>
            <a:r>
              <a:rPr lang="en-US" sz="1400" dirty="0"/>
              <a:t>The controller voltage provides immediate active damping</a:t>
            </a:r>
          </a:p>
          <a:p>
            <a:pPr lvl="2"/>
            <a:r>
              <a:rPr lang="en-US" sz="1400" dirty="0"/>
              <a:t>Generator speed damps to steady state within seconds.</a:t>
            </a:r>
            <a:endParaRPr lang="en-US" sz="1400" b="1" dirty="0"/>
          </a:p>
          <a:p>
            <a:pPr lvl="1"/>
            <a:endParaRPr lang="en-US" sz="1400" b="1" dirty="0"/>
          </a:p>
          <a:p>
            <a:pPr lvl="1"/>
            <a:r>
              <a:rPr sz="1400" b="1" dirty="0"/>
              <a:t>The limit is real</a:t>
            </a:r>
            <a:r>
              <a:rPr lang="en-US" sz="1400" dirty="0"/>
              <a:t>:</a:t>
            </a:r>
            <a:r>
              <a:rPr sz="1400" dirty="0"/>
              <a:t> </a:t>
            </a:r>
            <a:endParaRPr lang="en-US" sz="1400" dirty="0"/>
          </a:p>
          <a:p>
            <a:pPr lvl="2"/>
            <a:r>
              <a:rPr lang="en-US" sz="1250" dirty="0"/>
              <a:t>F</a:t>
            </a:r>
            <a:r>
              <a:rPr sz="1250" dirty="0"/>
              <a:t>aults were held long enough for the speed to run away, </a:t>
            </a:r>
            <a:endParaRPr lang="en-US" sz="1250" dirty="0"/>
          </a:p>
          <a:p>
            <a:pPr lvl="2"/>
            <a:r>
              <a:rPr lang="en-US" sz="1250" dirty="0"/>
              <a:t>T</a:t>
            </a:r>
            <a:r>
              <a:rPr sz="1250" dirty="0"/>
              <a:t>he controller has a finite window of operating speeds it can </a:t>
            </a:r>
            <a:r>
              <a:rPr sz="1250" dirty="0" err="1"/>
              <a:t>stabilise</a:t>
            </a:r>
            <a:endParaRPr sz="1250" dirty="0"/>
          </a:p>
        </p:txBody>
      </p:sp>
      <p:sp>
        <p:nvSpPr>
          <p:cNvPr id="141" name="Footer"/>
          <p:cNvSpPr>
            <a:spLocks noGrp="1"/>
          </p:cNvSpPr>
          <p:nvPr>
            <p:ph type="ftr" sz="quarter" idx="11"/>
          </p:nvPr>
        </p:nvSpPr>
        <p:spPr>
          <a:xfrm>
            <a:off x="6400800" y="6675120"/>
            <a:ext cx="5486400" cy="16459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</a:defRPr>
            </a:lvl1pPr>
          </a:lstStyle>
          <a:p>
            <a:r>
              <a:t>American Modelica &amp; FMI Conference 2026 · Georgia Tech, Atlanta · 12–14 Oct 2026</a:t>
            </a:r>
          </a:p>
        </p:txBody>
      </p:sp>
      <p:sp>
        <p:nvSpPr>
          <p:cNvPr id="142" name="Slide Number"/>
          <p:cNvSpPr>
            <a:spLocks noGrp="1"/>
          </p:cNvSpPr>
          <p:nvPr>
            <p:ph type="sldNum" sz="quarter" idx="12"/>
          </p:nvPr>
        </p:nvSpPr>
        <p:spPr>
          <a:xfrm>
            <a:off x="11018520" y="6501384"/>
            <a:ext cx="868680" cy="20116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/>
              <a:t>16</a:t>
            </a:fld>
            <a:endParaRPr lang="en-US"/>
          </a:p>
        </p:txBody>
      </p:sp>
      <p:pic>
        <p:nvPicPr>
          <p:cNvPr id="143" name="Picture 142" descr="f19-exp-pss-disengag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0436" y="2159543"/>
            <a:ext cx="5615788" cy="1440665"/>
          </a:xfrm>
          <a:prstGeom prst="rect">
            <a:avLst/>
          </a:prstGeom>
        </p:spPr>
      </p:pic>
      <p:pic>
        <p:nvPicPr>
          <p:cNvPr id="144" name="Picture 143" descr="f20-exp-pss-engag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684" y="836918"/>
            <a:ext cx="4764191" cy="2807208"/>
          </a:xfrm>
          <a:prstGeom prst="rect">
            <a:avLst/>
          </a:prstGeom>
        </p:spPr>
      </p:pic>
      <p:sp>
        <p:nvSpPr>
          <p:cNvPr id="145" name="Rounded Rectangle 144"/>
          <p:cNvSpPr/>
          <p:nvPr/>
        </p:nvSpPr>
        <p:spPr>
          <a:xfrm>
            <a:off x="7232049" y="5309075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±0.2 pu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recovers, PSS engaged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9354151" y="5309075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98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±0.1 pu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unstable, PSS off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E4486BE5-D73C-5F97-BC6F-EBE18EE911E9}"/>
              </a:ext>
            </a:extLst>
          </p:cNvPr>
          <p:cNvSpPr txBox="1">
            <a:spLocks/>
          </p:cNvSpPr>
          <p:nvPr/>
        </p:nvSpPr>
        <p:spPr>
          <a:xfrm>
            <a:off x="6336106" y="3643243"/>
            <a:ext cx="5615788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200"/>
              </a:spcBef>
              <a:buNone/>
              <a:defRPr sz="1100" b="0" i="1">
                <a:solidFill>
                  <a:schemeClr val="accent3"/>
                </a:solidFill>
                <a:latin typeface="+mn-lt"/>
              </a:defRPr>
            </a:lvl1pPr>
            <a:lvl2pPr marL="256032" indent="-201168" algn="l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SzPct val="90000"/>
              <a:buFont typeface="+mn-lt"/>
              <a:buChar char="•"/>
              <a:defRPr sz="1350" b="0" i="0">
                <a:solidFill>
                  <a:schemeClr val="tx1"/>
                </a:solidFill>
                <a:latin typeface="+mn-lt"/>
              </a:defRPr>
            </a:lvl2pPr>
            <a:lvl3pPr marL="475488" indent="-182880" algn="l">
              <a:lnSpc>
                <a:spcPct val="100000"/>
              </a:lnSpc>
              <a:spcBef>
                <a:spcPts val="300"/>
              </a:spcBef>
              <a:buClr>
                <a:schemeClr val="accent3"/>
              </a:buClr>
              <a:buSzPct val="90000"/>
              <a:buFont typeface="+mn-lt"/>
              <a:buChar char="–"/>
              <a:defRPr sz="1200" b="0" i="0">
                <a:solidFill>
                  <a:schemeClr val="tx2"/>
                </a:solidFill>
                <a:latin typeface="+mn-lt"/>
              </a:defRPr>
            </a:lvl3pPr>
            <a:lvl4pPr marL="694944" indent="-182880" algn="l">
              <a:lnSpc>
                <a:spcPct val="100000"/>
              </a:lnSpc>
              <a:spcBef>
                <a:spcPts val="300"/>
              </a:spcBef>
              <a:buClr>
                <a:schemeClr val="accent3"/>
              </a:buClr>
              <a:buSzPct val="90000"/>
              <a:buFont typeface="+mn-lt"/>
              <a:buChar char="·"/>
              <a:defRPr sz="1100" b="0" i="0">
                <a:solidFill>
                  <a:schemeClr val="tx2"/>
                </a:solidFill>
                <a:latin typeface="+mn-lt"/>
              </a:defRPr>
            </a:lvl4pPr>
          </a:lstStyle>
          <a:p>
            <a:pPr>
              <a:buClrTx/>
              <a:buFontTx/>
            </a:pPr>
            <a:r>
              <a:rPr lang="en-US" dirty="0"/>
              <a:t>PSS disengaged — sustained oscillations, then instability.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AA91B3B5-765B-21BD-2AB1-0CA862B5E6B7}"/>
              </a:ext>
            </a:extLst>
          </p:cNvPr>
          <p:cNvSpPr txBox="1">
            <a:spLocks/>
          </p:cNvSpPr>
          <p:nvPr/>
        </p:nvSpPr>
        <p:spPr>
          <a:xfrm>
            <a:off x="6310436" y="875296"/>
            <a:ext cx="5576764" cy="109916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 fontScale="92500"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sz="1500" b="1" i="0">
                <a:solidFill>
                  <a:schemeClr val="tx2"/>
                </a:solidFill>
                <a:latin typeface="+mn-lt"/>
              </a:defRPr>
            </a:lvl1pPr>
            <a:lvl2pPr marL="256032" indent="-201168" algn="l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SzPct val="90000"/>
              <a:buFont typeface="+mn-lt"/>
              <a:buChar char="•"/>
              <a:defRPr sz="1350" b="0" i="0">
                <a:solidFill>
                  <a:schemeClr val="tx1"/>
                </a:solidFill>
                <a:latin typeface="+mn-lt"/>
              </a:defRPr>
            </a:lvl2pPr>
            <a:lvl3pPr marL="475488" indent="-182880" algn="l">
              <a:lnSpc>
                <a:spcPct val="100000"/>
              </a:lnSpc>
              <a:spcBef>
                <a:spcPts val="300"/>
              </a:spcBef>
              <a:buClr>
                <a:schemeClr val="accent3"/>
              </a:buClr>
              <a:buSzPct val="90000"/>
              <a:buFont typeface="+mn-lt"/>
              <a:buChar char="–"/>
              <a:defRPr sz="1200" b="0" i="0">
                <a:solidFill>
                  <a:schemeClr val="tx2"/>
                </a:solidFill>
                <a:latin typeface="+mn-lt"/>
              </a:defRPr>
            </a:lvl3pPr>
            <a:lvl4pPr marL="694944" indent="-182880" algn="l">
              <a:lnSpc>
                <a:spcPct val="100000"/>
              </a:lnSpc>
              <a:spcBef>
                <a:spcPts val="300"/>
              </a:spcBef>
              <a:buClr>
                <a:schemeClr val="accent3"/>
              </a:buClr>
              <a:buSzPct val="90000"/>
              <a:buFont typeface="+mn-lt"/>
              <a:buChar char="·"/>
              <a:defRPr sz="1100" b="0" i="0">
                <a:solidFill>
                  <a:schemeClr val="tx2"/>
                </a:solidFill>
                <a:latin typeface="+mn-lt"/>
              </a:defRPr>
            </a:lvl4pPr>
          </a:lstStyle>
          <a:p>
            <a:pPr lvl="1"/>
            <a:r>
              <a:rPr lang="en-US" i="1" dirty="0"/>
              <a:t>Legend: </a:t>
            </a:r>
          </a:p>
          <a:p>
            <a:pPr lvl="2"/>
            <a:r>
              <a:rPr lang="en-US" b="1" dirty="0">
                <a:solidFill>
                  <a:srgbClr val="3131FF"/>
                </a:solidFill>
              </a:rPr>
              <a:t>Blue:</a:t>
            </a:r>
            <a:r>
              <a:rPr lang="en-US" dirty="0"/>
              <a:t> scaled speed from NUCLEO-H723ZG, output of plant</a:t>
            </a:r>
          </a:p>
          <a:p>
            <a:pPr lvl="2"/>
            <a:r>
              <a:rPr lang="en-US" b="1" dirty="0">
                <a:solidFill>
                  <a:srgbClr val="FF9E27"/>
                </a:solidFill>
              </a:rPr>
              <a:t>Orange: </a:t>
            </a:r>
            <a:r>
              <a:rPr lang="en-US" dirty="0"/>
              <a:t>PSS output voltage (</a:t>
            </a:r>
            <a:r>
              <a:rPr lang="en-US" dirty="0" err="1"/>
              <a:t>pu</a:t>
            </a:r>
            <a:r>
              <a:rPr lang="en-US" dirty="0"/>
              <a:t>) from NUCLEO-L476RG, input to plant</a:t>
            </a:r>
          </a:p>
          <a:p>
            <a:pPr lvl="2"/>
            <a:r>
              <a:rPr lang="en-US" b="1" dirty="0">
                <a:solidFill>
                  <a:srgbClr val="FF0000"/>
                </a:solidFill>
              </a:rPr>
              <a:t>Red: </a:t>
            </a:r>
            <a:r>
              <a:rPr lang="en-US" dirty="0"/>
              <a:t>fault applied via push-button B1 on NUCLEO-H723ZG</a:t>
            </a:r>
          </a:p>
          <a:p>
            <a:pPr lvl="2"/>
            <a:r>
              <a:rPr lang="en-US" b="1" dirty="0">
                <a:solidFill>
                  <a:srgbClr val="FF00FF"/>
                </a:solidFill>
              </a:rPr>
              <a:t>Magenta:</a:t>
            </a:r>
            <a:r>
              <a:rPr lang="en-US" dirty="0"/>
              <a:t> reset applied on both boards via push-button B2.  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2AD721A-4ABB-C09A-4E0E-D5323E0C94BF}"/>
              </a:ext>
            </a:extLst>
          </p:cNvPr>
          <p:cNvSpPr txBox="1">
            <a:spLocks/>
          </p:cNvSpPr>
          <p:nvPr/>
        </p:nvSpPr>
        <p:spPr>
          <a:xfrm>
            <a:off x="5967129" y="4087367"/>
            <a:ext cx="5730240" cy="8157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sz="1500" b="1" i="0">
                <a:solidFill>
                  <a:schemeClr val="tx2"/>
                </a:solidFill>
                <a:latin typeface="+mn-lt"/>
              </a:defRPr>
            </a:lvl1pPr>
            <a:lvl2pPr marL="256032" indent="-201168" algn="l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SzPct val="90000"/>
              <a:buFont typeface="+mn-lt"/>
              <a:buChar char="•"/>
              <a:defRPr sz="1350" b="0" i="0">
                <a:solidFill>
                  <a:schemeClr val="tx1"/>
                </a:solidFill>
                <a:latin typeface="+mn-lt"/>
              </a:defRPr>
            </a:lvl2pPr>
            <a:lvl3pPr marL="475488" indent="-182880" algn="l">
              <a:lnSpc>
                <a:spcPct val="100000"/>
              </a:lnSpc>
              <a:spcBef>
                <a:spcPts val="300"/>
              </a:spcBef>
              <a:buClr>
                <a:schemeClr val="accent3"/>
              </a:buClr>
              <a:buSzPct val="90000"/>
              <a:buFont typeface="+mn-lt"/>
              <a:buChar char="–"/>
              <a:defRPr sz="1200" b="0" i="0">
                <a:solidFill>
                  <a:schemeClr val="tx2"/>
                </a:solidFill>
                <a:latin typeface="+mn-lt"/>
              </a:defRPr>
            </a:lvl3pPr>
            <a:lvl4pPr marL="694944" indent="-182880" algn="l">
              <a:lnSpc>
                <a:spcPct val="100000"/>
              </a:lnSpc>
              <a:spcBef>
                <a:spcPts val="300"/>
              </a:spcBef>
              <a:buClr>
                <a:schemeClr val="accent3"/>
              </a:buClr>
              <a:buSzPct val="90000"/>
              <a:buFont typeface="+mn-lt"/>
              <a:buChar char="·"/>
              <a:defRPr sz="1100" b="0" i="0">
                <a:solidFill>
                  <a:schemeClr val="tx2"/>
                </a:solidFill>
                <a:latin typeface="+mn-lt"/>
              </a:defRPr>
            </a:lvl4pPr>
          </a:lstStyle>
          <a:p>
            <a:pPr lvl="1"/>
            <a:r>
              <a:rPr lang="en-US" sz="1400" b="1" dirty="0"/>
              <a:t>Disengaged:</a:t>
            </a:r>
            <a:r>
              <a:rPr lang="en-US" sz="1400" dirty="0"/>
              <a:t> </a:t>
            </a:r>
          </a:p>
          <a:p>
            <a:pPr lvl="2"/>
            <a:r>
              <a:rPr lang="en-US" sz="1400" dirty="0"/>
              <a:t>The plant behaves as an undamped pendulum; </a:t>
            </a:r>
          </a:p>
          <a:p>
            <a:pPr lvl="2"/>
            <a:r>
              <a:rPr lang="en-US" sz="1400" dirty="0"/>
              <a:t>A later fault excites it further and it becomes unstable.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Closed-loop frequency response: model against hardware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5"/>
          </p:nvPr>
        </p:nvSpPr>
        <p:spPr/>
        <p:txBody>
          <a:bodyPr wrap="square">
            <a:normAutofit fontScale="92500"/>
          </a:bodyPr>
          <a:lstStyle/>
          <a:p>
            <a:r>
              <a:rPr dirty="0"/>
              <a:t>Dymola closed-loop model with input and output interfaces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6"/>
          </p:nvPr>
        </p:nvSpPr>
        <p:spPr/>
        <p:txBody>
          <a:bodyPr wrap="square">
            <a:normAutofit fontScale="92500" lnSpcReduction="20000"/>
          </a:bodyPr>
          <a:lstStyle/>
          <a:p>
            <a:r>
              <a:t>Closed-loop wiring for network analysis with the Analog Discovery 3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7"/>
          </p:nvPr>
        </p:nvSpPr>
        <p:spPr/>
        <p:txBody>
          <a:bodyPr wrap="square">
            <a:normAutofit fontScale="92500" lnSpcReduction="20000"/>
          </a:bodyPr>
          <a:lstStyle/>
          <a:p>
            <a:r>
              <a:t>Closed-loop response: hardware (blue) vs Dymola linearisation (red)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lvl="1"/>
            <a:r>
              <a:rPr b="1" dirty="0"/>
              <a:t>Logarithmic sweep 0.15–100 Hz at 50 mV</a:t>
            </a:r>
            <a:r>
              <a:rPr dirty="0"/>
              <a:t> — amplitude chosen so the plant </a:t>
            </a:r>
            <a:r>
              <a:rPr lang="en-US" dirty="0"/>
              <a:t>Excitation Control System (</a:t>
            </a:r>
            <a:r>
              <a:rPr dirty="0"/>
              <a:t>AVR limit</a:t>
            </a:r>
            <a:r>
              <a:rPr lang="en-US" dirty="0"/>
              <a:t>er</a:t>
            </a:r>
            <a:r>
              <a:rPr dirty="0"/>
              <a:t>s</a:t>
            </a:r>
            <a:r>
              <a:rPr lang="en-US" dirty="0"/>
              <a:t>)</a:t>
            </a:r>
            <a:r>
              <a:rPr dirty="0"/>
              <a:t> are never reached.</a:t>
            </a:r>
          </a:p>
          <a:p>
            <a:pPr lvl="1"/>
            <a:r>
              <a:rPr b="1" dirty="0"/>
              <a:t>A summing amplifier was needed</a:t>
            </a:r>
            <a:r>
              <a:rPr lang="en-US" b="1" dirty="0"/>
              <a:t>:</a:t>
            </a:r>
            <a:endParaRPr lang="en-US" dirty="0"/>
          </a:p>
          <a:p>
            <a:pPr lvl="2"/>
            <a:r>
              <a:rPr dirty="0"/>
              <a:t>the STM32 ADC cannot process negative voltages, </a:t>
            </a:r>
            <a:endParaRPr lang="en-US" dirty="0"/>
          </a:p>
          <a:p>
            <a:pPr lvl="2"/>
            <a:r>
              <a:rPr lang="en-US" dirty="0"/>
              <a:t>A</a:t>
            </a:r>
            <a:r>
              <a:rPr dirty="0"/>
              <a:t> MAX474 biases the ±50 mV stimulus onto the plant's flat 1.0 V DC speed output, giving 0.95–1.05 V into the controller.</a:t>
            </a:r>
          </a:p>
          <a:p>
            <a:endParaRPr lang="en-US" dirty="0">
              <a:solidFill>
                <a:schemeClr val="accent1"/>
              </a:solidFill>
            </a:endParaRPr>
          </a:p>
          <a:p>
            <a:r>
              <a:rPr dirty="0">
                <a:solidFill>
                  <a:schemeClr val="accent1"/>
                </a:solidFill>
              </a:rPr>
              <a:t>The </a:t>
            </a:r>
            <a:r>
              <a:rPr dirty="0" err="1">
                <a:solidFill>
                  <a:schemeClr val="accent1"/>
                </a:solidFill>
              </a:rPr>
              <a:t>eFMU</a:t>
            </a:r>
            <a:r>
              <a:rPr dirty="0">
                <a:solidFill>
                  <a:schemeClr val="accent1"/>
                </a:solidFill>
              </a:rPr>
              <a:t> reproduces the offline model in closed loop; the flattening near 5 Hz is the instrument noise floor and the onboard converters, not the model.</a:t>
            </a:r>
          </a:p>
        </p:txBody>
      </p:sp>
      <p:sp>
        <p:nvSpPr>
          <p:cNvPr id="187" name="Footer"/>
          <p:cNvSpPr>
            <a:spLocks noGrp="1"/>
          </p:cNvSpPr>
          <p:nvPr>
            <p:ph type="ftr" sz="quarter" idx="11"/>
          </p:nvPr>
        </p:nvSpPr>
        <p:spPr>
          <a:xfrm>
            <a:off x="6400800" y="6675120"/>
            <a:ext cx="5486400" cy="16459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</a:defRPr>
            </a:lvl1pPr>
          </a:lstStyle>
          <a:p>
            <a:r>
              <a:t>American Modelica &amp; FMI Conference 2026 · Georgia Tech, Atlanta · 12–14 Oct 2026</a:t>
            </a:r>
          </a:p>
        </p:txBody>
      </p:sp>
      <p:sp>
        <p:nvSpPr>
          <p:cNvPr id="188" name="Slide Number"/>
          <p:cNvSpPr>
            <a:spLocks noGrp="1"/>
          </p:cNvSpPr>
          <p:nvPr>
            <p:ph type="sldNum" sz="quarter" idx="12"/>
          </p:nvPr>
        </p:nvSpPr>
        <p:spPr>
          <a:xfrm>
            <a:off x="11018520" y="6501384"/>
            <a:ext cx="868680" cy="20116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/>
              <a:t>17</a:t>
            </a:fld>
            <a:endParaRPr lang="en-US"/>
          </a:p>
        </p:txBody>
      </p:sp>
      <p:pic>
        <p:nvPicPr>
          <p:cNvPr id="189" name="Picture 188" descr="IOC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08746"/>
            <a:ext cx="3667658" cy="863068"/>
          </a:xfrm>
          <a:prstGeom prst="rect">
            <a:avLst/>
          </a:prstGeom>
        </p:spPr>
      </p:pic>
      <p:pic>
        <p:nvPicPr>
          <p:cNvPr id="190" name="Picture 189" descr="closed_loop_wiring_diagram_lar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2018" y="1248484"/>
            <a:ext cx="3667658" cy="1983591"/>
          </a:xfrm>
          <a:prstGeom prst="rect">
            <a:avLst/>
          </a:prstGeom>
        </p:spPr>
      </p:pic>
      <p:pic>
        <p:nvPicPr>
          <p:cNvPr id="191" name="Picture 190" descr="sec06-CLsys-b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3124" y="914400"/>
            <a:ext cx="3197963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Real-time headroom: no overruns, with margin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4"/>
          </p:nvPr>
        </p:nvSpPr>
        <p:spPr>
          <a:xfrm>
            <a:off x="256758" y="5398008"/>
            <a:ext cx="4333721" cy="702564"/>
          </a:xfrm>
        </p:spPr>
        <p:txBody>
          <a:bodyPr wrap="square">
            <a:normAutofit/>
          </a:bodyPr>
          <a:lstStyle/>
          <a:p>
            <a:r>
              <a:rPr dirty="0"/>
              <a:t>Computation time (blue) vs sampling timer (orange)</a:t>
            </a:r>
            <a:r>
              <a:rPr lang="en-US" dirty="0"/>
              <a:t> of the NUCLEO-H723ZG, Runs the plant model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498369" y="899922"/>
            <a:ext cx="5618954" cy="3286125"/>
          </a:xfrm>
        </p:spPr>
        <p:txBody>
          <a:bodyPr wrap="square">
            <a:normAutofit/>
          </a:bodyPr>
          <a:lstStyle/>
          <a:p>
            <a:pPr lvl="1"/>
            <a:r>
              <a:rPr lang="en-US" b="1" dirty="0"/>
              <a:t>Headroom is m</a:t>
            </a:r>
            <a:r>
              <a:rPr b="1" dirty="0"/>
              <a:t>easured, not estimated</a:t>
            </a:r>
            <a:r>
              <a:rPr dirty="0"/>
              <a:t> — </a:t>
            </a:r>
            <a:endParaRPr lang="en-US" dirty="0"/>
          </a:p>
          <a:p>
            <a:pPr lvl="2"/>
            <a:r>
              <a:rPr dirty="0"/>
              <a:t>a GPIO pin is driven high at the start of a sampling and low at the end; </a:t>
            </a:r>
            <a:endParaRPr lang="en-US" dirty="0"/>
          </a:p>
          <a:p>
            <a:pPr lvl="2"/>
            <a:r>
              <a:rPr dirty="0"/>
              <a:t>a second pin toggles on every timer tick, giving the oscilloscope a reference grid.</a:t>
            </a:r>
          </a:p>
          <a:p>
            <a:pPr lvl="1"/>
            <a:r>
              <a:rPr b="1" dirty="0"/>
              <a:t>Why the fault case is the real test</a:t>
            </a:r>
            <a:r>
              <a:rPr dirty="0"/>
              <a:t> — </a:t>
            </a:r>
            <a:endParaRPr lang="en-US" dirty="0"/>
          </a:p>
          <a:p>
            <a:pPr lvl="2"/>
            <a:r>
              <a:rPr dirty="0"/>
              <a:t>plant's GALEC code is dominated by </a:t>
            </a:r>
            <a:r>
              <a:rPr dirty="0" err="1">
                <a:latin typeface="CMU Typewriter Text"/>
              </a:rPr>
              <a:t>solveLinearEquations</a:t>
            </a:r>
            <a:r>
              <a:rPr dirty="0">
                <a:latin typeface="CMU Typewriter Text"/>
              </a:rPr>
              <a:t>(A, b)</a:t>
            </a:r>
            <a:r>
              <a:rPr dirty="0"/>
              <a:t>; </a:t>
            </a:r>
            <a:endParaRPr lang="en-US" dirty="0"/>
          </a:p>
          <a:p>
            <a:pPr lvl="2"/>
            <a:r>
              <a:rPr dirty="0"/>
              <a:t>without a fault, A and b are sparse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dirty="0"/>
              <a:t> generated solver skips the zeros.</a:t>
            </a:r>
            <a:endParaRPr sz="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chemeClr val="accent1"/>
                </a:solidFill>
              </a:rPr>
              <a:t>For the plant, t</a:t>
            </a:r>
            <a:r>
              <a:rPr sz="1350" dirty="0">
                <a:solidFill>
                  <a:schemeClr val="accent1"/>
                </a:solidFill>
              </a:rPr>
              <a:t>he debug build overruns</a:t>
            </a:r>
            <a:r>
              <a:rPr lang="en-US" sz="1350" dirty="0">
                <a:solidFill>
                  <a:schemeClr val="accent1"/>
                </a:solidFill>
              </a:rPr>
              <a:t>:</a:t>
            </a:r>
            <a:r>
              <a:rPr sz="1350" dirty="0">
                <a:solidFill>
                  <a:schemeClr val="accent1"/>
                </a:solidFill>
              </a:rPr>
              <a:t> </a:t>
            </a:r>
            <a:endParaRPr lang="en-US" sz="1350" dirty="0">
              <a:solidFill>
                <a:schemeClr val="accent1"/>
              </a:solidFill>
            </a:endParaRPr>
          </a:p>
          <a:p>
            <a:pPr lvl="1" indent="0">
              <a:buNone/>
            </a:pPr>
            <a:r>
              <a:rPr lang="en-US" sz="1200" dirty="0">
                <a:solidFill>
                  <a:schemeClr val="accent1"/>
                </a:solidFill>
                <a:sym typeface="Wingdings" panose="05000000000000000000" pitchFamily="2" charset="2"/>
              </a:rPr>
              <a:t> </a:t>
            </a:r>
            <a:r>
              <a:rPr lang="en-US" sz="1200" dirty="0">
                <a:solidFill>
                  <a:schemeClr val="accent1"/>
                </a:solidFill>
              </a:rPr>
              <a:t>This is why it is important to have the ability to do </a:t>
            </a:r>
            <a:r>
              <a:rPr sz="1200" dirty="0" err="1">
                <a:solidFill>
                  <a:schemeClr val="accent1"/>
                </a:solidFill>
              </a:rPr>
              <a:t>SiL</a:t>
            </a:r>
            <a:r>
              <a:rPr sz="1200" dirty="0">
                <a:solidFill>
                  <a:schemeClr val="accent1"/>
                </a:solidFill>
              </a:rPr>
              <a:t> testing</a:t>
            </a:r>
            <a:br>
              <a:rPr lang="en-US" sz="1200" dirty="0">
                <a:solidFill>
                  <a:schemeClr val="accent1"/>
                </a:solidFill>
              </a:rPr>
            </a:br>
            <a:endParaRPr lang="en-US" sz="1200" b="1" dirty="0"/>
          </a:p>
          <a:p>
            <a:pPr lvl="1"/>
            <a:r>
              <a:rPr lang="en-US" b="1" dirty="0"/>
              <a:t>What about the PSS controller headroom? </a:t>
            </a:r>
            <a:endParaRPr lang="en-US" dirty="0"/>
          </a:p>
          <a:p>
            <a:pPr lvl="2"/>
            <a:r>
              <a:rPr lang="en-US" dirty="0"/>
              <a:t>Release build: 92.17 % headroom (15.67 </a:t>
            </a:r>
            <a:r>
              <a:rPr lang="en-US" dirty="0">
                <a:latin typeface="Geist" pitchFamily="2" charset="0"/>
                <a:ea typeface="Geist" pitchFamily="2" charset="0"/>
                <a:cs typeface="Geist" pitchFamily="2" charset="0"/>
              </a:rPr>
              <a:t>µs) </a:t>
            </a:r>
          </a:p>
          <a:p>
            <a:pPr lvl="2"/>
            <a:r>
              <a:rPr lang="en-US" dirty="0">
                <a:latin typeface="Geist" pitchFamily="2" charset="0"/>
                <a:ea typeface="Geist" pitchFamily="2" charset="0"/>
                <a:cs typeface="Geist" pitchFamily="2" charset="0"/>
              </a:rPr>
              <a:t>Same for steady state or fault tests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34" name="Footer"/>
          <p:cNvSpPr>
            <a:spLocks noGrp="1"/>
          </p:cNvSpPr>
          <p:nvPr>
            <p:ph type="ftr" sz="quarter" idx="11"/>
          </p:nvPr>
        </p:nvSpPr>
        <p:spPr>
          <a:xfrm>
            <a:off x="6400800" y="6675120"/>
            <a:ext cx="5486400" cy="16459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</a:defRPr>
            </a:lvl1pPr>
          </a:lstStyle>
          <a:p>
            <a:r>
              <a:t>American Modelica &amp; FMI Conference 2026 · Georgia Tech, Atlanta · 12–14 Oct 2026</a:t>
            </a:r>
          </a:p>
        </p:txBody>
      </p:sp>
      <p:sp>
        <p:nvSpPr>
          <p:cNvPr id="135" name="Slide Number"/>
          <p:cNvSpPr>
            <a:spLocks noGrp="1"/>
          </p:cNvSpPr>
          <p:nvPr>
            <p:ph type="sldNum" sz="quarter" idx="12"/>
          </p:nvPr>
        </p:nvSpPr>
        <p:spPr>
          <a:xfrm>
            <a:off x="11018520" y="6501384"/>
            <a:ext cx="868680" cy="20116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/>
              <a:t>18</a:t>
            </a:fld>
            <a:endParaRPr lang="en-US"/>
          </a:p>
        </p:txBody>
      </p:sp>
      <p:pic>
        <p:nvPicPr>
          <p:cNvPr id="136" name="Picture 135" descr="Fig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758" y="1139722"/>
            <a:ext cx="4333721" cy="4225378"/>
          </a:xfrm>
          <a:prstGeom prst="rect">
            <a:avLst/>
          </a:prstGeom>
        </p:spPr>
      </p:pic>
      <p:sp>
        <p:nvSpPr>
          <p:cNvPr id="137" name="Rounded Rectangle 136"/>
          <p:cNvSpPr/>
          <p:nvPr/>
        </p:nvSpPr>
        <p:spPr>
          <a:xfrm>
            <a:off x="4769813" y="1494282"/>
            <a:ext cx="1448979" cy="1097280"/>
          </a:xfrm>
          <a:prstGeom prst="roundRect">
            <a:avLst>
              <a:gd name="adj" fmla="val 6666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</a:rPr>
              <a:t>52 %</a:t>
            </a:r>
          </a:p>
          <a:p>
            <a:pPr algn="ctr"/>
            <a:r>
              <a:rPr sz="1050" b="1" i="1" u="sng" dirty="0">
                <a:solidFill>
                  <a:srgbClr val="FFFFFF"/>
                </a:solidFill>
              </a:rPr>
              <a:t>plant </a:t>
            </a:r>
            <a:r>
              <a:rPr sz="1050" dirty="0">
                <a:solidFill>
                  <a:srgbClr val="FFFFFF"/>
                </a:solidFill>
              </a:rPr>
              <a:t>headroom</a:t>
            </a:r>
            <a:endParaRPr lang="en-US" sz="1050" dirty="0">
              <a:solidFill>
                <a:srgbClr val="FFFFFF"/>
              </a:solidFill>
            </a:endParaRPr>
          </a:p>
          <a:p>
            <a:pPr algn="ctr"/>
            <a:r>
              <a:rPr sz="1050" dirty="0">
                <a:solidFill>
                  <a:srgbClr val="FFFFFF"/>
                </a:solidFill>
              </a:rPr>
              <a:t>steady state </a:t>
            </a:r>
            <a:endParaRPr lang="en-US" sz="1050" dirty="0">
              <a:solidFill>
                <a:srgbClr val="FFFFFF"/>
              </a:solidFill>
            </a:endParaRPr>
          </a:p>
          <a:p>
            <a:pPr algn="ctr"/>
            <a:r>
              <a:rPr sz="1050" dirty="0">
                <a:solidFill>
                  <a:srgbClr val="FFFFFF"/>
                </a:solidFill>
              </a:rPr>
              <a:t>(96 µs)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138" name="Rounded Rectangle 137"/>
          <p:cNvSpPr/>
          <p:nvPr/>
        </p:nvSpPr>
        <p:spPr>
          <a:xfrm>
            <a:off x="4707981" y="3710940"/>
            <a:ext cx="1448979" cy="1097280"/>
          </a:xfrm>
          <a:prstGeom prst="roundRect">
            <a:avLst>
              <a:gd name="adj" fmla="val 6666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</a:rPr>
              <a:t>33.5 %</a:t>
            </a:r>
          </a:p>
          <a:p>
            <a:pPr algn="ctr"/>
            <a:r>
              <a:rPr sz="1050" b="1" i="1" u="sng" dirty="0">
                <a:solidFill>
                  <a:srgbClr val="FFFFFF"/>
                </a:solidFill>
              </a:rPr>
              <a:t>plant</a:t>
            </a:r>
            <a:r>
              <a:rPr sz="1050" dirty="0">
                <a:solidFill>
                  <a:srgbClr val="FFFFFF"/>
                </a:solidFill>
              </a:rPr>
              <a:t> headroom</a:t>
            </a:r>
            <a:endParaRPr lang="en-US" sz="1050" dirty="0">
              <a:solidFill>
                <a:srgbClr val="FFFFFF"/>
              </a:solidFill>
            </a:endParaRPr>
          </a:p>
          <a:p>
            <a:pPr algn="ctr"/>
            <a:r>
              <a:rPr sz="1050" dirty="0">
                <a:solidFill>
                  <a:srgbClr val="FFFFFF"/>
                </a:solidFill>
              </a:rPr>
              <a:t>sustained fault (133 µs)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6824559" y="5249418"/>
            <a:ext cx="4987778" cy="851154"/>
          </a:xfrm>
          <a:prstGeom prst="roundRect">
            <a:avLst>
              <a:gd name="adj" fmla="val 4687"/>
            </a:avLst>
          </a:prstGeom>
          <a:solidFill>
            <a:srgbClr val="FAF2F2"/>
          </a:solidFill>
          <a:ln w="9525">
            <a:solidFill>
              <a:srgbClr val="98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>
            <a:normAutofit/>
          </a:bodyPr>
          <a:lstStyle/>
          <a:p>
            <a:pPr algn="l"/>
            <a:r>
              <a:rPr sz="1300" b="1" dirty="0">
                <a:solidFill>
                  <a:srgbClr val="980000"/>
                </a:solidFill>
              </a:rPr>
              <a:t>What does not fit</a:t>
            </a:r>
            <a:r>
              <a:rPr lang="en-US" sz="1300" b="1" dirty="0">
                <a:solidFill>
                  <a:srgbClr val="980000"/>
                </a:solidFill>
              </a:rPr>
              <a:t> on the plant board (NUCLEO-H723ZG)?</a:t>
            </a:r>
            <a:endParaRPr sz="1300" b="1" dirty="0">
              <a:solidFill>
                <a:srgbClr val="980000"/>
              </a:solidFill>
            </a:endParaRPr>
          </a:p>
          <a:p>
            <a:pPr marL="182880" indent="-146304" algn="l">
              <a:spcBef>
                <a:spcPts val="300"/>
              </a:spcBef>
              <a:buClr>
                <a:schemeClr val="accent1"/>
              </a:buClr>
              <a:buFont typeface="+mn-lt"/>
              <a:buChar char="•"/>
            </a:pPr>
            <a:r>
              <a:rPr sz="1150" dirty="0">
                <a:solidFill>
                  <a:schemeClr val="tx1"/>
                </a:solidFill>
              </a:rPr>
              <a:t>Plant, Debug build: 239 µs — 19.5 % overrun</a:t>
            </a:r>
          </a:p>
          <a:p>
            <a:pPr marL="182880" indent="-146304" algn="l">
              <a:spcBef>
                <a:spcPts val="300"/>
              </a:spcBef>
              <a:buClr>
                <a:schemeClr val="accent1"/>
              </a:buClr>
              <a:buFont typeface="+mn-lt"/>
              <a:buChar char="•"/>
            </a:pPr>
            <a:r>
              <a:rPr sz="1150" dirty="0">
                <a:solidFill>
                  <a:schemeClr val="tx1"/>
                </a:solidFill>
              </a:rPr>
              <a:t>Plant, 64-</a:t>
            </a:r>
            <a:r>
              <a:rPr lang="en-US" sz="1150" dirty="0">
                <a:solidFill>
                  <a:schemeClr val="tx1"/>
                </a:solidFill>
              </a:rPr>
              <a:t>Bit FPP</a:t>
            </a:r>
            <a:r>
              <a:rPr sz="1150" dirty="0">
                <a:solidFill>
                  <a:schemeClr val="tx1"/>
                </a:solidFill>
              </a:rPr>
              <a:t> Release: 180 µs — only 9 % headroom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6824560" y="4270248"/>
            <a:ext cx="4987778" cy="832866"/>
          </a:xfrm>
          <a:prstGeom prst="roundRect">
            <a:avLst>
              <a:gd name="adj" fmla="val 4687"/>
            </a:avLst>
          </a:prstGeom>
          <a:solidFill>
            <a:srgbClr val="EEF7EE"/>
          </a:solidFill>
          <a:ln w="9525">
            <a:solidFill>
              <a:srgbClr val="007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>
            <a:normAutofit/>
          </a:bodyPr>
          <a:lstStyle/>
          <a:p>
            <a:pPr algn="l"/>
            <a:r>
              <a:rPr sz="1300" b="1" dirty="0">
                <a:solidFill>
                  <a:srgbClr val="007733"/>
                </a:solidFill>
              </a:rPr>
              <a:t>What that buys</a:t>
            </a:r>
            <a:r>
              <a:rPr lang="en-US" sz="1300" b="1" dirty="0">
                <a:solidFill>
                  <a:srgbClr val="007733"/>
                </a:solidFill>
              </a:rPr>
              <a:t> for the PSS ?</a:t>
            </a:r>
            <a:endParaRPr sz="1300" b="1" dirty="0">
              <a:solidFill>
                <a:srgbClr val="007733"/>
              </a:solidFill>
            </a:endParaRPr>
          </a:p>
          <a:p>
            <a:pPr marL="182880" indent="-146304" algn="l">
              <a:spcBef>
                <a:spcPts val="300"/>
              </a:spcBef>
              <a:buClr>
                <a:schemeClr val="accent1"/>
              </a:buClr>
              <a:buFont typeface="+mn-lt"/>
              <a:buChar char="•"/>
            </a:pPr>
            <a:r>
              <a:rPr sz="1150" dirty="0">
                <a:solidFill>
                  <a:schemeClr val="tx1"/>
                </a:solidFill>
              </a:rPr>
              <a:t>Controller Debug build also deployable: 82.8 % headroom</a:t>
            </a:r>
          </a:p>
          <a:p>
            <a:pPr marL="182880" indent="-146304" algn="l">
              <a:spcBef>
                <a:spcPts val="300"/>
              </a:spcBef>
              <a:buClr>
                <a:schemeClr val="accent1"/>
              </a:buClr>
              <a:buFont typeface="+mn-lt"/>
              <a:buChar char="•"/>
            </a:pPr>
            <a:r>
              <a:rPr sz="1150" dirty="0">
                <a:solidFill>
                  <a:schemeClr val="tx1"/>
                </a:solidFill>
              </a:rPr>
              <a:t>Room for richer stabilizers, and for -O0 where -O3 is not allowed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Conclusions — and the repository is </a:t>
            </a:r>
            <a:r>
              <a:rPr lang="en-US" dirty="0"/>
              <a:t>open-source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760" y="914400"/>
            <a:ext cx="8732520" cy="4617720"/>
          </a:xfrm>
        </p:spPr>
        <p:txBody>
          <a:bodyPr wrap="square">
            <a:normAutofit/>
          </a:bodyPr>
          <a:lstStyle/>
          <a:p>
            <a:r>
              <a:rPr sz="1800" dirty="0"/>
              <a:t>What we showed</a:t>
            </a:r>
          </a:p>
          <a:p>
            <a:pPr lvl="1"/>
            <a:r>
              <a:rPr sz="1600" b="1" dirty="0"/>
              <a:t>A complete MBSE chain</a:t>
            </a:r>
            <a:r>
              <a:rPr sz="1600" dirty="0"/>
              <a:t> from acausal Modelica physics to MISRA-compliant embedded C, traceability preserved by </a:t>
            </a:r>
            <a:r>
              <a:rPr lang="en-US" sz="1600" dirty="0"/>
              <a:t>design thanks to </a:t>
            </a:r>
            <a:r>
              <a:rPr lang="en-US" sz="1600" dirty="0" err="1"/>
              <a:t>eFMI</a:t>
            </a:r>
            <a:r>
              <a:rPr lang="en-US" sz="1600" dirty="0"/>
              <a:t> std</a:t>
            </a:r>
            <a:r>
              <a:rPr sz="1600" dirty="0"/>
              <a:t>.</a:t>
            </a:r>
          </a:p>
          <a:p>
            <a:pPr lvl="1"/>
            <a:r>
              <a:rPr sz="1600" b="1" dirty="0"/>
              <a:t>Validation at every level</a:t>
            </a:r>
            <a:r>
              <a:rPr sz="1600" dirty="0"/>
              <a:t> — once </a:t>
            </a:r>
            <a:r>
              <a:rPr sz="1600" dirty="0" err="1"/>
              <a:t>SiL</a:t>
            </a:r>
            <a:r>
              <a:rPr sz="1600" dirty="0"/>
              <a:t> passes, hardware integration is mostly memory fit and timing.</a:t>
            </a:r>
          </a:p>
          <a:p>
            <a:pPr lvl="1"/>
            <a:r>
              <a:rPr sz="1600" b="1" dirty="0" err="1"/>
              <a:t>eFMI</a:t>
            </a:r>
            <a:r>
              <a:rPr sz="1600" b="1" dirty="0"/>
              <a:t> is viable for the plant too</a:t>
            </a:r>
            <a:r>
              <a:rPr sz="1600" dirty="0"/>
              <a:t>, not only the controller — this surprised us. </a:t>
            </a:r>
            <a:br>
              <a:rPr lang="en-US" sz="1600" dirty="0"/>
            </a:br>
            <a:r>
              <a:rPr sz="1600" dirty="0"/>
              <a:t>We </a:t>
            </a:r>
            <a:r>
              <a:rPr lang="en-US" sz="1600" dirty="0"/>
              <a:t>planned to use</a:t>
            </a:r>
            <a:r>
              <a:rPr sz="1600" dirty="0"/>
              <a:t> a real-time </a:t>
            </a:r>
            <a:r>
              <a:rPr lang="en-US" sz="1600" dirty="0"/>
              <a:t>simulator </a:t>
            </a:r>
            <a:r>
              <a:rPr sz="1600" dirty="0"/>
              <a:t>for the </a:t>
            </a:r>
            <a:r>
              <a:rPr lang="en-US" sz="1600" dirty="0"/>
              <a:t>plant but</a:t>
            </a:r>
            <a:r>
              <a:rPr sz="1600" dirty="0"/>
              <a:t> tried </a:t>
            </a:r>
            <a:r>
              <a:rPr sz="1600" dirty="0" err="1"/>
              <a:t>eFMI</a:t>
            </a:r>
            <a:r>
              <a:rPr sz="1600" dirty="0"/>
              <a:t> out of </a:t>
            </a:r>
            <a:r>
              <a:rPr lang="en-US" sz="1600" dirty="0"/>
              <a:t>need, </a:t>
            </a:r>
            <a:br>
              <a:rPr lang="en-US" sz="1600" dirty="0"/>
            </a:br>
            <a:r>
              <a:rPr lang="en-US" sz="1600" dirty="0"/>
              <a:t>as the RTS vendor has poor FMU support (only works with models exported from a specific tool).</a:t>
            </a:r>
            <a:endParaRPr sz="1600" dirty="0"/>
          </a:p>
          <a:p>
            <a:pPr lvl="1"/>
            <a:r>
              <a:rPr sz="1600" b="1" dirty="0"/>
              <a:t>≫ $50,000 platform → &lt; $</a:t>
            </a:r>
            <a:r>
              <a:rPr lang="en-US" sz="1600" b="1" dirty="0"/>
              <a:t>10</a:t>
            </a:r>
            <a:r>
              <a:rPr sz="1600" b="1" dirty="0"/>
              <a:t>0 microcontroller</a:t>
            </a:r>
            <a:r>
              <a:rPr lang="en-US" sz="1600" b="1" dirty="0"/>
              <a:t>s</a:t>
            </a:r>
            <a:r>
              <a:rPr sz="1600" dirty="0"/>
              <a:t>, with free tooling apart from Dymola.</a:t>
            </a:r>
          </a:p>
          <a:p>
            <a:r>
              <a:rPr sz="1800" dirty="0"/>
              <a:t>What comes next</a:t>
            </a:r>
          </a:p>
          <a:p>
            <a:pPr lvl="1"/>
            <a:r>
              <a:rPr sz="1600" dirty="0"/>
              <a:t>More PSS models and board templates; online recalibration for adaptive tuning; </a:t>
            </a:r>
            <a:r>
              <a:rPr sz="1600" dirty="0" err="1"/>
              <a:t>eFMU</a:t>
            </a:r>
            <a:r>
              <a:rPr sz="1600" dirty="0"/>
              <a:t> integration on </a:t>
            </a:r>
            <a:r>
              <a:rPr sz="1600" dirty="0" err="1"/>
              <a:t>dSPACE</a:t>
            </a:r>
            <a:r>
              <a:rPr sz="1600" dirty="0"/>
              <a:t>, Typhoon HIL and OPAL-RT.</a:t>
            </a:r>
            <a:br>
              <a:rPr lang="en-US" sz="1600" dirty="0"/>
            </a:br>
            <a:endParaRPr lang="en-US" sz="1050" b="1" dirty="0">
              <a:solidFill>
                <a:schemeClr val="accent1"/>
              </a:solidFill>
              <a:latin typeface="CMU Typewriter Text"/>
            </a:endParaRPr>
          </a:p>
          <a:p>
            <a:pPr algn="ctr"/>
            <a:r>
              <a:rPr sz="1800" b="1" dirty="0">
                <a:solidFill>
                  <a:schemeClr val="accent1"/>
                </a:solidFill>
                <a:latin typeface="CMU Typewriter Text"/>
              </a:rPr>
              <a:t>github.com/</a:t>
            </a:r>
            <a:r>
              <a:rPr sz="1800" b="1" dirty="0" err="1">
                <a:solidFill>
                  <a:schemeClr val="accent1"/>
                </a:solidFill>
                <a:latin typeface="CMU Typewriter Text"/>
              </a:rPr>
              <a:t>ALSETLab</a:t>
            </a:r>
            <a:r>
              <a:rPr sz="1800" b="1" dirty="0">
                <a:solidFill>
                  <a:schemeClr val="accent1"/>
                </a:solidFill>
                <a:latin typeface="CMU Typewriter Text"/>
              </a:rPr>
              <a:t>/</a:t>
            </a:r>
            <a:r>
              <a:rPr sz="1800" b="1" dirty="0" err="1">
                <a:solidFill>
                  <a:schemeClr val="accent1"/>
                </a:solidFill>
                <a:latin typeface="CMU Typewriter Text"/>
              </a:rPr>
              <a:t>efmi</a:t>
            </a:r>
            <a:r>
              <a:rPr sz="1800" b="1" dirty="0">
                <a:solidFill>
                  <a:schemeClr val="accent1"/>
                </a:solidFill>
                <a:latin typeface="CMU Typewriter Text"/>
              </a:rPr>
              <a:t>-</a:t>
            </a:r>
            <a:r>
              <a:rPr sz="1800" b="1" dirty="0" err="1">
                <a:solidFill>
                  <a:schemeClr val="accent1"/>
                </a:solidFill>
                <a:latin typeface="CMU Typewriter Text"/>
              </a:rPr>
              <a:t>pss</a:t>
            </a:r>
            <a:r>
              <a:rPr sz="1800" b="1" dirty="0">
                <a:solidFill>
                  <a:schemeClr val="accent1"/>
                </a:solidFill>
                <a:latin typeface="CMU Typewriter Text"/>
              </a:rPr>
              <a:t>-use-case</a:t>
            </a:r>
            <a:r>
              <a:rPr sz="1800" dirty="0">
                <a:solidFill>
                  <a:schemeClr val="accent1"/>
                </a:solidFill>
              </a:rPr>
              <a:t>   ·   3-Clause BSD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9098280" y="914400"/>
            <a:ext cx="2727655" cy="1658112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</p:spPr>
        <p:txBody>
          <a:bodyPr wrap="square"/>
          <a:lstStyle/>
          <a:p>
            <a:r>
              <a:rPr dirty="0"/>
              <a:t>Models and tests</a:t>
            </a:r>
          </a:p>
          <a:p>
            <a:pPr lvl="1"/>
            <a:r>
              <a:rPr dirty="0">
                <a:latin typeface="CMU Typewriter Text"/>
              </a:rPr>
              <a:t>models/</a:t>
            </a:r>
            <a:r>
              <a:rPr dirty="0"/>
              <a:t> — OpenIPSL_CHIL: </a:t>
            </a:r>
            <a:br>
              <a:rPr lang="en-US" dirty="0"/>
            </a:br>
            <a:r>
              <a:rPr dirty="0"/>
              <a:t>PSS variants, </a:t>
            </a:r>
            <a:br>
              <a:rPr lang="en-US" dirty="0"/>
            </a:br>
            <a:r>
              <a:rPr dirty="0"/>
              <a:t>real-time-suited plant models, </a:t>
            </a:r>
            <a:br>
              <a:rPr lang="en-US" dirty="0"/>
            </a:br>
            <a:r>
              <a:rPr dirty="0" err="1"/>
              <a:t>eFMU</a:t>
            </a:r>
            <a:r>
              <a:rPr dirty="0"/>
              <a:t> configurations, </a:t>
            </a:r>
            <a:br>
              <a:rPr lang="en-US" dirty="0"/>
            </a:br>
            <a:r>
              <a:rPr dirty="0"/>
              <a:t>unit tests</a:t>
            </a:r>
            <a:br>
              <a:rPr lang="en-US" dirty="0"/>
            </a:br>
            <a:r>
              <a:rPr lang="en-US" dirty="0" err="1"/>
              <a:t>etc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>
          <a:xfrm>
            <a:off x="9098280" y="2737104"/>
            <a:ext cx="2727655" cy="1658112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</p:spPr>
        <p:txBody>
          <a:bodyPr wrap="square"/>
          <a:lstStyle/>
          <a:p>
            <a:r>
              <a:rPr dirty="0"/>
              <a:t>Firmware</a:t>
            </a:r>
          </a:p>
          <a:p>
            <a:pPr lvl="1"/>
            <a:r>
              <a:rPr dirty="0">
                <a:latin typeface="CMU Typewriter Text"/>
              </a:rPr>
              <a:t>firmware/</a:t>
            </a:r>
            <a:r>
              <a:rPr dirty="0"/>
              <a:t> — STM32CubeIDE projects for controller and plant, with the production code symbolically linked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"/>
          </p:nvPr>
        </p:nvSpPr>
        <p:spPr>
          <a:xfrm>
            <a:off x="9098280" y="4559808"/>
            <a:ext cx="2727655" cy="1658112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</p:spPr>
        <p:txBody>
          <a:bodyPr wrap="square"/>
          <a:lstStyle/>
          <a:p>
            <a:r>
              <a:rPr dirty="0"/>
              <a:t>Evidence</a:t>
            </a:r>
          </a:p>
          <a:p>
            <a:pPr lvl="1"/>
            <a:r>
              <a:rPr dirty="0">
                <a:latin typeface="CMU Typewriter Text"/>
              </a:rPr>
              <a:t>measurements/</a:t>
            </a:r>
            <a:r>
              <a:rPr dirty="0"/>
              <a:t>, </a:t>
            </a:r>
            <a:r>
              <a:rPr dirty="0">
                <a:latin typeface="CMU Typewriter Text"/>
              </a:rPr>
              <a:t>postprocessing/</a:t>
            </a:r>
            <a:r>
              <a:rPr dirty="0"/>
              <a:t>, </a:t>
            </a:r>
            <a:r>
              <a:rPr dirty="0">
                <a:latin typeface="CMU Typewriter Text"/>
              </a:rPr>
              <a:t>logs/check-code/</a:t>
            </a:r>
            <a:r>
              <a:rPr dirty="0"/>
              <a:t> — raw CHiL captures, the scripts that reproduce every figure, and the full clang-tidy and </a:t>
            </a:r>
            <a:r>
              <a:rPr dirty="0" err="1"/>
              <a:t>Cppcheck</a:t>
            </a:r>
            <a:r>
              <a:rPr dirty="0"/>
              <a:t> reports</a:t>
            </a:r>
          </a:p>
        </p:txBody>
      </p:sp>
      <p:sp>
        <p:nvSpPr>
          <p:cNvPr id="153" name="Footer"/>
          <p:cNvSpPr>
            <a:spLocks noGrp="1"/>
          </p:cNvSpPr>
          <p:nvPr>
            <p:ph type="ftr" sz="quarter" idx="11"/>
          </p:nvPr>
        </p:nvSpPr>
        <p:spPr>
          <a:xfrm>
            <a:off x="6400800" y="6675120"/>
            <a:ext cx="5486400" cy="16459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</a:defRPr>
            </a:lvl1pPr>
          </a:lstStyle>
          <a:p>
            <a:r>
              <a:t>American Modelica &amp; FMI Conference 2026 · Georgia Tech, Atlanta · 12–14 Oct 2026</a:t>
            </a:r>
          </a:p>
        </p:txBody>
      </p:sp>
      <p:sp>
        <p:nvSpPr>
          <p:cNvPr id="154" name="Slide Number"/>
          <p:cNvSpPr>
            <a:spLocks noGrp="1"/>
          </p:cNvSpPr>
          <p:nvPr>
            <p:ph type="sldNum" sz="quarter" idx="12"/>
          </p:nvPr>
        </p:nvSpPr>
        <p:spPr>
          <a:xfrm>
            <a:off x="11018520" y="6501384"/>
            <a:ext cx="868680" cy="20116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/>
              <a:t>19</a:t>
            </a:fld>
            <a:endParaRPr lang="en-US"/>
          </a:p>
        </p:txBody>
      </p:sp>
      <p:pic>
        <p:nvPicPr>
          <p:cNvPr id="155" name="Picture 154" descr="repo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5180" y="5275927"/>
            <a:ext cx="1051560" cy="1051560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4396740" y="5637276"/>
            <a:ext cx="2484120" cy="457200"/>
          </a:xfrm>
          <a:prstGeom prst="rect">
            <a:avLst/>
          </a:prstGeom>
          <a:noFill/>
        </p:spPr>
        <p:txBody>
          <a:bodyPr wrap="square" lIns="27432" tIns="0" rIns="27432" bIns="0" anchor="t">
            <a:normAutofit/>
          </a:bodyPr>
          <a:lstStyle/>
          <a:p>
            <a:pPr algn="ctr"/>
            <a:r>
              <a:rPr sz="1100" b="0" i="1" dirty="0">
                <a:solidFill>
                  <a:schemeClr val="accent3"/>
                </a:solidFill>
              </a:rPr>
              <a:t>Scan for models, firmware, </a:t>
            </a:r>
            <a:endParaRPr lang="en-US" sz="1100" b="0" i="1" dirty="0">
              <a:solidFill>
                <a:schemeClr val="accent3"/>
              </a:solidFill>
            </a:endParaRPr>
          </a:p>
          <a:p>
            <a:pPr algn="ctr"/>
            <a:r>
              <a:rPr sz="1100" b="0" i="1" dirty="0">
                <a:solidFill>
                  <a:schemeClr val="accent3"/>
                </a:solidFill>
              </a:rPr>
              <a:t>measurements and analysis scripts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21C854B-E74F-F260-BA84-02A4F64BF96D}"/>
              </a:ext>
            </a:extLst>
          </p:cNvPr>
          <p:cNvSpPr/>
          <p:nvPr/>
        </p:nvSpPr>
        <p:spPr>
          <a:xfrm>
            <a:off x="3650566" y="5713242"/>
            <a:ext cx="4846320" cy="1046284"/>
          </a:xfrm>
          <a:prstGeom prst="rect">
            <a:avLst/>
          </a:prstGeom>
          <a:solidFill>
            <a:srgbClr val="D600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 — Questions?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b="1" dirty="0"/>
              <a:t>Luigi Vanfretti</a:t>
            </a:r>
            <a:r>
              <a:rPr dirty="0"/>
              <a:t>  ·  Professor, ECSE  ·  Rensselaer Polytechnic Institute</a:t>
            </a:r>
          </a:p>
          <a:p>
            <a:pPr lvl="1"/>
            <a:r>
              <a:rPr dirty="0"/>
              <a:t>vanfrl@rpi.edu</a:t>
            </a:r>
          </a:p>
          <a:p>
            <a:pPr lvl="1"/>
            <a:endParaRPr lang="en-US" dirty="0">
              <a:latin typeface="CMU Typewriter Text"/>
            </a:endParaRPr>
          </a:p>
          <a:p>
            <a:pPr lvl="1"/>
            <a:r>
              <a:rPr dirty="0">
                <a:latin typeface="CMU Typewriter Text"/>
              </a:rPr>
              <a:t>github.com/</a:t>
            </a:r>
            <a:r>
              <a:rPr dirty="0" err="1">
                <a:latin typeface="CMU Typewriter Text"/>
              </a:rPr>
              <a:t>ALSETLab</a:t>
            </a:r>
            <a:r>
              <a:rPr dirty="0">
                <a:latin typeface="CMU Typewriter Text"/>
              </a:rPr>
              <a:t>/</a:t>
            </a:r>
            <a:r>
              <a:rPr dirty="0" err="1">
                <a:latin typeface="CMU Typewriter Text"/>
              </a:rPr>
              <a:t>efmi</a:t>
            </a:r>
            <a:r>
              <a:rPr dirty="0">
                <a:latin typeface="CMU Typewriter Text"/>
              </a:rPr>
              <a:t>-</a:t>
            </a:r>
            <a:r>
              <a:rPr dirty="0" err="1">
                <a:latin typeface="CMU Typewriter Text"/>
              </a:rPr>
              <a:t>pss</a:t>
            </a:r>
            <a:r>
              <a:rPr dirty="0">
                <a:latin typeface="CMU Typewriter Text"/>
              </a:rPr>
              <a:t>-use-case</a:t>
            </a:r>
          </a:p>
        </p:txBody>
      </p:sp>
      <p:pic>
        <p:nvPicPr>
          <p:cNvPr id="4" name="Picture 3" descr="repo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066" y="5220873"/>
            <a:ext cx="1417320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Back-up slides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t>Everything in the paper that did not fit the main deck</a:t>
            </a:r>
          </a:p>
        </p:txBody>
      </p:sp>
      <p:sp>
        <p:nvSpPr>
          <p:cNvPr id="118" name="Footer"/>
          <p:cNvSpPr>
            <a:spLocks noGrp="1"/>
          </p:cNvSpPr>
          <p:nvPr>
            <p:ph type="ftr" sz="quarter" idx="11"/>
          </p:nvPr>
        </p:nvSpPr>
        <p:spPr>
          <a:xfrm>
            <a:off x="6400800" y="6675120"/>
            <a:ext cx="5486400" cy="16459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</a:defRPr>
            </a:lvl1pPr>
          </a:lstStyle>
          <a:p>
            <a:r>
              <a:t>American Modelica &amp; FMI Conference 2026 · Georgia Tech, Atlanta · 12–14 Oct 2026</a:t>
            </a:r>
          </a:p>
        </p:txBody>
      </p:sp>
      <p:sp>
        <p:nvSpPr>
          <p:cNvPr id="119" name="Slide Number"/>
          <p:cNvSpPr>
            <a:spLocks noGrp="1"/>
          </p:cNvSpPr>
          <p:nvPr>
            <p:ph type="sldNum" sz="quarter" idx="12"/>
          </p:nvPr>
        </p:nvSpPr>
        <p:spPr>
          <a:xfrm>
            <a:off x="11018520" y="6501384"/>
            <a:ext cx="868680" cy="20116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B1 · OpenIPSL 3.1.0 library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lvl="1"/>
            <a:r>
              <a:rPr>
                <a:latin typeface="CMU Typewriter Text"/>
              </a:rPr>
              <a:t>*.Electrical</a:t>
            </a:r>
            <a:r>
              <a:t> — machines, loads, lines, transformers, regulators and control devices; renewables with PV, wind and storage.</a:t>
            </a:r>
          </a:p>
          <a:p>
            <a:pPr lvl="1"/>
            <a:r>
              <a:rPr>
                <a:latin typeface="CMU Typewriter Text"/>
              </a:rPr>
              <a:t>*.NonElectrical</a:t>
            </a:r>
            <a:r>
              <a:t> — blocks, functions and MSL extensions that keep results consistent with PSS®E.</a:t>
            </a:r>
          </a:p>
          <a:p>
            <a:pPr lvl="1"/>
            <a:r>
              <a:rPr>
                <a:latin typeface="CMU Typewriter Text"/>
              </a:rPr>
              <a:t>*.Interfaces</a:t>
            </a:r>
            <a:r>
              <a:t> — the </a:t>
            </a:r>
            <a:r>
              <a:rPr>
                <a:latin typeface="CMU Typewriter Text"/>
              </a:rPr>
              <a:t>PwPin</a:t>
            </a:r>
            <a:r>
              <a:t> physical phasor connector and the </a:t>
            </a:r>
            <a:r>
              <a:rPr>
                <a:latin typeface="CMU Typewriter Text"/>
              </a:rPr>
              <a:t>Generator</a:t>
            </a:r>
            <a:r>
              <a:t> partial model every generation unit derives from.</a:t>
            </a:r>
          </a:p>
          <a:p>
            <a:pPr lvl="1"/>
            <a:r>
              <a:t>Phasor-domain transient (RMS) simulation; unbalanced three-phase without co-simulation; mixed EMT and TS modelling.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>
          <a:xfrm>
            <a:off x="6720840" y="3576675"/>
            <a:ext cx="5105095" cy="475488"/>
          </a:xfrm>
        </p:spPr>
        <p:txBody>
          <a:bodyPr wrap="square"/>
          <a:lstStyle/>
          <a:p>
            <a:r>
              <a:t>OpenIPSL 3.1.0 library overview</a:t>
            </a:r>
          </a:p>
        </p:txBody>
      </p:sp>
      <p:sp>
        <p:nvSpPr>
          <p:cNvPr id="128" name="Footer"/>
          <p:cNvSpPr>
            <a:spLocks noGrp="1"/>
          </p:cNvSpPr>
          <p:nvPr>
            <p:ph type="ftr" sz="quarter" idx="11"/>
          </p:nvPr>
        </p:nvSpPr>
        <p:spPr>
          <a:xfrm>
            <a:off x="6400800" y="6675120"/>
            <a:ext cx="5486400" cy="16459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</a:defRPr>
            </a:lvl1pPr>
          </a:lstStyle>
          <a:p>
            <a:r>
              <a:t>American Modelica &amp; FMI Conference 2026 · Georgia Tech, Atlanta · 12–14 Oct 2026</a:t>
            </a:r>
          </a:p>
        </p:txBody>
      </p:sp>
      <p:sp>
        <p:nvSpPr>
          <p:cNvPr id="129" name="Slide Number"/>
          <p:cNvSpPr>
            <a:spLocks noGrp="1"/>
          </p:cNvSpPr>
          <p:nvPr>
            <p:ph type="sldNum" sz="quarter" idx="12"/>
          </p:nvPr>
        </p:nvSpPr>
        <p:spPr>
          <a:xfrm>
            <a:off x="11018520" y="6501384"/>
            <a:ext cx="868680" cy="20116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/>
              <a:t>22</a:t>
            </a:fld>
            <a:endParaRPr lang="en-US"/>
          </a:p>
        </p:txBody>
      </p:sp>
      <p:pic>
        <p:nvPicPr>
          <p:cNvPr id="130" name="Picture 129" descr="f02-openips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914400"/>
            <a:ext cx="5105095" cy="255254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B2 · The generator unit: generator with ECS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4"/>
          </p:nvPr>
        </p:nvSpPr>
        <p:spPr>
          <a:xfrm>
            <a:off x="365760" y="3520440"/>
            <a:ext cx="11460175" cy="475488"/>
          </a:xfrm>
        </p:spPr>
        <p:txBody>
          <a:bodyPr wrap="square"/>
          <a:lstStyle/>
          <a:p>
            <a:r>
              <a:t>*.Generator.ReDesign.GenAVRIOReDesign — the generator unit model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lvl="1"/>
            <a:r>
              <a:rPr b="1"/>
              <a:t>(A) the ECS</a:t>
            </a:r>
            <a:r>
              <a:t> — AVR Type III from PSAT as implemented in OpenIPSL; no modification was needed.</a:t>
            </a:r>
          </a:p>
          <a:p>
            <a:pPr lvl="1"/>
            <a:r>
              <a:rPr b="1"/>
              <a:t>(B) the synchronous machine</a:t>
            </a:r>
            <a:r>
              <a:t> — “Order VI” from PSAT, in </a:t>
            </a:r>
            <a:r>
              <a:rPr>
                <a:latin typeface="CMU Typewriter Text"/>
              </a:rPr>
              <a:t>OpenIPSL.Electrical.Machines.PSAT.BaseClasses.baseMachine</a:t>
            </a:r>
            <a:r>
              <a:t>; the base class needed the </a:t>
            </a:r>
            <a:r>
              <a:rPr>
                <a:latin typeface="CMU Typewriter Text"/>
              </a:rPr>
              <a:t>atan2</a:t>
            </a:r>
            <a:r>
              <a:t> change of back-up B7.</a:t>
            </a:r>
          </a:p>
          <a:p>
            <a:pPr lvl="1"/>
            <a:r>
              <a:rPr b="1"/>
              <a:t>(C)/(D) interfaces</a:t>
            </a:r>
            <a:r>
              <a:t> — </a:t>
            </a:r>
            <a:r>
              <a:rPr>
                <a:latin typeface="CMU Typewriter Text"/>
              </a:rPr>
              <a:t>u</a:t>
            </a:r>
            <a:r>
              <a:t> is the ECS input, </a:t>
            </a:r>
            <a:r>
              <a:rPr>
                <a:latin typeface="CMU Typewriter Text"/>
              </a:rPr>
              <a:t>v</a:t>
            </a:r>
            <a:r>
              <a:t> the terminal-voltage feedback, </a:t>
            </a:r>
            <a:r>
              <a:rPr>
                <a:latin typeface="CMU Typewriter Text"/>
              </a:rPr>
              <a:t>w</a:t>
            </a:r>
            <a:r>
              <a:t> the speed output ω(t), and </a:t>
            </a:r>
            <a:r>
              <a:rPr>
                <a:latin typeface="CMU Typewriter Text"/>
              </a:rPr>
              <a:t>pwPin</a:t>
            </a:r>
            <a:r>
              <a:t> the OpenIPSL physical connector.</a:t>
            </a:r>
          </a:p>
        </p:txBody>
      </p:sp>
      <p:sp>
        <p:nvSpPr>
          <p:cNvPr id="134" name="Footer"/>
          <p:cNvSpPr>
            <a:spLocks noGrp="1"/>
          </p:cNvSpPr>
          <p:nvPr>
            <p:ph type="ftr" sz="quarter" idx="11"/>
          </p:nvPr>
        </p:nvSpPr>
        <p:spPr>
          <a:xfrm>
            <a:off x="6400800" y="6675120"/>
            <a:ext cx="5486400" cy="16459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</a:defRPr>
            </a:lvl1pPr>
          </a:lstStyle>
          <a:p>
            <a:r>
              <a:t>American Modelica &amp; FMI Conference 2026 · Georgia Tech, Atlanta · 12–14 Oct 2026</a:t>
            </a:r>
          </a:p>
        </p:txBody>
      </p:sp>
      <p:sp>
        <p:nvSpPr>
          <p:cNvPr id="135" name="Slide Number"/>
          <p:cNvSpPr>
            <a:spLocks noGrp="1"/>
          </p:cNvSpPr>
          <p:nvPr>
            <p:ph type="sldNum" sz="quarter" idx="12"/>
          </p:nvPr>
        </p:nvSpPr>
        <p:spPr>
          <a:xfrm>
            <a:off x="11018520" y="6501384"/>
            <a:ext cx="868680" cy="20116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/>
              <a:t>23</a:t>
            </a:fld>
            <a:endParaRPr lang="en-US"/>
          </a:p>
        </p:txBody>
      </p:sp>
      <p:pic>
        <p:nvPicPr>
          <p:cNvPr id="136" name="Picture 135" descr="f06-powerpl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7593" y="914400"/>
            <a:ext cx="7596508" cy="249631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B3 · Reference simulation model for MiL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lvl="1"/>
            <a:r>
              <a:rPr b="1" dirty="0"/>
              <a:t>(A) and (C)</a:t>
            </a:r>
            <a:r>
              <a:rPr dirty="0"/>
              <a:t> are the power system model; (A) is expanded in (B).</a:t>
            </a:r>
          </a:p>
          <a:p>
            <a:pPr lvl="1"/>
            <a:r>
              <a:rPr b="1" dirty="0"/>
              <a:t>(B) carries the PSS variant of Figure 4 (D)</a:t>
            </a:r>
            <a:r>
              <a:rPr dirty="0"/>
              <a:t> in a clocked partition: a </a:t>
            </a:r>
            <a:r>
              <a:rPr dirty="0" err="1">
                <a:latin typeface="CMU Typewriter Text"/>
              </a:rPr>
              <a:t>periodicClock</a:t>
            </a:r>
            <a:r>
              <a:rPr dirty="0"/>
              <a:t> at 0.2 </a:t>
            </a:r>
            <a:r>
              <a:rPr dirty="0" err="1"/>
              <a:t>ms</a:t>
            </a:r>
            <a:r>
              <a:rPr dirty="0"/>
              <a:t> with an explicit Euler solver, a </a:t>
            </a:r>
            <a:r>
              <a:rPr dirty="0">
                <a:latin typeface="CMU Typewriter Text"/>
              </a:rPr>
              <a:t>sampler</a:t>
            </a:r>
            <a:r>
              <a:rPr dirty="0"/>
              <a:t> on the speed input and a </a:t>
            </a:r>
            <a:r>
              <a:rPr dirty="0">
                <a:latin typeface="CMU Typewriter Text"/>
              </a:rPr>
              <a:t>hold</a:t>
            </a:r>
            <a:r>
              <a:rPr dirty="0"/>
              <a:t> on the output.</a:t>
            </a:r>
          </a:p>
          <a:p>
            <a:pPr lvl="1"/>
            <a:r>
              <a:rPr b="1" dirty="0"/>
              <a:t>The </a:t>
            </a:r>
            <a:r>
              <a:rPr dirty="0" err="1">
                <a:latin typeface="CMU Typewriter Text"/>
              </a:rPr>
              <a:t>wscale</a:t>
            </a:r>
            <a:r>
              <a:rPr b="1" dirty="0"/>
              <a:t> gain is applied before the sampler</a:t>
            </a:r>
            <a:r>
              <a:rPr dirty="0"/>
              <a:t> because the signal comes straight from the generator unit, not from the pre-conditioned plant output.</a:t>
            </a:r>
          </a:p>
          <a:p>
            <a:pPr lvl="1"/>
            <a:r>
              <a:rPr b="1" dirty="0"/>
              <a:t>Everything else is unmodified OpenIPSL</a:t>
            </a:r>
            <a:r>
              <a:rPr dirty="0"/>
              <a:t> in continuous time — this model represents deployment in a real plant, not the CHiL bench.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>
          <a:xfrm>
            <a:off x="6720840" y="4189286"/>
            <a:ext cx="5105095" cy="475488"/>
          </a:xfrm>
        </p:spPr>
        <p:txBody>
          <a:bodyPr wrap="square"/>
          <a:lstStyle/>
          <a:p>
            <a:r>
              <a:t>Reference simulation model: (A) power system, (B) generator unit with clocked PSS, (C) interface</a:t>
            </a:r>
          </a:p>
        </p:txBody>
      </p:sp>
      <p:sp>
        <p:nvSpPr>
          <p:cNvPr id="128" name="Footer"/>
          <p:cNvSpPr>
            <a:spLocks noGrp="1"/>
          </p:cNvSpPr>
          <p:nvPr>
            <p:ph type="ftr" sz="quarter" idx="11"/>
          </p:nvPr>
        </p:nvSpPr>
        <p:spPr>
          <a:xfrm>
            <a:off x="6400800" y="6675120"/>
            <a:ext cx="5486400" cy="16459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</a:defRPr>
            </a:lvl1pPr>
          </a:lstStyle>
          <a:p>
            <a:r>
              <a:t>American Modelica &amp; FMI Conference 2026 · Georgia Tech, Atlanta · 12–14 Oct 2026</a:t>
            </a:r>
          </a:p>
        </p:txBody>
      </p:sp>
      <p:sp>
        <p:nvSpPr>
          <p:cNvPr id="129" name="Slide Number"/>
          <p:cNvSpPr>
            <a:spLocks noGrp="1"/>
          </p:cNvSpPr>
          <p:nvPr>
            <p:ph type="sldNum" sz="quarter" idx="12"/>
          </p:nvPr>
        </p:nvSpPr>
        <p:spPr>
          <a:xfrm>
            <a:off x="11018520" y="6501384"/>
            <a:ext cx="868680" cy="20116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/>
              <a:t>24</a:t>
            </a:fld>
            <a:endParaRPr lang="en-US"/>
          </a:p>
        </p:txBody>
      </p:sp>
      <p:pic>
        <p:nvPicPr>
          <p:cNvPr id="130" name="Picture 129" descr="f07-refsim-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914400"/>
            <a:ext cx="5105095" cy="316515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B4 · CHiL setup model variants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lvl="1"/>
            <a:r>
              <a:rPr b="1"/>
              <a:t>(A) continuous time</a:t>
            </a:r>
            <a:r>
              <a:t> — the PSS output drives </a:t>
            </a:r>
            <a:r>
              <a:rPr>
                <a:latin typeface="CMU Typewriter Text"/>
              </a:rPr>
              <a:t>G4CHIL</a:t>
            </a:r>
            <a:r>
              <a:t>, whose output drives the PSS. A </a:t>
            </a:r>
            <a:r>
              <a:rPr>
                <a:latin typeface="CMU Typewriter Text"/>
              </a:rPr>
              <a:t>faultTimer</a:t>
            </a:r>
            <a:r>
              <a:t> models the push-button fault over t = [1.5, 1.55] s.</a:t>
            </a:r>
          </a:p>
          <a:p>
            <a:pPr lvl="1"/>
            <a:r>
              <a:rPr b="1"/>
              <a:t>(B) clocked</a:t>
            </a:r>
            <a:r>
              <a:t> — controller and plant each in their own clocked partition with sampler, hold and a 0.2 ms periodic clock.</a:t>
            </a:r>
          </a:p>
          <a:p>
            <a:pPr lvl="1"/>
            <a:r>
              <a:rPr b="1"/>
              <a:t>(C) with eFMUs</a:t>
            </a:r>
            <a:r>
              <a:t> — the Modelica models replaced by the generated eFMUs.</a:t>
            </a:r>
          </a:p>
          <a:p>
            <a:pPr lvl="1"/>
            <a:r>
              <a:rPr b="1"/>
              <a:t>(D) with source-code FMUs</a:t>
            </a:r>
            <a:r>
              <a:t> — built from the generated eFMI production code; this is the SiL configuration.</a:t>
            </a:r>
          </a:p>
          <a:p>
            <a:r>
              <a:rPr>
                <a:solidFill>
                  <a:schemeClr val="accent3"/>
                </a:solidFill>
              </a:rPr>
              <a:t>Breadboard capacitance and patch-cable delay are irrelevant at this scale and are not modelled.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>
          <a:xfrm>
            <a:off x="6720840" y="5943600"/>
            <a:ext cx="5105095" cy="475488"/>
          </a:xfrm>
        </p:spPr>
        <p:txBody>
          <a:bodyPr wrap="square"/>
          <a:lstStyle/>
          <a:p>
            <a:r>
              <a:rPr dirty="0"/>
              <a:t>Simulation models of the CHiL setup, (A)–(D)</a:t>
            </a:r>
          </a:p>
        </p:txBody>
      </p:sp>
      <p:sp>
        <p:nvSpPr>
          <p:cNvPr id="128" name="Footer"/>
          <p:cNvSpPr>
            <a:spLocks noGrp="1"/>
          </p:cNvSpPr>
          <p:nvPr>
            <p:ph type="ftr" sz="quarter" idx="11"/>
          </p:nvPr>
        </p:nvSpPr>
        <p:spPr>
          <a:xfrm>
            <a:off x="6400800" y="6675120"/>
            <a:ext cx="5486400" cy="16459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</a:defRPr>
            </a:lvl1pPr>
          </a:lstStyle>
          <a:p>
            <a:r>
              <a:t>American Modelica &amp; FMI Conference 2026 · Georgia Tech, Atlanta · 12–14 Oct 2026</a:t>
            </a:r>
          </a:p>
        </p:txBody>
      </p:sp>
      <p:sp>
        <p:nvSpPr>
          <p:cNvPr id="129" name="Slide Number"/>
          <p:cNvSpPr>
            <a:spLocks noGrp="1"/>
          </p:cNvSpPr>
          <p:nvPr>
            <p:ph type="sldNum" sz="quarter" idx="12"/>
          </p:nvPr>
        </p:nvSpPr>
        <p:spPr>
          <a:xfrm>
            <a:off x="11018520" y="6501384"/>
            <a:ext cx="868680" cy="20116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/>
              <a:t>25</a:t>
            </a:fld>
            <a:endParaRPr lang="en-US"/>
          </a:p>
        </p:txBody>
      </p:sp>
      <p:pic>
        <p:nvPicPr>
          <p:cNvPr id="130" name="Picture 129" descr="f08-allsetups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5613" y="914400"/>
            <a:ext cx="3655546" cy="491947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B5 · MiL error statistics, all five cases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760" y="3886200"/>
            <a:ext cx="11457432" cy="2103120"/>
          </a:xfrm>
        </p:spPr>
        <p:txBody>
          <a:bodyPr wrap="square"/>
          <a:lstStyle/>
          <a:p>
            <a:r>
              <a:rPr dirty="0"/>
              <a:t>Generator speed error relative to </a:t>
            </a:r>
            <a:r>
              <a:rPr dirty="0" err="1"/>
              <a:t>Ref.Sim.DASSL</a:t>
            </a:r>
            <a:endParaRPr dirty="0"/>
          </a:p>
          <a:p>
            <a:pPr lvl="1"/>
            <a:r>
              <a:rPr b="1" dirty="0"/>
              <a:t>Peaks occur in post-fault recovery</a:t>
            </a:r>
            <a:r>
              <a:rPr dirty="0"/>
              <a:t> near t ≈ 2.05 s, not during the fault interval — the </a:t>
            </a:r>
            <a:r>
              <a:rPr dirty="0" err="1"/>
              <a:t>eFMI</a:t>
            </a:r>
            <a:r>
              <a:rPr dirty="0"/>
              <a:t>-targeted variants are numerically stable through the disturbance.</a:t>
            </a:r>
          </a:p>
          <a:p>
            <a:pPr lvl="1"/>
            <a:r>
              <a:rPr b="1" dirty="0"/>
              <a:t>RMS an order of magnitude below the maxima</a:t>
            </a:r>
            <a:r>
              <a:rPr dirty="0"/>
              <a:t> — brief numerical transients, not a persistent bias.</a:t>
            </a:r>
          </a:p>
          <a:p>
            <a:r>
              <a:rPr dirty="0">
                <a:solidFill>
                  <a:schemeClr val="accent1"/>
                </a:solidFill>
              </a:rPr>
              <a:t>The largest deviation, 1.6949e-04 </a:t>
            </a:r>
            <a:r>
              <a:rPr dirty="0" err="1">
                <a:solidFill>
                  <a:schemeClr val="accent1"/>
                </a:solidFill>
              </a:rPr>
              <a:t>pu</a:t>
            </a:r>
            <a:r>
              <a:rPr dirty="0">
                <a:solidFill>
                  <a:schemeClr val="accent1"/>
                </a:solidFill>
              </a:rPr>
              <a:t>, is below the ≈ 8e-04 </a:t>
            </a:r>
            <a:r>
              <a:rPr dirty="0" err="1">
                <a:solidFill>
                  <a:schemeClr val="accent1"/>
                </a:solidFill>
              </a:rPr>
              <a:t>pu</a:t>
            </a:r>
            <a:r>
              <a:rPr dirty="0">
                <a:solidFill>
                  <a:schemeClr val="accent1"/>
                </a:solidFill>
              </a:rPr>
              <a:t> </a:t>
            </a:r>
            <a:r>
              <a:rPr dirty="0" err="1">
                <a:solidFill>
                  <a:schemeClr val="accent1"/>
                </a:solidFill>
              </a:rPr>
              <a:t>quantisation</a:t>
            </a:r>
            <a:r>
              <a:rPr dirty="0">
                <a:solidFill>
                  <a:schemeClr val="accent1"/>
                </a:solidFill>
              </a:rPr>
              <a:t> floor of the target's 12-</a:t>
            </a:r>
            <a:r>
              <a:rPr lang="en-US" dirty="0">
                <a:solidFill>
                  <a:schemeClr val="accent1"/>
                </a:solidFill>
              </a:rPr>
              <a:t>Bit</a:t>
            </a:r>
            <a:r>
              <a:rPr dirty="0">
                <a:solidFill>
                  <a:schemeClr val="accent1"/>
                </a:solidFill>
              </a:rPr>
              <a:t> DAC — the hardware cannot resolve the difference.</a:t>
            </a:r>
          </a:p>
        </p:txBody>
      </p:sp>
      <p:sp>
        <p:nvSpPr>
          <p:cNvPr id="122" name="Footer"/>
          <p:cNvSpPr>
            <a:spLocks noGrp="1"/>
          </p:cNvSpPr>
          <p:nvPr>
            <p:ph type="ftr" sz="quarter" idx="11"/>
          </p:nvPr>
        </p:nvSpPr>
        <p:spPr>
          <a:xfrm>
            <a:off x="6400800" y="6675120"/>
            <a:ext cx="5486400" cy="16459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</a:defRPr>
            </a:lvl1pPr>
          </a:lstStyle>
          <a:p>
            <a:r>
              <a:t>American Modelica &amp; FMI Conference 2026 · Georgia Tech, Atlanta · 12–14 Oct 2026</a:t>
            </a:r>
          </a:p>
        </p:txBody>
      </p:sp>
      <p:sp>
        <p:nvSpPr>
          <p:cNvPr id="123" name="Slide Number"/>
          <p:cNvSpPr>
            <a:spLocks noGrp="1"/>
          </p:cNvSpPr>
          <p:nvPr>
            <p:ph type="sldNum" sz="quarter" idx="12"/>
          </p:nvPr>
        </p:nvSpPr>
        <p:spPr>
          <a:xfrm>
            <a:off x="11018520" y="6501384"/>
            <a:ext cx="868680" cy="20116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/>
              <a:t>26</a:t>
            </a:fld>
            <a:endParaRPr lang="en-US"/>
          </a:p>
        </p:txBody>
      </p:sp>
      <p:sp>
        <p:nvSpPr>
          <p:cNvPr id="124" name="Rectangle 123"/>
          <p:cNvSpPr/>
          <p:nvPr/>
        </p:nvSpPr>
        <p:spPr>
          <a:xfrm>
            <a:off x="365760" y="1554480"/>
            <a:ext cx="7498079" cy="2148840"/>
          </a:xfrm>
          <a:prstGeom prst="rect">
            <a:avLst/>
          </a:prstGeom>
          <a:solidFill>
            <a:srgbClr val="F4F4EF"/>
          </a:solidFill>
          <a:ln w="9525">
            <a:solidFill>
              <a:srgbClr val="CCC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>
            <a:normAutofit/>
          </a:bodyPr>
          <a:lstStyle/>
          <a:p>
            <a:pPr algn="l"/>
            <a:r>
              <a:rPr sz="1100">
                <a:solidFill>
                  <a:schemeClr val="tx1"/>
                </a:solidFill>
                <a:latin typeface="CMU Typewriter Text"/>
              </a:rPr>
              <a:t>Case                   max |e| (pu)     RMS e (pu)     t_max (s)</a:t>
            </a:r>
          </a:p>
          <a:p>
            <a:pPr algn="l"/>
            <a:r>
              <a:rPr sz="1100">
                <a:solidFill>
                  <a:schemeClr val="tx1"/>
                </a:solidFill>
                <a:latin typeface="CMU Typewriter Text"/>
              </a:rPr>
              <a:t>-----------------------------------------------------------------</a:t>
            </a:r>
          </a:p>
          <a:p>
            <a:pPr algn="l"/>
            <a:r>
              <a:rPr sz="1100">
                <a:solidFill>
                  <a:schemeClr val="tx1"/>
                </a:solidFill>
                <a:latin typeface="CMU Typewriter Text"/>
              </a:rPr>
              <a:t>2  Ref.Sim.ExpEuler      3.0160e-05      9.2302e-06       3.2156</a:t>
            </a:r>
          </a:p>
          <a:p>
            <a:pPr algn="l"/>
            <a:r>
              <a:rPr sz="1100">
                <a:solidFill>
                  <a:schemeClr val="tx1"/>
                </a:solidFill>
                <a:latin typeface="CMU Typewriter Text"/>
              </a:rPr>
              <a:t>3  Ref.Setup             1.6949e-04      3.0662e-05       2.0564</a:t>
            </a:r>
          </a:p>
          <a:p>
            <a:pPr algn="l"/>
            <a:r>
              <a:rPr sz="1100">
                <a:solidFill>
                  <a:schemeClr val="tx1"/>
                </a:solidFill>
                <a:latin typeface="CMU Typewriter Text"/>
              </a:rPr>
              <a:t>4  Ref.Setup.ExpEuler    1.5353e-04      2.7456e-05       2.0564</a:t>
            </a:r>
          </a:p>
          <a:p>
            <a:pPr algn="l"/>
            <a:r>
              <a:rPr sz="1100">
                <a:solidFill>
                  <a:schemeClr val="tx1"/>
                </a:solidFill>
                <a:latin typeface="CMU Typewriter Text"/>
              </a:rPr>
              <a:t>5  Ref.Setup.Clocked     6.1989e-05      1.6466e-05       2.0310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8138160" y="1554480"/>
            <a:ext cx="3685032" cy="2148840"/>
          </a:xfrm>
          <a:prstGeom prst="roundRect">
            <a:avLst>
              <a:gd name="adj" fmla="val 2553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>
            <a:normAutofit/>
          </a:bodyPr>
          <a:lstStyle/>
          <a:p>
            <a:pPr algn="l"/>
            <a:r>
              <a:rPr sz="1300" b="1" dirty="0">
                <a:solidFill>
                  <a:schemeClr val="accent2"/>
                </a:solidFill>
              </a:rPr>
              <a:t>Reading the table</a:t>
            </a:r>
          </a:p>
          <a:p>
            <a:pPr marL="182880" indent="-146304" algn="l">
              <a:spcBef>
                <a:spcPts val="300"/>
              </a:spcBef>
              <a:buClr>
                <a:schemeClr val="accent1"/>
              </a:buClr>
              <a:buFont typeface="+mn-lt"/>
              <a:buChar char="•"/>
            </a:pPr>
            <a:r>
              <a:rPr sz="1150" dirty="0">
                <a:solidFill>
                  <a:schemeClr val="tx1"/>
                </a:solidFill>
              </a:rPr>
              <a:t>Case 2 isolates the fixed-step explicit Euler penalty</a:t>
            </a:r>
          </a:p>
          <a:p>
            <a:pPr marL="182880" indent="-146304" algn="l">
              <a:spcBef>
                <a:spcPts val="300"/>
              </a:spcBef>
              <a:buClr>
                <a:schemeClr val="accent1"/>
              </a:buClr>
              <a:buFont typeface="+mn-lt"/>
              <a:buChar char="•"/>
            </a:pPr>
            <a:r>
              <a:rPr sz="1150" dirty="0">
                <a:solidFill>
                  <a:schemeClr val="tx1"/>
                </a:solidFill>
              </a:rPr>
              <a:t>Cases 3–4 add the structural refactoring for </a:t>
            </a:r>
            <a:r>
              <a:rPr sz="1150" dirty="0" err="1">
                <a:solidFill>
                  <a:schemeClr val="tx1"/>
                </a:solidFill>
              </a:rPr>
              <a:t>eFMI</a:t>
            </a:r>
            <a:endParaRPr sz="1150" dirty="0">
              <a:solidFill>
                <a:schemeClr val="tx1"/>
              </a:solidFill>
            </a:endParaRPr>
          </a:p>
          <a:p>
            <a:pPr marL="182880" indent="-146304" algn="l">
              <a:spcBef>
                <a:spcPts val="300"/>
              </a:spcBef>
              <a:buClr>
                <a:schemeClr val="accent1"/>
              </a:buClr>
              <a:buFont typeface="+mn-lt"/>
              <a:buChar char="•"/>
            </a:pPr>
            <a:r>
              <a:rPr sz="1150" dirty="0">
                <a:solidFill>
                  <a:schemeClr val="tx1"/>
                </a:solidFill>
              </a:rPr>
              <a:t>Case 5 is the clocked CHiL representation</a:t>
            </a:r>
          </a:p>
          <a:p>
            <a:pPr marL="182880" indent="-146304" algn="l">
              <a:spcBef>
                <a:spcPts val="300"/>
              </a:spcBef>
              <a:buClr>
                <a:schemeClr val="accent1"/>
              </a:buClr>
              <a:buFont typeface="+mn-lt"/>
              <a:buChar char="•"/>
            </a:pPr>
            <a:r>
              <a:rPr sz="1150" dirty="0">
                <a:solidFill>
                  <a:schemeClr val="tx1"/>
                </a:solidFill>
              </a:rPr>
              <a:t>All tolerances 1e-4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B6 · HighPassSimple — the replacement washout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t>Why replace the washout at all</a:t>
            </a:r>
          </a:p>
          <a:p>
            <a:pPr lvl="1"/>
            <a:r>
              <a:rPr b="1"/>
              <a:t>A washout filter approximates an ideal derivative</a:t>
            </a:r>
            <a:r>
              <a:t> — historically an RC op-amp circuit, with Tw the RC time constant, attenuating the low frequencies of normal grid operation.</a:t>
            </a:r>
          </a:p>
          <a:p>
            <a:pPr lvl="1"/>
            <a:r>
              <a:rPr b="1"/>
              <a:t>OpenIPSL implements it as </a:t>
            </a:r>
            <a:r>
              <a:rPr>
                <a:latin typeface="CMU Typewriter Text"/>
              </a:rPr>
              <a:t>derivativeLag</a:t>
            </a:r>
            <a:r>
              <a:t>, which differentiates and so amplifies numerical noise.</a:t>
            </a:r>
          </a:p>
          <a:p>
            <a:pPr lvl="1"/>
            <a:r>
              <a:rPr b="1"/>
              <a:t>A first-order Butterworth high-pass gives the same response</a:t>
            </a:r>
            <a:r>
              <a:t> with one state, one differential equation and one algebraic output — and keeps the original parametrisation, K = Kw·Tw and T = Tw.</a:t>
            </a:r>
          </a:p>
          <a:p>
            <a:r>
              <a:rPr>
                <a:solidFill>
                  <a:schemeClr val="accent1"/>
                </a:solidFill>
              </a:rPr>
              <a:t>Simpler, no differentiation, and a smaller GALEC solution.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prstGeom prst="rect">
            <a:avLst/>
          </a:prstGeom>
          <a:solidFill>
            <a:srgbClr val="F4F4EF"/>
          </a:solidFill>
          <a:ln w="9525">
            <a:solidFill>
              <a:srgbClr val="CCCCC4"/>
            </a:solidFill>
          </a:ln>
        </p:spPr>
        <p:txBody>
          <a:bodyPr wrap="square"/>
          <a:lstStyle/>
          <a:p>
            <a:r>
              <a:rPr>
                <a:latin typeface="CMU Typewriter Text"/>
              </a:rPr>
              <a:t>block HighPassSimple</a:t>
            </a:r>
          </a:p>
          <a:p>
            <a:r>
              <a:rPr>
                <a:latin typeface="CMU Typewriter Text"/>
              </a:rPr>
              <a:t>  ...</a:t>
            </a:r>
          </a:p>
          <a:p>
            <a:r>
              <a:rPr>
                <a:latin typeface="CMU Typewriter Text"/>
              </a:rPr>
              <a:t>  parameter Real K = Kw*Tw "Gain K = Kw*Tw";</a:t>
            </a:r>
          </a:p>
          <a:p>
            <a:r>
              <a:rPr>
                <a:latin typeface="CMU Typewriter Text"/>
              </a:rPr>
              <a:t>  parameter Real T = Tw    "Time constant T = Tw";</a:t>
            </a:r>
          </a:p>
          <a:p>
            <a:r>
              <a:rPr>
                <a:latin typeface="CMU Typewriter Text"/>
              </a:rPr>
              <a:t>  ...</a:t>
            </a:r>
          </a:p>
          <a:p>
            <a:r>
              <a:rPr>
                <a:latin typeface="CMU Typewriter Text"/>
              </a:rPr>
              <a:t>initial equation</a:t>
            </a:r>
          </a:p>
          <a:p>
            <a:r>
              <a:rPr>
                <a:latin typeface="CMU Typewriter Text"/>
              </a:rPr>
              <a:t>  der(x) = 0;</a:t>
            </a:r>
          </a:p>
          <a:p>
            <a:r>
              <a:rPr>
                <a:latin typeface="CMU Typewriter Text"/>
              </a:rPr>
              <a:t>equation</a:t>
            </a:r>
          </a:p>
          <a:p>
            <a:r>
              <a:rPr>
                <a:latin typeface="CMU Typewriter Text"/>
              </a:rPr>
              <a:t>  der(x) = (u - x)/T;</a:t>
            </a:r>
          </a:p>
          <a:p>
            <a:r>
              <a:rPr>
                <a:latin typeface="CMU Typewriter Text"/>
              </a:rPr>
              <a:t>  y = K/T*(u - x);</a:t>
            </a:r>
          </a:p>
          <a:p>
            <a:r>
              <a:rPr>
                <a:latin typeface="CMU Typewriter Text"/>
              </a:rPr>
              <a:t>end HighPassSimple;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/>
        <p:txBody>
          <a:bodyPr wrap="square"/>
          <a:lstStyle/>
          <a:p>
            <a:r>
              <a:t>Listing 1 — used in the PSS variant of Figure 4 (D)</a:t>
            </a:r>
          </a:p>
        </p:txBody>
      </p:sp>
      <p:sp>
        <p:nvSpPr>
          <p:cNvPr id="177" name="Footer"/>
          <p:cNvSpPr>
            <a:spLocks noGrp="1"/>
          </p:cNvSpPr>
          <p:nvPr>
            <p:ph type="ftr" sz="quarter" idx="11"/>
          </p:nvPr>
        </p:nvSpPr>
        <p:spPr>
          <a:xfrm>
            <a:off x="6400800" y="6675120"/>
            <a:ext cx="5486400" cy="16459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</a:defRPr>
            </a:lvl1pPr>
          </a:lstStyle>
          <a:p>
            <a:r>
              <a:t>American Modelica &amp; FMI Conference 2026 · Georgia Tech, Atlanta · 12–14 Oct 2026</a:t>
            </a:r>
          </a:p>
        </p:txBody>
      </p:sp>
      <p:sp>
        <p:nvSpPr>
          <p:cNvPr id="178" name="Slide Number"/>
          <p:cNvSpPr>
            <a:spLocks noGrp="1"/>
          </p:cNvSpPr>
          <p:nvPr>
            <p:ph type="sldNum" sz="quarter" idx="12"/>
          </p:nvPr>
        </p:nvSpPr>
        <p:spPr>
          <a:xfrm>
            <a:off x="11018520" y="6501384"/>
            <a:ext cx="868680" cy="20116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B7 · baseMachine — atan3 → atan2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t>Why the change was needed</a:t>
            </a:r>
          </a:p>
          <a:p>
            <a:pPr lvl="1"/>
            <a:r>
              <a:rPr b="1"/>
              <a:t>GALEC provides </a:t>
            </a:r>
            <a:r>
              <a:rPr>
                <a:latin typeface="CMU Typewriter Text"/>
              </a:rPr>
              <a:t>atan2</a:t>
            </a:r>
            <a:r>
              <a:t> as a built-in function, but not </a:t>
            </a:r>
            <a:r>
              <a:rPr>
                <a:latin typeface="CMU Typewriter Text"/>
              </a:rPr>
              <a:t>atan3</a:t>
            </a:r>
            <a:r>
              <a:t>.</a:t>
            </a:r>
          </a:p>
          <a:p>
            <a:pPr lvl="1"/>
            <a:r>
              <a:rPr b="1"/>
              <a:t>OpenIPSL computes the initial rotor angle</a:t>
            </a:r>
            <a:r>
              <a:t> with </a:t>
            </a:r>
            <a:r>
              <a:rPr>
                <a:latin typeface="CMU Typewriter Text"/>
              </a:rPr>
              <a:t>CM.arg</a:t>
            </a:r>
            <a:r>
              <a:t>, an alias of </a:t>
            </a:r>
            <a:r>
              <a:rPr>
                <a:latin typeface="CMU Typewriter Text"/>
              </a:rPr>
              <a:t>Modelica.ComplexMath.arg</a:t>
            </a:r>
            <a:r>
              <a:t>, which passes the real and imaginary parts to </a:t>
            </a:r>
            <a:r>
              <a:rPr>
                <a:latin typeface="CMU Typewriter Text"/>
              </a:rPr>
              <a:t>Modelica.Math.atan3</a:t>
            </a:r>
            <a:r>
              <a:t> together with a parameterised phase angle φ.</a:t>
            </a:r>
          </a:p>
          <a:p>
            <a:pPr lvl="1"/>
            <a:r>
              <a:rPr b="1"/>
              <a:t>φ is always 0 in OpenIPSL</a:t>
            </a:r>
            <a:r>
              <a:t>, and </a:t>
            </a:r>
            <a:r>
              <a:rPr>
                <a:latin typeface="CMU Typewriter Text"/>
              </a:rPr>
              <a:t>atan3(c.im, c.re, 0) == atan2(c.im, c.re)</a:t>
            </a:r>
            <a:r>
              <a:t> — so the replacement is mathematically equivalent, not an approximation.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prstGeom prst="rect">
            <a:avLst/>
          </a:prstGeom>
          <a:solidFill>
            <a:srgbClr val="F4F4EF"/>
          </a:solidFill>
          <a:ln w="9525">
            <a:solidFill>
              <a:srgbClr val="CCCCC4"/>
            </a:solidFill>
          </a:ln>
        </p:spPr>
        <p:txBody>
          <a:bodyPr wrap="square"/>
          <a:lstStyle/>
          <a:p>
            <a:r>
              <a:rPr dirty="0">
                <a:latin typeface="CMU Typewriter Text"/>
              </a:rPr>
              <a:t>// Original OpenIPSL </a:t>
            </a:r>
            <a:r>
              <a:rPr dirty="0" err="1">
                <a:latin typeface="CMU Typewriter Text"/>
              </a:rPr>
              <a:t>baseMachine</a:t>
            </a:r>
            <a:r>
              <a:rPr dirty="0">
                <a:latin typeface="CMU Typewriter Text"/>
              </a:rPr>
              <a:t>:</a:t>
            </a:r>
          </a:p>
          <a:p>
            <a:r>
              <a:rPr dirty="0">
                <a:latin typeface="CMU Typewriter Text"/>
              </a:rPr>
              <a:t>parameter </a:t>
            </a:r>
            <a:r>
              <a:rPr dirty="0" err="1">
                <a:latin typeface="CMU Typewriter Text"/>
              </a:rPr>
              <a:t>Types.Angle</a:t>
            </a:r>
            <a:r>
              <a:rPr dirty="0">
                <a:latin typeface="CMU Typewriter Text"/>
              </a:rPr>
              <a:t> delta0 = </a:t>
            </a:r>
            <a:r>
              <a:rPr dirty="0" err="1">
                <a:latin typeface="CMU Typewriter Text"/>
              </a:rPr>
              <a:t>CM.arg</a:t>
            </a:r>
            <a:r>
              <a:rPr dirty="0">
                <a:latin typeface="CMU Typewriter Text"/>
              </a:rPr>
              <a:t>(</a:t>
            </a:r>
          </a:p>
          <a:p>
            <a:r>
              <a:rPr dirty="0">
                <a:latin typeface="CMU Typewriter Text"/>
              </a:rPr>
              <a:t>  Vt0 + ((</a:t>
            </a:r>
            <a:r>
              <a:rPr dirty="0" err="1">
                <a:latin typeface="CMU Typewriter Text"/>
              </a:rPr>
              <a:t>ra</a:t>
            </a:r>
            <a:r>
              <a:rPr dirty="0">
                <a:latin typeface="CMU Typewriter Text"/>
              </a:rPr>
              <a:t> + </a:t>
            </a:r>
            <a:r>
              <a:rPr dirty="0" err="1">
                <a:latin typeface="CMU Typewriter Text"/>
              </a:rPr>
              <a:t>CM.j</a:t>
            </a:r>
            <a:r>
              <a:rPr dirty="0">
                <a:latin typeface="CMU Typewriter Text"/>
              </a:rPr>
              <a:t>*xq0) * </a:t>
            </a:r>
            <a:r>
              <a:rPr dirty="0" err="1">
                <a:latin typeface="CMU Typewriter Text"/>
              </a:rPr>
              <a:t>Z_MBtoSB</a:t>
            </a:r>
            <a:r>
              <a:rPr dirty="0">
                <a:latin typeface="CMU Typewriter Text"/>
              </a:rPr>
              <a:t>*I0))</a:t>
            </a:r>
          </a:p>
          <a:p>
            <a:r>
              <a:rPr dirty="0">
                <a:latin typeface="CMU Typewriter Text"/>
              </a:rPr>
              <a:t>  "</a:t>
            </a:r>
            <a:r>
              <a:rPr dirty="0" err="1">
                <a:latin typeface="CMU Typewriter Text"/>
              </a:rPr>
              <a:t>Init.</a:t>
            </a:r>
            <a:r>
              <a:rPr dirty="0">
                <a:latin typeface="CMU Typewriter Text"/>
              </a:rPr>
              <a:t> val. rotor angle";</a:t>
            </a:r>
          </a:p>
          <a:p>
            <a:endParaRPr dirty="0">
              <a:latin typeface="CMU Typewriter Text"/>
            </a:endParaRPr>
          </a:p>
          <a:p>
            <a:r>
              <a:rPr dirty="0">
                <a:latin typeface="CMU Typewriter Text"/>
              </a:rPr>
              <a:t>// Modified </a:t>
            </a:r>
            <a:r>
              <a:rPr dirty="0" err="1">
                <a:latin typeface="CMU Typewriter Text"/>
              </a:rPr>
              <a:t>OpenIPSL_CHIL</a:t>
            </a:r>
            <a:r>
              <a:rPr dirty="0">
                <a:latin typeface="CMU Typewriter Text"/>
              </a:rPr>
              <a:t> </a:t>
            </a:r>
            <a:r>
              <a:rPr dirty="0" err="1">
                <a:latin typeface="CMU Typewriter Text"/>
              </a:rPr>
              <a:t>baseMachine</a:t>
            </a:r>
            <a:r>
              <a:rPr dirty="0">
                <a:latin typeface="CMU Typewriter Text"/>
              </a:rPr>
              <a:t>:</a:t>
            </a:r>
          </a:p>
          <a:p>
            <a:r>
              <a:rPr dirty="0">
                <a:latin typeface="CMU Typewriter Text"/>
              </a:rPr>
              <a:t>parameter Complex </a:t>
            </a:r>
            <a:r>
              <a:rPr dirty="0" err="1">
                <a:latin typeface="CMU Typewriter Text"/>
              </a:rPr>
              <a:t>auxCMval</a:t>
            </a:r>
            <a:r>
              <a:rPr dirty="0">
                <a:latin typeface="CMU Typewriter Text"/>
              </a:rPr>
              <a:t> =</a:t>
            </a:r>
          </a:p>
          <a:p>
            <a:r>
              <a:rPr dirty="0">
                <a:latin typeface="CMU Typewriter Text"/>
              </a:rPr>
              <a:t>  Vt0 + ((</a:t>
            </a:r>
            <a:r>
              <a:rPr dirty="0" err="1">
                <a:latin typeface="CMU Typewriter Text"/>
              </a:rPr>
              <a:t>ra</a:t>
            </a:r>
            <a:r>
              <a:rPr dirty="0">
                <a:latin typeface="CMU Typewriter Text"/>
              </a:rPr>
              <a:t> + </a:t>
            </a:r>
            <a:r>
              <a:rPr dirty="0" err="1">
                <a:latin typeface="CMU Typewriter Text"/>
              </a:rPr>
              <a:t>CM.j</a:t>
            </a:r>
            <a:r>
              <a:rPr dirty="0">
                <a:latin typeface="CMU Typewriter Text"/>
              </a:rPr>
              <a:t>*xq0) * </a:t>
            </a:r>
            <a:r>
              <a:rPr dirty="0" err="1">
                <a:latin typeface="CMU Typewriter Text"/>
              </a:rPr>
              <a:t>Z_MBtoSB</a:t>
            </a:r>
            <a:r>
              <a:rPr dirty="0">
                <a:latin typeface="CMU Typewriter Text"/>
              </a:rPr>
              <a:t>*I0)</a:t>
            </a:r>
          </a:p>
          <a:p>
            <a:r>
              <a:rPr dirty="0">
                <a:latin typeface="CMU Typewriter Text"/>
              </a:rPr>
              <a:t>  "Auxiliary variable to calc. delta0";</a:t>
            </a:r>
          </a:p>
          <a:p>
            <a:r>
              <a:rPr dirty="0">
                <a:latin typeface="CMU Typewriter Text"/>
              </a:rPr>
              <a:t>parameter </a:t>
            </a:r>
            <a:r>
              <a:rPr dirty="0" err="1">
                <a:latin typeface="CMU Typewriter Text"/>
              </a:rPr>
              <a:t>OpenIPSL.Types.Angle</a:t>
            </a:r>
            <a:r>
              <a:rPr dirty="0">
                <a:latin typeface="CMU Typewriter Text"/>
              </a:rPr>
              <a:t> delta0 = atan2(</a:t>
            </a:r>
          </a:p>
          <a:p>
            <a:r>
              <a:rPr dirty="0">
                <a:latin typeface="CMU Typewriter Text"/>
              </a:rPr>
              <a:t>  auxCMval.im, auxCMval.re)</a:t>
            </a:r>
          </a:p>
          <a:p>
            <a:r>
              <a:rPr dirty="0">
                <a:latin typeface="CMU Typewriter Text"/>
              </a:rPr>
              <a:t>  "</a:t>
            </a:r>
            <a:r>
              <a:rPr dirty="0" err="1">
                <a:latin typeface="CMU Typewriter Text"/>
              </a:rPr>
              <a:t>Init.</a:t>
            </a:r>
            <a:r>
              <a:rPr dirty="0">
                <a:latin typeface="CMU Typewriter Text"/>
              </a:rPr>
              <a:t> val. of mach. rotor angle";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/>
        <p:txBody>
          <a:bodyPr wrap="square"/>
          <a:lstStyle/>
          <a:p>
            <a:r>
              <a:t>Listing 2 — baseMachine modification for eFMU GALEC code generation</a:t>
            </a:r>
          </a:p>
        </p:txBody>
      </p:sp>
      <p:sp>
        <p:nvSpPr>
          <p:cNvPr id="177" name="Footer"/>
          <p:cNvSpPr>
            <a:spLocks noGrp="1"/>
          </p:cNvSpPr>
          <p:nvPr>
            <p:ph type="ftr" sz="quarter" idx="11"/>
          </p:nvPr>
        </p:nvSpPr>
        <p:spPr>
          <a:xfrm>
            <a:off x="6400800" y="6675120"/>
            <a:ext cx="5486400" cy="16459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</a:defRPr>
            </a:lvl1pPr>
          </a:lstStyle>
          <a:p>
            <a:r>
              <a:t>American Modelica &amp; FMI Conference 2026 · Georgia Tech, Atlanta · 12–14 Oct 2026</a:t>
            </a:r>
          </a:p>
        </p:txBody>
      </p:sp>
      <p:sp>
        <p:nvSpPr>
          <p:cNvPr id="178" name="Slide Number"/>
          <p:cNvSpPr>
            <a:spLocks noGrp="1"/>
          </p:cNvSpPr>
          <p:nvPr>
            <p:ph type="sldNum" sz="quarter" idx="12"/>
          </p:nvPr>
        </p:nvSpPr>
        <p:spPr>
          <a:xfrm>
            <a:off x="11018520" y="6501384"/>
            <a:ext cx="868680" cy="20116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B8 · DymolaEmbedded eFMU configuration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lvl="1"/>
            <a:r>
              <a:rPr b="1" dirty="0" err="1"/>
              <a:t>eFMU</a:t>
            </a:r>
            <a:r>
              <a:rPr b="1" dirty="0"/>
              <a:t> bundle</a:t>
            </a:r>
            <a:r>
              <a:rPr dirty="0"/>
              <a:t> — output directory; defaults to the full package name.</a:t>
            </a:r>
          </a:p>
          <a:p>
            <a:pPr lvl="1"/>
            <a:r>
              <a:rPr b="1" dirty="0"/>
              <a:t>Model</a:t>
            </a:r>
            <a:r>
              <a:rPr dirty="0"/>
              <a:t> — the model subject to export (mandatory).</a:t>
            </a:r>
          </a:p>
          <a:p>
            <a:pPr lvl="1"/>
            <a:r>
              <a:rPr b="1" dirty="0"/>
              <a:t>Integrator</a:t>
            </a:r>
            <a:r>
              <a:rPr dirty="0"/>
              <a:t> — fixed sampling period (mandatory) and inline-integration method; explicit Euler is the only mature solver today.</a:t>
            </a:r>
          </a:p>
          <a:p>
            <a:pPr lvl="1"/>
            <a:r>
              <a:rPr b="1" dirty="0"/>
              <a:t>Code</a:t>
            </a:r>
            <a:r>
              <a:rPr dirty="0"/>
              <a:t> — GALEC obfuscation, parameter constant-folding, and whether multi-dimensional entities are kept intact.</a:t>
            </a:r>
          </a:p>
          <a:p>
            <a:pPr lvl="1"/>
            <a:r>
              <a:rPr b="1" dirty="0"/>
              <a:t>Software Production Engineering</a:t>
            </a:r>
            <a:r>
              <a:rPr dirty="0"/>
              <a:t> — float precisions (32- and 64-</a:t>
            </a:r>
            <a:r>
              <a:rPr lang="en-US" dirty="0"/>
              <a:t>Bit</a:t>
            </a:r>
            <a:r>
              <a:rPr dirty="0"/>
              <a:t> by default) and the instruction-set architectures for which static libraries are built for </a:t>
            </a:r>
            <a:r>
              <a:rPr dirty="0" err="1"/>
              <a:t>SiL</a:t>
            </a:r>
            <a:r>
              <a:rPr dirty="0"/>
              <a:t>.</a:t>
            </a:r>
          </a:p>
          <a:p>
            <a:r>
              <a:rPr dirty="0">
                <a:solidFill>
                  <a:schemeClr val="accent1"/>
                </a:solidFill>
              </a:rPr>
              <a:t>Our setting: explicit Euler at 0.2 </a:t>
            </a:r>
            <a:r>
              <a:rPr dirty="0" err="1">
                <a:solidFill>
                  <a:schemeClr val="accent1"/>
                </a:solidFill>
              </a:rPr>
              <a:t>ms</a:t>
            </a:r>
            <a:r>
              <a:rPr dirty="0">
                <a:solidFill>
                  <a:schemeClr val="accent1"/>
                </a:solidFill>
              </a:rPr>
              <a:t>, obfuscation off, for both controller and plant.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>
          <a:xfrm>
            <a:off x="6720840" y="4397793"/>
            <a:ext cx="5105095" cy="475488"/>
          </a:xfrm>
        </p:spPr>
        <p:txBody>
          <a:bodyPr wrap="square"/>
          <a:lstStyle/>
          <a:p>
            <a:r>
              <a:t>eFMU configuration for the PSS controller</a:t>
            </a:r>
          </a:p>
        </p:txBody>
      </p:sp>
      <p:sp>
        <p:nvSpPr>
          <p:cNvPr id="128" name="Footer"/>
          <p:cNvSpPr>
            <a:spLocks noGrp="1"/>
          </p:cNvSpPr>
          <p:nvPr>
            <p:ph type="ftr" sz="quarter" idx="11"/>
          </p:nvPr>
        </p:nvSpPr>
        <p:spPr>
          <a:xfrm>
            <a:off x="6400800" y="6675120"/>
            <a:ext cx="5486400" cy="16459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</a:defRPr>
            </a:lvl1pPr>
          </a:lstStyle>
          <a:p>
            <a:r>
              <a:t>American Modelica &amp; FMI Conference 2026 · Georgia Tech, Atlanta · 12–14 Oct 2026</a:t>
            </a:r>
          </a:p>
        </p:txBody>
      </p:sp>
      <p:sp>
        <p:nvSpPr>
          <p:cNvPr id="129" name="Slide Number"/>
          <p:cNvSpPr>
            <a:spLocks noGrp="1"/>
          </p:cNvSpPr>
          <p:nvPr>
            <p:ph type="sldNum" sz="quarter" idx="12"/>
          </p:nvPr>
        </p:nvSpPr>
        <p:spPr>
          <a:xfrm>
            <a:off x="11018520" y="6501384"/>
            <a:ext cx="868680" cy="20116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/>
              <a:t>29</a:t>
            </a:fld>
            <a:endParaRPr lang="en-US"/>
          </a:p>
        </p:txBody>
      </p:sp>
      <p:pic>
        <p:nvPicPr>
          <p:cNvPr id="130" name="Picture 129" descr="eFMU-configu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914400"/>
            <a:ext cx="5105095" cy="337366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B9 · The eFMI button in Dymola’s Tools ribbon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4"/>
          </p:nvPr>
        </p:nvSpPr>
        <p:spPr>
          <a:xfrm>
            <a:off x="365760" y="3520440"/>
            <a:ext cx="11460175" cy="475488"/>
          </a:xfrm>
        </p:spPr>
        <p:txBody>
          <a:bodyPr wrap="square"/>
          <a:lstStyle/>
          <a:p>
            <a:r>
              <a:t>The eFMI entry in Dymola’s Tools ribbon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lvl="1"/>
            <a:r>
              <a:rPr b="1"/>
              <a:t>Builds every eFMU of a whole package hierarchy</a:t>
            </a:r>
            <a:r>
              <a:t>, or loads the SiL stubs of eFMUs that already exist.</a:t>
            </a:r>
          </a:p>
          <a:p>
            <a:pPr lvl="1"/>
            <a:r>
              <a:rPr b="1"/>
              <a:t>Everything it does is also scriptable</a:t>
            </a:r>
            <a:r>
              <a:t> — eFMU configurations are ordinary Modelica packages, so their options and generative functions can be driven from </a:t>
            </a:r>
            <a:r>
              <a:rPr>
                <a:latin typeface="CMU Typewriter Text"/>
              </a:rPr>
              <a:t>*.mos</a:t>
            </a:r>
            <a:r>
              <a:t> scripts for variant and batch processing.</a:t>
            </a:r>
          </a:p>
        </p:txBody>
      </p:sp>
      <p:sp>
        <p:nvSpPr>
          <p:cNvPr id="134" name="Footer"/>
          <p:cNvSpPr>
            <a:spLocks noGrp="1"/>
          </p:cNvSpPr>
          <p:nvPr>
            <p:ph type="ftr" sz="quarter" idx="11"/>
          </p:nvPr>
        </p:nvSpPr>
        <p:spPr>
          <a:xfrm>
            <a:off x="6400800" y="6675120"/>
            <a:ext cx="5486400" cy="16459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</a:defRPr>
            </a:lvl1pPr>
          </a:lstStyle>
          <a:p>
            <a:r>
              <a:t>American Modelica &amp; FMI Conference 2026 · Georgia Tech, Atlanta · 12–14 Oct 2026</a:t>
            </a:r>
          </a:p>
        </p:txBody>
      </p:sp>
      <p:sp>
        <p:nvSpPr>
          <p:cNvPr id="135" name="Slide Number"/>
          <p:cNvSpPr>
            <a:spLocks noGrp="1"/>
          </p:cNvSpPr>
          <p:nvPr>
            <p:ph type="sldNum" sz="quarter" idx="12"/>
          </p:nvPr>
        </p:nvSpPr>
        <p:spPr>
          <a:xfrm>
            <a:off x="11018520" y="6501384"/>
            <a:ext cx="868680" cy="20116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/>
              <a:t>30</a:t>
            </a:fld>
            <a:endParaRPr lang="en-US"/>
          </a:p>
        </p:txBody>
      </p:sp>
      <p:pic>
        <p:nvPicPr>
          <p:cNvPr id="136" name="Picture 135" descr="eFMI-tools-ribbon-butt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490" y="914400"/>
            <a:ext cx="9774715" cy="249631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B10 · Production code export: FMI, Simulink, Arduino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prstGeom prst="roundRect">
            <a:avLst>
              <a:gd name="adj" fmla="val 6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</p:spPr>
        <p:txBody>
          <a:bodyPr wrap="square"/>
          <a:lstStyle/>
          <a:p>
            <a:r>
              <a:t>FMI® 3.0 source-code FMU</a:t>
            </a:r>
          </a:p>
          <a:p>
            <a:pPr lvl="1"/>
            <a:r>
              <a:t>with </a:t>
            </a:r>
            <a:r>
              <a:rPr>
                <a:latin typeface="CMU Typewriter Text"/>
              </a:rPr>
              <a:t>fixedInternalStepSize</a:t>
            </a:r>
          </a:p>
          <a:p>
            <a:pPr lvl="1"/>
            <a:r>
              <a:t>only addition is a lean fmi3Functions.h implementation plus sanity checks</a:t>
            </a:r>
          </a:p>
          <a:p>
            <a:pPr lvl="1"/>
            <a:r>
              <a:t>imports into dSPACE ConfigurationDesk®, TwinCAT®, Silver®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>
          <a:prstGeom prst="roundRect">
            <a:avLst>
              <a:gd name="adj" fmla="val 6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</p:spPr>
        <p:txBody>
          <a:bodyPr wrap="square"/>
          <a:lstStyle/>
          <a:p>
            <a:r>
              <a:t>Simulink®</a:t>
            </a:r>
          </a:p>
          <a:p>
            <a:pPr lvl="1"/>
            <a:r>
              <a:t>a MATLAB® script instantiates a C Function block on the production code</a:t>
            </a:r>
          </a:p>
          <a:p>
            <a:pPr lvl="1"/>
            <a:r>
              <a:t>GALEC block interface typed with native ERT types — no conversions, no copying</a:t>
            </a:r>
          </a:p>
          <a:p>
            <a:pPr lvl="1"/>
            <a:r>
              <a:t>ERT code generators skip generation for the block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>
          <a:prstGeom prst="roundRect">
            <a:avLst>
              <a:gd name="adj" fmla="val 6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</p:spPr>
        <p:txBody>
          <a:bodyPr wrap="square"/>
          <a:lstStyle/>
          <a:p>
            <a:r>
              <a:t>Arduino®</a:t>
            </a:r>
          </a:p>
          <a:p>
            <a:pPr lvl="1"/>
            <a:r>
              <a:t>production code exported as a sketch</a:t>
            </a:r>
          </a:p>
          <a:p>
            <a:pPr lvl="1"/>
            <a:r>
              <a:t>generated *.ino with initialisation and main loop</a:t>
            </a:r>
          </a:p>
          <a:p>
            <a:pPr lvl="1"/>
            <a:r>
              <a:t>commented hooks for inputs, outputs and parameters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>
                <a:solidFill>
                  <a:schemeClr val="accent1"/>
                </a:solidFill>
              </a:rPr>
              <a:t>For every export path the production code is used as is — no additional library dependency beyond common C Standard Library routines, mostly </a:t>
            </a:r>
            <a:r>
              <a:rPr>
                <a:solidFill>
                  <a:schemeClr val="accent1"/>
                </a:solidFill>
                <a:latin typeface="CMU Typewriter Text"/>
              </a:rPr>
              <a:t>math.h</a:t>
            </a:r>
            <a:r>
              <a:rPr>
                <a:solidFill>
                  <a:schemeClr val="accent1"/>
                </a:solidFill>
              </a:rPr>
              <a:t>.</a:t>
            </a:r>
          </a:p>
          <a:p>
            <a:pPr lvl="1"/>
            <a:r>
              <a:rPr b="1"/>
              <a:t>Export means</a:t>
            </a:r>
            <a:r>
              <a:t> taking the C of a Production Code container, adding only the wrapper and metadata the target ecosystem requires, and letting that ecosystem's toolchain compile and deploy it.</a:t>
            </a:r>
          </a:p>
        </p:txBody>
      </p:sp>
      <p:sp>
        <p:nvSpPr>
          <p:cNvPr id="160" name="Footer"/>
          <p:cNvSpPr>
            <a:spLocks noGrp="1"/>
          </p:cNvSpPr>
          <p:nvPr>
            <p:ph type="ftr" sz="quarter" idx="11"/>
          </p:nvPr>
        </p:nvSpPr>
        <p:spPr>
          <a:xfrm>
            <a:off x="6400800" y="6675120"/>
            <a:ext cx="5486400" cy="16459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</a:defRPr>
            </a:lvl1pPr>
          </a:lstStyle>
          <a:p>
            <a:r>
              <a:t>American Modelica &amp; FMI Conference 2026 · Georgia Tech, Atlanta · 12–14 Oct 2026</a:t>
            </a:r>
          </a:p>
        </p:txBody>
      </p:sp>
      <p:sp>
        <p:nvSpPr>
          <p:cNvPr id="161" name="Slide Number"/>
          <p:cNvSpPr>
            <a:spLocks noGrp="1"/>
          </p:cNvSpPr>
          <p:nvPr>
            <p:ph type="sldNum" sz="quarter" idx="12"/>
          </p:nvPr>
        </p:nvSpPr>
        <p:spPr>
          <a:xfrm>
            <a:off x="11018520" y="6501384"/>
            <a:ext cx="868680" cy="20116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B11 · STM32CubeMX pin configuration (NUCLEO-L476RG)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lvl="1"/>
            <a:r>
              <a:rPr b="1"/>
              <a:t>Analog and digital I/O are mapped</a:t>
            </a:r>
            <a:r>
              <a:t> to prevent peripheral collisions and minimise latency inside the 0.2 ms loop.</a:t>
            </a:r>
          </a:p>
          <a:p>
            <a:pPr lvl="1"/>
            <a:r>
              <a:rPr b="1"/>
              <a:t>Digital outputs for profiling</a:t>
            </a:r>
            <a:r>
              <a:t> — one pin toggles on every timer tick (</a:t>
            </a:r>
            <a:r>
              <a:rPr>
                <a:latin typeface="CMU Typewriter Text"/>
              </a:rPr>
              <a:t>stepSize</a:t>
            </a:r>
            <a:r>
              <a:t>), another goes high for the duration of each sampling (</a:t>
            </a:r>
            <a:r>
              <a:rPr>
                <a:latin typeface="CMU Typewriter Text"/>
              </a:rPr>
              <a:t>calcTime</a:t>
            </a:r>
            <a:r>
              <a:t>), which is how the computation times of back-up B-17 were measured.</a:t>
            </a:r>
          </a:p>
          <a:p>
            <a:pPr lvl="1"/>
            <a:r>
              <a:rPr b="1"/>
              <a:t>LEDs signal</a:t>
            </a:r>
            <a:r>
              <a:t> real-time violations and eFMU production-code error signals.</a:t>
            </a:r>
          </a:p>
          <a:p>
            <a:pPr lvl="1"/>
            <a:r>
              <a:rPr b="1"/>
              <a:t>On the plant board</a:t>
            </a:r>
            <a:r>
              <a:t> the PSS voltage input is </a:t>
            </a:r>
            <a:r>
              <a:rPr>
                <a:latin typeface="CMU Typewriter Text"/>
              </a:rPr>
              <a:t>PA3</a:t>
            </a:r>
            <a:r>
              <a:t> (ADC1 channel 15) and the speed output </a:t>
            </a:r>
            <a:r>
              <a:rPr>
                <a:latin typeface="CMU Typewriter Text"/>
              </a:rPr>
              <a:t>PA5</a:t>
            </a:r>
            <a:r>
              <a:t> (DAC1).</a:t>
            </a:r>
          </a:p>
          <a:p>
            <a:pPr lvl="1"/>
            <a:r>
              <a:rPr b="1"/>
              <a:t>The variable-load prototype</a:t>
            </a:r>
            <a:r>
              <a:t> maps its extra input to </a:t>
            </a:r>
            <a:r>
              <a:rPr>
                <a:latin typeface="CMU Typewriter Text"/>
              </a:rPr>
              <a:t>PC0</a:t>
            </a:r>
            <a:r>
              <a:t> so it routes to an independent ADC2, avoiding scan mode and DMA.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>
          <a:xfrm>
            <a:off x="6720840" y="5666502"/>
            <a:ext cx="5105095" cy="475488"/>
          </a:xfrm>
        </p:spPr>
        <p:txBody>
          <a:bodyPr wrap="square"/>
          <a:lstStyle/>
          <a:p>
            <a:r>
              <a:t>Pin configuration for the controller board</a:t>
            </a:r>
          </a:p>
        </p:txBody>
      </p:sp>
      <p:sp>
        <p:nvSpPr>
          <p:cNvPr id="128" name="Footer"/>
          <p:cNvSpPr>
            <a:spLocks noGrp="1"/>
          </p:cNvSpPr>
          <p:nvPr>
            <p:ph type="ftr" sz="quarter" idx="11"/>
          </p:nvPr>
        </p:nvSpPr>
        <p:spPr>
          <a:xfrm>
            <a:off x="6400800" y="6675120"/>
            <a:ext cx="5486400" cy="16459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</a:defRPr>
            </a:lvl1pPr>
          </a:lstStyle>
          <a:p>
            <a:r>
              <a:t>American Modelica &amp; FMI Conference 2026 · Georgia Tech, Atlanta · 12–14 Oct 2026</a:t>
            </a:r>
          </a:p>
        </p:txBody>
      </p:sp>
      <p:sp>
        <p:nvSpPr>
          <p:cNvPr id="129" name="Slide Number"/>
          <p:cNvSpPr>
            <a:spLocks noGrp="1"/>
          </p:cNvSpPr>
          <p:nvPr>
            <p:ph type="sldNum" sz="quarter" idx="12"/>
          </p:nvPr>
        </p:nvSpPr>
        <p:spPr>
          <a:xfrm>
            <a:off x="11018520" y="6501384"/>
            <a:ext cx="868680" cy="20116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/>
              <a:t>32</a:t>
            </a:fld>
            <a:endParaRPr lang="en-US"/>
          </a:p>
        </p:txBody>
      </p:sp>
      <p:pic>
        <p:nvPicPr>
          <p:cNvPr id="130" name="Picture 129" descr="CubeMX_P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914400"/>
            <a:ext cx="5105095" cy="4642374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B12 · STM32CubeMX timer configuration (NUCLEO-H723ZG)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t>The timer must match the eFMU sampling period exactly</a:t>
            </a:r>
          </a:p>
          <a:p>
            <a:pPr lvl="1"/>
            <a:r>
              <a:rPr>
                <a:latin typeface="CMU Typewriter Text"/>
              </a:rPr>
              <a:t>frequency = APB clock / ((ARR+1)(PSC+1))</a:t>
            </a:r>
          </a:p>
          <a:p>
            <a:pPr lvl="1"/>
            <a:r>
              <a:rPr b="1"/>
              <a:t>For the plant board</a:t>
            </a:r>
            <a:r>
              <a:t>: 550 MHz system clock, APB pre-divider 2, ARR 199, PSC 274 ⇒ 275 MHz / (200 × 275) = 5 kHz. TIM2 is used.</a:t>
            </a:r>
          </a:p>
          <a:p>
            <a:pPr lvl="1"/>
            <a:r>
              <a:rPr b="1"/>
              <a:t>For the controller board</a:t>
            </a:r>
            <a:r>
              <a:t>: TIM1, with different APB, ARR and PSC values, because the L476RG runs at 80 MHz rather than 550 MHz.</a:t>
            </a:r>
          </a:p>
          <a:p>
            <a:r>
              <a:t>Code generation settings</a:t>
            </a:r>
          </a:p>
          <a:p>
            <a:pPr lvl="1"/>
            <a:r>
              <a:rPr b="1"/>
              <a:t>Peripheral initialisation as one </a:t>
            </a:r>
            <a:r>
              <a:rPr>
                <a:latin typeface="CMU Typewriter Text"/>
              </a:rPr>
              <a:t>.c/.h</a:t>
            </a:r>
            <a:r>
              <a:t> pair per peripheral, to keep </a:t>
            </a:r>
            <a:r>
              <a:rPr>
                <a:latin typeface="CMU Typewriter Text"/>
              </a:rPr>
              <a:t>main.c</a:t>
            </a:r>
            <a:r>
              <a:t> clean.</a:t>
            </a:r>
          </a:p>
          <a:p>
            <a:pPr lvl="1"/>
            <a:r>
              <a:rPr b="1"/>
              <a:t>All custom code strictly inside </a:t>
            </a:r>
            <a:r>
              <a:rPr>
                <a:latin typeface="CMU Typewriter Text"/>
              </a:rPr>
              <a:t>/* USER CODE BEGIN */</a:t>
            </a:r>
            <a:r>
              <a:t> … </a:t>
            </a:r>
            <a:r>
              <a:rPr>
                <a:latin typeface="CMU Typewriter Text"/>
              </a:rPr>
              <a:t>/* USER CODE END */</a:t>
            </a:r>
            <a:r>
              <a:t> — otherwise regeneration overwrites the integration.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>
          <a:xfrm>
            <a:off x="6720840" y="4243976"/>
            <a:ext cx="5105095" cy="475488"/>
          </a:xfrm>
        </p:spPr>
        <p:txBody>
          <a:bodyPr wrap="square"/>
          <a:lstStyle/>
          <a:p>
            <a:r>
              <a:t>Timer configuration for the plant board</a:t>
            </a:r>
          </a:p>
        </p:txBody>
      </p:sp>
      <p:sp>
        <p:nvSpPr>
          <p:cNvPr id="128" name="Footer"/>
          <p:cNvSpPr>
            <a:spLocks noGrp="1"/>
          </p:cNvSpPr>
          <p:nvPr>
            <p:ph type="ftr" sz="quarter" idx="11"/>
          </p:nvPr>
        </p:nvSpPr>
        <p:spPr>
          <a:xfrm>
            <a:off x="6400800" y="6675120"/>
            <a:ext cx="5486400" cy="16459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</a:defRPr>
            </a:lvl1pPr>
          </a:lstStyle>
          <a:p>
            <a:r>
              <a:t>American Modelica &amp; FMI Conference 2026 · Georgia Tech, Atlanta · 12–14 Oct 2026</a:t>
            </a:r>
          </a:p>
        </p:txBody>
      </p:sp>
      <p:sp>
        <p:nvSpPr>
          <p:cNvPr id="129" name="Slide Number"/>
          <p:cNvSpPr>
            <a:spLocks noGrp="1"/>
          </p:cNvSpPr>
          <p:nvPr>
            <p:ph type="sldNum" sz="quarter" idx="12"/>
          </p:nvPr>
        </p:nvSpPr>
        <p:spPr>
          <a:xfrm>
            <a:off x="11018520" y="6501384"/>
            <a:ext cx="868680" cy="20116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/>
              <a:t>33</a:t>
            </a:fld>
            <a:endParaRPr lang="en-US"/>
          </a:p>
        </p:txBody>
      </p:sp>
      <p:pic>
        <p:nvPicPr>
          <p:cNvPr id="130" name="Picture 129" descr="CubeMX_TIM2Config_H7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914400"/>
            <a:ext cx="5105095" cy="3219849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B13 · The control loop in main.c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t>Three parts, and why</a:t>
            </a:r>
          </a:p>
          <a:p>
            <a:pPr lvl="1"/>
            <a:r>
              <a:rPr b="1"/>
              <a:t>The interrupt only registers a request</a:t>
            </a:r>
            <a:r>
              <a:t> — </a:t>
            </a:r>
            <a:r>
              <a:rPr>
                <a:latin typeface="CMU Typewriter Text"/>
              </a:rPr>
              <a:t>HAL_TIM_PeriodElapsedCallback</a:t>
            </a:r>
            <a:r>
              <a:t> increments </a:t>
            </a:r>
            <a:r>
              <a:rPr>
                <a:latin typeface="CMU Typewriter Text"/>
              </a:rPr>
              <a:t>pending_samplings</a:t>
            </a:r>
            <a:r>
              <a:t> (saturating, not overflowing). Doing the sampling inside the interrupt would silently block the next tick on an overrun.</a:t>
            </a:r>
          </a:p>
          <a:p>
            <a:pPr lvl="1"/>
            <a:r>
              <a:rPr b="1"/>
              <a:t>The loop is greedy</a:t>
            </a:r>
            <a:r>
              <a:t> — </a:t>
            </a:r>
            <a:r>
              <a:rPr>
                <a:latin typeface="CMU Typewriter Text"/>
              </a:rPr>
              <a:t>while (true)</a:t>
            </a:r>
            <a:r>
              <a:t> with busy waiting rather than sleeping, which is typical for hard real-time code.</a:t>
            </a:r>
          </a:p>
          <a:p>
            <a:pPr lvl="1"/>
            <a:r>
              <a:rPr b="1"/>
              <a:t>Errors are latched to an LED</a:t>
            </a:r>
            <a:r>
              <a:t> — eFMU error signals, ADC timeouts, and overruns when the counter exceeds 1; held for 30 s so a transient cannot be missed.</a:t>
            </a:r>
          </a:p>
          <a:p>
            <a:r>
              <a:rPr>
                <a:solidFill>
                  <a:schemeClr val="accent1"/>
                </a:solidFill>
              </a:rPr>
              <a:t>The sampling logic itself is entirely inside </a:t>
            </a:r>
            <a:r>
              <a:rPr>
                <a:solidFill>
                  <a:schemeClr val="accent1"/>
                </a:solidFill>
                <a:latin typeface="CMU Typewriter Text"/>
              </a:rPr>
              <a:t>DoStep()</a:t>
            </a:r>
            <a:r>
              <a:rPr>
                <a:solidFill>
                  <a:schemeClr val="accent1"/>
                </a:solidFill>
              </a:rPr>
              <a:t>; everything around it is I/O provisioning, scaling and clamping.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prstGeom prst="rect">
            <a:avLst/>
          </a:prstGeom>
          <a:solidFill>
            <a:srgbClr val="F4F4EF"/>
          </a:solidFill>
          <a:ln w="9525">
            <a:solidFill>
              <a:srgbClr val="CCCCC4"/>
            </a:solidFill>
          </a:ln>
        </p:spPr>
        <p:txBody>
          <a:bodyPr wrap="square"/>
          <a:lstStyle/>
          <a:p>
            <a:r>
              <a:rPr>
                <a:latin typeface="CMU Typewriter Text"/>
              </a:rPr>
              <a:t>if (0 &lt; pending_samplings)</a:t>
            </a:r>
          </a:p>
          <a:p>
            <a:r>
              <a:rPr>
                <a:latin typeface="CMU Typewriter Text"/>
              </a:rPr>
              <a:t>{</a:t>
            </a:r>
          </a:p>
          <a:p>
            <a:r>
              <a:rPr>
                <a:latin typeface="CMU Typewriter Text"/>
              </a:rPr>
              <a:t>  error_signals = PSS_NONE_ERRORSIGNAL;</a:t>
            </a:r>
          </a:p>
          <a:p>
            <a:r>
              <a:rPr>
                <a:latin typeface="CMU Typewriter Text"/>
              </a:rPr>
              <a:t>  /* profiling pin high */</a:t>
            </a:r>
          </a:p>
          <a:p>
            <a:r>
              <a:rPr>
                <a:latin typeface="CMU Typewriter Text"/>
              </a:rPr>
              <a:t>  HAL_GPIO_WritePin(calTime_GPIO_Port,</a:t>
            </a:r>
          </a:p>
          <a:p>
            <a:r>
              <a:rPr>
                <a:latin typeface="CMU Typewriter Text"/>
              </a:rPr>
              <a:t>                    calTime_Pin, SET);</a:t>
            </a:r>
          </a:p>
          <a:p>
            <a:endParaRPr>
              <a:latin typeface="CMU Typewriter Text"/>
            </a:endParaRPr>
          </a:p>
          <a:p>
            <a:r>
              <a:rPr>
                <a:latin typeface="CMU Typewriter Text"/>
              </a:rPr>
              <a:t>  /* ADC -&gt; input, volts */</a:t>
            </a:r>
          </a:p>
          <a:p>
            <a:r>
              <a:rPr>
                <a:latin typeface="CMU Typewriter Text"/>
              </a:rPr>
              <a:t>  HAL_ADC_Start(&amp;hadc1);</a:t>
            </a:r>
          </a:p>
          <a:p>
            <a:r>
              <a:rPr>
                <a:latin typeface="CMU Typewriter Text"/>
              </a:rPr>
              <a:t>  ... pss.vSI = adc_raw * ADC_TO_VOLTS;</a:t>
            </a:r>
          </a:p>
          <a:p>
            <a:endParaRPr>
              <a:latin typeface="CMU Typewriter Text"/>
            </a:endParaRPr>
          </a:p>
          <a:p>
            <a:r>
              <a:rPr>
                <a:latin typeface="CMU Typewriter Text"/>
              </a:rPr>
              <a:t>  PSS_DoStep(&amp;pss);            /* &lt;- eFMU */</a:t>
            </a:r>
          </a:p>
          <a:p>
            <a:r>
              <a:rPr>
                <a:latin typeface="CMU Typewriter Text"/>
              </a:rPr>
              <a:t>  error_signals |= pss.ErrorSignals;</a:t>
            </a:r>
          </a:p>
          <a:p>
            <a:endParaRPr>
              <a:latin typeface="CMU Typewriter Text"/>
            </a:endParaRPr>
          </a:p>
          <a:p>
            <a:r>
              <a:rPr>
                <a:latin typeface="CMU Typewriter Text"/>
              </a:rPr>
              <a:t>  target_pu = use_pss ? pss.vs : CONSTANT_PU;</a:t>
            </a:r>
          </a:p>
          <a:p>
            <a:r>
              <a:rPr>
                <a:latin typeface="CMU Typewriter Text"/>
              </a:rPr>
              <a:t>  /* scale, clamp, DAC out */</a:t>
            </a:r>
          </a:p>
          <a:p>
            <a:r>
              <a:rPr>
                <a:latin typeface="CMU Typewriter Text"/>
              </a:rPr>
              <a:t>  HAL_DAC_SetValue(&amp;hdac1, ...);</a:t>
            </a:r>
          </a:p>
          <a:p>
            <a:endParaRPr>
              <a:latin typeface="CMU Typewriter Text"/>
            </a:endParaRPr>
          </a:p>
          <a:p>
            <a:r>
              <a:rPr>
                <a:latin typeface="CMU Typewriter Text"/>
              </a:rPr>
              <a:t>  /* profiling pin low */</a:t>
            </a:r>
          </a:p>
          <a:p>
            <a:r>
              <a:rPr>
                <a:latin typeface="CMU Typewriter Text"/>
              </a:rPr>
              <a:t>  --pending_samplings;</a:t>
            </a:r>
          </a:p>
          <a:p>
            <a:r>
              <a:rPr>
                <a:latin typeface="CMU Typewriter Text"/>
              </a:rPr>
              <a:t>}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/>
        <p:txBody>
          <a:bodyPr wrap="square"/>
          <a:lstStyle/>
          <a:p>
            <a:r>
              <a:t>Abridged from Listing 6 — the full source is in the repository</a:t>
            </a:r>
          </a:p>
        </p:txBody>
      </p:sp>
      <p:sp>
        <p:nvSpPr>
          <p:cNvPr id="177" name="Footer"/>
          <p:cNvSpPr>
            <a:spLocks noGrp="1"/>
          </p:cNvSpPr>
          <p:nvPr>
            <p:ph type="ftr" sz="quarter" idx="11"/>
          </p:nvPr>
        </p:nvSpPr>
        <p:spPr>
          <a:xfrm>
            <a:off x="6400800" y="6675120"/>
            <a:ext cx="5486400" cy="16459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</a:defRPr>
            </a:lvl1pPr>
          </a:lstStyle>
          <a:p>
            <a:r>
              <a:t>American Modelica &amp; FMI Conference 2026 · Georgia Tech, Atlanta · 12–14 Oct 2026</a:t>
            </a:r>
          </a:p>
        </p:txBody>
      </p:sp>
      <p:sp>
        <p:nvSpPr>
          <p:cNvPr id="178" name="Slide Number"/>
          <p:cNvSpPr>
            <a:spLocks noGrp="1"/>
          </p:cNvSpPr>
          <p:nvPr>
            <p:ph type="sldNum" sz="quarter" idx="12"/>
          </p:nvPr>
        </p:nvSpPr>
        <p:spPr>
          <a:xfrm>
            <a:off x="11018520" y="6501384"/>
            <a:ext cx="868680" cy="20116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B14 · Compiler and linker settings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t>Common to Debug and Release</a:t>
            </a:r>
          </a:p>
          <a:p>
            <a:pPr lvl="1"/>
            <a:r>
              <a:rPr b="1"/>
              <a:t>Toolchain</a:t>
            </a:r>
            <a:r>
              <a:t> — GNU Tools for STM32 14.3.rel1.</a:t>
            </a:r>
          </a:p>
          <a:p>
            <a:pPr lvl="1"/>
            <a:r>
              <a:rPr b="1"/>
              <a:t>Runtime</a:t>
            </a:r>
            <a:r>
              <a:t> — reduced C runtime (</a:t>
            </a:r>
            <a:r>
              <a:rPr>
                <a:latin typeface="CMU Typewriter Text"/>
              </a:rPr>
              <a:t>--specs=nano.specs</a:t>
            </a:r>
            <a:r>
              <a:t>) and hardware floating-point ABI (</a:t>
            </a:r>
            <a:r>
              <a:rPr>
                <a:latin typeface="CMU Typewriter Text"/>
              </a:rPr>
              <a:t>-mfloat-abi=hard</a:t>
            </a:r>
            <a:r>
              <a:t>): FPv4-SP-D16 on the controller, FPv5-D16 on the plant.</a:t>
            </a:r>
          </a:p>
          <a:p>
            <a:pPr lvl="1"/>
            <a:r>
              <a:rPr b="1"/>
              <a:t>Assembler</a:t>
            </a:r>
            <a:r>
              <a:t> — </a:t>
            </a:r>
            <a:r>
              <a:rPr>
                <a:latin typeface="CMU Typewriter Text"/>
              </a:rPr>
              <a:t>-nostdinc</a:t>
            </a:r>
            <a:r>
              <a:t>, so no third-party macros can leak in.</a:t>
            </a:r>
          </a:p>
          <a:p>
            <a:pPr lvl="1"/>
            <a:r>
              <a:rPr b="1"/>
              <a:t>Compiler</a:t>
            </a:r>
            <a:r>
              <a:t> — ISO C18 (</a:t>
            </a:r>
            <a:r>
              <a:rPr>
                <a:latin typeface="CMU Typewriter Text"/>
              </a:rPr>
              <a:t>-std=c18</a:t>
            </a:r>
            <a:r>
              <a:t>), everything warned (</a:t>
            </a:r>
            <a:r>
              <a:rPr>
                <a:latin typeface="CMU Typewriter Text"/>
              </a:rPr>
              <a:t>-Wall -Wextra -pedantic -Wconversion</a:t>
            </a:r>
            <a:r>
              <a:t> and more).</a:t>
            </a:r>
          </a:p>
          <a:p>
            <a:pPr lvl="1"/>
            <a:r>
              <a:rPr b="1"/>
              <a:t>Linker</a:t>
            </a:r>
            <a:r>
              <a:t> — </a:t>
            </a:r>
            <a:r>
              <a:rPr>
                <a:latin typeface="CMU Typewriter Text"/>
              </a:rPr>
              <a:t>-nodefaultlibs</a:t>
            </a:r>
            <a:r>
              <a:t> and </a:t>
            </a:r>
            <a:r>
              <a:rPr>
                <a:latin typeface="CMU Typewriter Text"/>
              </a:rPr>
              <a:t>--specs=nosys.specs</a:t>
            </a:r>
            <a:r>
              <a:t>, to prove the production code is self-contained.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r>
              <a:rPr dirty="0"/>
              <a:t>Where the two builds differ</a:t>
            </a:r>
          </a:p>
          <a:p>
            <a:pPr lvl="1"/>
            <a:r>
              <a:rPr b="1" dirty="0"/>
              <a:t>Debug</a:t>
            </a:r>
            <a:r>
              <a:rPr dirty="0"/>
              <a:t> — </a:t>
            </a:r>
            <a:r>
              <a:rPr dirty="0">
                <a:latin typeface="CMU Typewriter Text"/>
              </a:rPr>
              <a:t>-g3</a:t>
            </a:r>
            <a:r>
              <a:rPr dirty="0"/>
              <a:t>, </a:t>
            </a:r>
            <a:r>
              <a:rPr dirty="0">
                <a:latin typeface="CMU Typewriter Text"/>
              </a:rPr>
              <a:t>-DDEBUG</a:t>
            </a:r>
            <a:r>
              <a:rPr dirty="0"/>
              <a:t>, </a:t>
            </a:r>
            <a:r>
              <a:rPr dirty="0">
                <a:latin typeface="CMU Typewriter Text"/>
              </a:rPr>
              <a:t>-O0</a:t>
            </a:r>
            <a:r>
              <a:rPr dirty="0"/>
              <a:t>; stack-usage and cyclomatic-complexity analysis enabled.</a:t>
            </a:r>
          </a:p>
          <a:p>
            <a:pPr lvl="1"/>
            <a:r>
              <a:rPr b="1" dirty="0"/>
              <a:t>Release</a:t>
            </a:r>
            <a:r>
              <a:rPr dirty="0"/>
              <a:t> — no debug info, </a:t>
            </a:r>
            <a:r>
              <a:rPr dirty="0">
                <a:latin typeface="CMU Typewriter Text"/>
              </a:rPr>
              <a:t>-O3</a:t>
            </a:r>
            <a:r>
              <a:rPr dirty="0"/>
              <a:t>.</a:t>
            </a:r>
          </a:p>
          <a:p>
            <a:r>
              <a:rPr dirty="0"/>
              <a:t>What the settings proved</a:t>
            </a:r>
          </a:p>
          <a:p>
            <a:pPr lvl="1"/>
            <a:r>
              <a:rPr b="1" dirty="0"/>
              <a:t>The </a:t>
            </a:r>
            <a:r>
              <a:rPr b="1" dirty="0" err="1"/>
              <a:t>eFMU</a:t>
            </a:r>
            <a:r>
              <a:rPr b="1" dirty="0"/>
              <a:t> production code is warning-free</a:t>
            </a:r>
            <a:r>
              <a:rPr dirty="0"/>
              <a:t> under that warning set, apart from the 32-</a:t>
            </a:r>
            <a:r>
              <a:rPr lang="en-US" dirty="0"/>
              <a:t>Bit</a:t>
            </a:r>
            <a:r>
              <a:rPr dirty="0"/>
              <a:t> narrowing conversions already explained — while the STM32 driver and standard-library code produces many warnings.</a:t>
            </a:r>
          </a:p>
          <a:p>
            <a:pPr lvl="1"/>
            <a:r>
              <a:rPr b="1" dirty="0"/>
              <a:t>It links without default libraries</a:t>
            </a:r>
            <a:r>
              <a:rPr dirty="0"/>
              <a:t> — confirming no dependency beyond basic C Standard Library routines.</a:t>
            </a:r>
          </a:p>
          <a:p>
            <a:r>
              <a:rPr dirty="0">
                <a:solidFill>
                  <a:schemeClr val="accent1"/>
                </a:solidFill>
              </a:rPr>
              <a:t>All results in the talk are Release builds unless stated otherwise.</a:t>
            </a:r>
          </a:p>
        </p:txBody>
      </p:sp>
      <p:sp>
        <p:nvSpPr>
          <p:cNvPr id="146" name="Footer"/>
          <p:cNvSpPr>
            <a:spLocks noGrp="1"/>
          </p:cNvSpPr>
          <p:nvPr>
            <p:ph type="ftr" sz="quarter" idx="11"/>
          </p:nvPr>
        </p:nvSpPr>
        <p:spPr>
          <a:xfrm>
            <a:off x="6400800" y="6675120"/>
            <a:ext cx="5486400" cy="16459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</a:defRPr>
            </a:lvl1pPr>
          </a:lstStyle>
          <a:p>
            <a:r>
              <a:t>American Modelica &amp; FMI Conference 2026 · Georgia Tech, Atlanta · 12–14 Oct 2026</a:t>
            </a:r>
          </a:p>
        </p:txBody>
      </p:sp>
      <p:sp>
        <p:nvSpPr>
          <p:cNvPr id="147" name="Slide Number"/>
          <p:cNvSpPr>
            <a:spLocks noGrp="1"/>
          </p:cNvSpPr>
          <p:nvPr>
            <p:ph type="sldNum" sz="quarter" idx="12"/>
          </p:nvPr>
        </p:nvSpPr>
        <p:spPr>
          <a:xfrm>
            <a:off x="11018520" y="6501384"/>
            <a:ext cx="868680" cy="20116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B15 · Open-loop frequency response of the controller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lvl="1"/>
            <a:r>
              <a:rPr b="1"/>
              <a:t>The controller alone</a:t>
            </a:r>
            <a:r>
              <a:t> — the NUCLEO-L476RG running the PSS eFMU, measured with the Analog Discovery 3 network analyser, against the Dymola linearisation of the model in Figure 4 (D).</a:t>
            </a:r>
          </a:p>
          <a:p>
            <a:pPr lvl="1"/>
            <a:r>
              <a:rPr b="1"/>
              <a:t>Excellent agreement</a:t>
            </a:r>
            <a:r>
              <a:t> across the sweep confirms the controller eFMU runs as designed.</a:t>
            </a:r>
          </a:p>
          <a:p>
            <a:r>
              <a:rPr>
                <a:solidFill>
                  <a:schemeClr val="accent1"/>
                </a:solidFill>
              </a:rPr>
              <a:t>The diagnostic worth remembering</a:t>
            </a:r>
          </a:p>
          <a:p>
            <a:pPr lvl="1"/>
            <a:r>
              <a:rPr b="1"/>
              <a:t>If the board timer did not exactly match the sampling period set in the eFMU export, the curve would keep its shape and shift horizontally along the frequency axis.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>
          <a:xfrm>
            <a:off x="6720840" y="5257217"/>
            <a:ext cx="5105095" cy="475488"/>
          </a:xfrm>
        </p:spPr>
        <p:txBody>
          <a:bodyPr wrap="square"/>
          <a:lstStyle/>
          <a:p>
            <a:r>
              <a:t>Controller frequency response — blue: hardware, red: Dymola linearised model</a:t>
            </a:r>
          </a:p>
        </p:txBody>
      </p:sp>
      <p:sp>
        <p:nvSpPr>
          <p:cNvPr id="128" name="Footer"/>
          <p:cNvSpPr>
            <a:spLocks noGrp="1"/>
          </p:cNvSpPr>
          <p:nvPr>
            <p:ph type="ftr" sz="quarter" idx="11"/>
          </p:nvPr>
        </p:nvSpPr>
        <p:spPr>
          <a:xfrm>
            <a:off x="6400800" y="6675120"/>
            <a:ext cx="5486400" cy="16459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</a:defRPr>
            </a:lvl1pPr>
          </a:lstStyle>
          <a:p>
            <a:r>
              <a:t>American Modelica &amp; FMI Conference 2026 · Georgia Tech, Atlanta · 12–14 Oct 2026</a:t>
            </a:r>
          </a:p>
        </p:txBody>
      </p:sp>
      <p:sp>
        <p:nvSpPr>
          <p:cNvPr id="129" name="Slide Number"/>
          <p:cNvSpPr>
            <a:spLocks noGrp="1"/>
          </p:cNvSpPr>
          <p:nvPr>
            <p:ph type="sldNum" sz="quarter" idx="12"/>
          </p:nvPr>
        </p:nvSpPr>
        <p:spPr>
          <a:xfrm>
            <a:off x="11018520" y="6501384"/>
            <a:ext cx="868680" cy="20116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/>
              <a:t>36</a:t>
            </a:fld>
            <a:endParaRPr lang="en-US"/>
          </a:p>
        </p:txBody>
      </p:sp>
      <p:pic>
        <p:nvPicPr>
          <p:cNvPr id="130" name="Picture 129" descr="sec06-PSS-b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914400"/>
            <a:ext cx="5105095" cy="4233089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B16 · A commercial excitation controller and its PSS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760" y="914400"/>
            <a:ext cx="9418320" cy="2103120"/>
          </a:xfrm>
        </p:spPr>
        <p:txBody>
          <a:bodyPr wrap="square"/>
          <a:lstStyle/>
          <a:p>
            <a:pPr lvl="1"/>
            <a:r>
              <a:rPr b="1"/>
              <a:t>The vendor fixes the structure</a:t>
            </a:r>
            <a:r>
              <a:t> — washouts, a ΔP integrator, a ramp-tracking filter, lead-lag stages and a PID, each with its own test points. The engineer sets parameters, not topology.</a:t>
            </a:r>
          </a:p>
          <a:p>
            <a:pPr lvl="1"/>
            <a:r>
              <a:rPr b="1"/>
              <a:t>An external PSS input exists</a:t>
            </a:r>
            <a:r>
              <a:t> on such controllers, which is the port a redesigned stabiliser would ultimately use.</a:t>
            </a:r>
          </a:p>
          <a:p>
            <a:pPr lvl="1"/>
            <a:r>
              <a:rPr b="1"/>
              <a:t>This is the gap the talk is about</a:t>
            </a:r>
            <a:r>
              <a:t> — between a physics model in Modelica and a parameter set typed into a device like this, with nothing traceable in between.</a:t>
            </a:r>
          </a:p>
        </p:txBody>
      </p:sp>
      <p:sp>
        <p:nvSpPr>
          <p:cNvPr id="128" name="Footer"/>
          <p:cNvSpPr>
            <a:spLocks noGrp="1"/>
          </p:cNvSpPr>
          <p:nvPr>
            <p:ph type="ftr" sz="quarter" idx="11"/>
          </p:nvPr>
        </p:nvSpPr>
        <p:spPr>
          <a:xfrm>
            <a:off x="6400800" y="6675120"/>
            <a:ext cx="5486400" cy="16459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</a:defRPr>
            </a:lvl1pPr>
          </a:lstStyle>
          <a:p>
            <a:r>
              <a:t>American Modelica &amp; FMI Conference 2026 · Georgia Tech, Atlanta · 12–14 Oct 2026</a:t>
            </a:r>
          </a:p>
        </p:txBody>
      </p:sp>
      <p:sp>
        <p:nvSpPr>
          <p:cNvPr id="129" name="Slide Number"/>
          <p:cNvSpPr>
            <a:spLocks noGrp="1"/>
          </p:cNvSpPr>
          <p:nvPr>
            <p:ph type="sldNum" sz="quarter" idx="12"/>
          </p:nvPr>
        </p:nvSpPr>
        <p:spPr>
          <a:xfrm>
            <a:off x="11018520" y="6501384"/>
            <a:ext cx="868680" cy="20116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/>
              <a:t>37</a:t>
            </a:fld>
            <a:endParaRPr lang="en-US"/>
          </a:p>
        </p:txBody>
      </p:sp>
      <p:pic>
        <p:nvPicPr>
          <p:cNvPr id="130" name="Picture 129" descr="abb_unitrol1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4600" y="914400"/>
            <a:ext cx="1402080" cy="2103120"/>
          </a:xfrm>
          <a:prstGeom prst="rect">
            <a:avLst/>
          </a:prstGeom>
        </p:spPr>
      </p:pic>
      <p:sp>
        <p:nvSpPr>
          <p:cNvPr id="131" name="TextBox 130"/>
          <p:cNvSpPr txBox="1"/>
          <p:nvPr/>
        </p:nvSpPr>
        <p:spPr>
          <a:xfrm>
            <a:off x="365760" y="3090672"/>
            <a:ext cx="11457432" cy="310896"/>
          </a:xfrm>
          <a:prstGeom prst="rect">
            <a:avLst/>
          </a:prstGeom>
          <a:noFill/>
        </p:spPr>
        <p:txBody>
          <a:bodyPr wrap="square" lIns="27432" tIns="0" rIns="27432" bIns="0" anchor="t">
            <a:normAutofit/>
          </a:bodyPr>
          <a:lstStyle/>
          <a:p>
            <a:pPr algn="ctr"/>
            <a:r>
              <a:rPr sz="1100" b="0" i="1">
                <a:solidFill>
                  <a:schemeClr val="accent3"/>
                </a:solidFill>
              </a:rPr>
              <a:t>The vendor's PSS chain: wash-outs, ΔP integrator, ramp-tracking filter, lead-lags, PID — structure fixed, parameters tunable</a:t>
            </a:r>
          </a:p>
        </p:txBody>
      </p:sp>
      <p:pic>
        <p:nvPicPr>
          <p:cNvPr id="132" name="Picture 131" descr="abb_pss_block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601" y="3438144"/>
            <a:ext cx="10983750" cy="269748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B17 · The closed-loop signal injection circuit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t>Why a circuit was needed at all</a:t>
            </a:r>
          </a:p>
          <a:p>
            <a:pPr lvl="1"/>
            <a:r>
              <a:rPr b="1"/>
              <a:t>The STM32 ADC is single-supply</a:t>
            </a:r>
            <a:r>
              <a:t> — it operates on 3.3 V logic levels and cannot physically process negative voltages.</a:t>
            </a:r>
          </a:p>
          <a:p>
            <a:pPr lvl="1"/>
            <a:r>
              <a:rPr b="1"/>
              <a:t>A standard 0 V-offset AC sweep would clip</a:t>
            </a:r>
            <a:r>
              <a:t> and distort non-linearly, making the measurement meaningless.</a:t>
            </a:r>
          </a:p>
          <a:p>
            <a:r>
              <a:t>What was built</a:t>
            </a:r>
          </a:p>
          <a:p>
            <a:pPr lvl="1"/>
            <a:r>
              <a:rPr b="1"/>
              <a:t>A non-inverting summing amplifier</a:t>
            </a:r>
            <a:r>
              <a:t> around a MAX474 operational amplifier.</a:t>
            </a:r>
          </a:p>
          <a:p>
            <a:pPr lvl="1"/>
            <a:r>
              <a:rPr b="1"/>
              <a:t>It sums</a:t>
            </a:r>
            <a:r>
              <a:t> the plant's nominal steady-state speed output, a flat 1.0 V DC, with the ±50 mV, 0 V-offset AC stimulus from the Analog Discovery 3 pin </a:t>
            </a:r>
            <a:r>
              <a:rPr>
                <a:latin typeface="CMU Typewriter Text"/>
              </a:rPr>
              <a:t>W1</a:t>
            </a:r>
            <a:r>
              <a:t>.</a:t>
            </a:r>
          </a:p>
          <a:p>
            <a:pPr lvl="1"/>
            <a:r>
              <a:rPr b="1"/>
              <a:t>The result</a:t>
            </a:r>
            <a:r>
              <a:t> is a safely biased signal fluctuating between 0.95 V and 1.05 V into the controller's ADC.</a:t>
            </a:r>
          </a:p>
          <a:p>
            <a:pPr lvl="1"/>
            <a:r>
              <a:rPr b="1"/>
              <a:t>Measurement</a:t>
            </a:r>
            <a:r>
              <a:t> — the stimulus on channel </a:t>
            </a:r>
            <a:r>
              <a:rPr>
                <a:latin typeface="CMU Typewriter Text"/>
              </a:rPr>
              <a:t>C1</a:t>
            </a:r>
            <a:r>
              <a:t> and the plant's speed output on </a:t>
            </a:r>
            <a:r>
              <a:rPr>
                <a:latin typeface="CMU Typewriter Text"/>
              </a:rPr>
              <a:t>C2</a:t>
            </a:r>
            <a:r>
              <a:t>, which captures the true closed-loop transfer function.</a:t>
            </a:r>
          </a:p>
        </p:txBody>
      </p:sp>
      <p:sp>
        <p:nvSpPr>
          <p:cNvPr id="122" name="Footer"/>
          <p:cNvSpPr>
            <a:spLocks noGrp="1"/>
          </p:cNvSpPr>
          <p:nvPr>
            <p:ph type="ftr" sz="quarter" idx="11"/>
          </p:nvPr>
        </p:nvSpPr>
        <p:spPr>
          <a:xfrm>
            <a:off x="6400800" y="6675120"/>
            <a:ext cx="5486400" cy="16459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</a:defRPr>
            </a:lvl1pPr>
          </a:lstStyle>
          <a:p>
            <a:r>
              <a:t>American Modelica &amp; FMI Conference 2026 · Georgia Tech, Atlanta · 12–14 Oct 2026</a:t>
            </a:r>
          </a:p>
        </p:txBody>
      </p:sp>
      <p:sp>
        <p:nvSpPr>
          <p:cNvPr id="123" name="Slide Number"/>
          <p:cNvSpPr>
            <a:spLocks noGrp="1"/>
          </p:cNvSpPr>
          <p:nvPr>
            <p:ph type="sldNum" sz="quarter" idx="12"/>
          </p:nvPr>
        </p:nvSpPr>
        <p:spPr>
          <a:xfrm>
            <a:off x="11018520" y="6501384"/>
            <a:ext cx="868680" cy="20116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B18 · The variable-load plant variant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t>Prototyped, deployed and tested — left out of the paper for space</a:t>
            </a:r>
          </a:p>
          <a:p>
            <a:pPr lvl="1"/>
            <a:r>
              <a:rPr b="1"/>
              <a:t>A more advanced plant model</a:t>
            </a:r>
            <a:r>
              <a:t> supporting variable loads through an additional analog input, changed interactively with a potentiometer.</a:t>
            </a:r>
          </a:p>
          <a:p>
            <a:pPr lvl="1"/>
            <a:r>
              <a:rPr b="1"/>
              <a:t>The extra input is mapped to </a:t>
            </a:r>
            <a:r>
              <a:rPr>
                <a:latin typeface="CMU Typewriter Text"/>
              </a:rPr>
              <a:t>PC0</a:t>
            </a:r>
            <a:r>
              <a:rPr b="1"/>
              <a:t> deliberately</a:t>
            </a:r>
            <a:r>
              <a:t>, because that pin routes to an entirely independent converter, ADC2 — specifically </a:t>
            </a:r>
            <a:r>
              <a:rPr>
                <a:latin typeface="CMU Typewriter Text"/>
              </a:rPr>
              <a:t>ADC123_INP10</a:t>
            </a:r>
            <a:r>
              <a:t>.</a:t>
            </a:r>
          </a:p>
          <a:p>
            <a:pPr lvl="1"/>
            <a:r>
              <a:rPr b="1"/>
              <a:t>Why that matters</a:t>
            </a:r>
            <a:r>
              <a:t> — distributing the analog inputs across separate dedicated ADCs avoids “scan mode” channel switching and DMA pipelines, which keeps sampling deterministic and low-latency inside the 0.2 ms timer interrupt.</a:t>
            </a:r>
          </a:p>
          <a:p>
            <a:r>
              <a:rPr>
                <a:solidFill>
                  <a:schemeClr val="accent1"/>
                </a:solidFill>
              </a:rPr>
              <a:t>The same workflow, a different model: no change to the toolchain was needed.</a:t>
            </a:r>
          </a:p>
        </p:txBody>
      </p:sp>
      <p:sp>
        <p:nvSpPr>
          <p:cNvPr id="122" name="Footer"/>
          <p:cNvSpPr>
            <a:spLocks noGrp="1"/>
          </p:cNvSpPr>
          <p:nvPr>
            <p:ph type="ftr" sz="quarter" idx="11"/>
          </p:nvPr>
        </p:nvSpPr>
        <p:spPr>
          <a:xfrm>
            <a:off x="6400800" y="6675120"/>
            <a:ext cx="5486400" cy="16459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</a:defRPr>
            </a:lvl1pPr>
          </a:lstStyle>
          <a:p>
            <a:r>
              <a:t>American Modelica &amp; FMI Conference 2026 · Georgia Tech, Atlanta · 12–14 Oct 2026</a:t>
            </a:r>
          </a:p>
        </p:txBody>
      </p:sp>
      <p:sp>
        <p:nvSpPr>
          <p:cNvPr id="123" name="Slide Number"/>
          <p:cNvSpPr>
            <a:spLocks noGrp="1"/>
          </p:cNvSpPr>
          <p:nvPr>
            <p:ph type="sldNum" sz="quarter" idx="12"/>
          </p:nvPr>
        </p:nvSpPr>
        <p:spPr>
          <a:xfrm>
            <a:off x="11018520" y="6501384"/>
            <a:ext cx="868680" cy="20116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B19 · Related work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dirty="0"/>
              <a:t>Prior real-time controller work</a:t>
            </a:r>
          </a:p>
          <a:p>
            <a:pPr lvl="1"/>
            <a:r>
              <a:rPr dirty="0"/>
              <a:t>Wide-area controllers on National Instruments hardware; industrial HVDC trials by Red </a:t>
            </a:r>
            <a:r>
              <a:rPr dirty="0" err="1"/>
              <a:t>Eléctrica</a:t>
            </a:r>
            <a:r>
              <a:rPr dirty="0"/>
              <a:t> and RTE show that aligning simulation models with hardware </a:t>
            </a:r>
            <a:r>
              <a:rPr dirty="0" err="1"/>
              <a:t>behaviour</a:t>
            </a:r>
            <a:r>
              <a:rPr dirty="0"/>
              <a:t> is now paramount.</a:t>
            </a:r>
          </a:p>
          <a:p>
            <a:r>
              <a:rPr dirty="0"/>
              <a:t>Industrial platforms</a:t>
            </a:r>
          </a:p>
          <a:p>
            <a:pPr lvl="1"/>
            <a:r>
              <a:rPr b="1" dirty="0"/>
              <a:t>GE's </a:t>
            </a:r>
            <a:r>
              <a:rPr b="1" dirty="0" err="1"/>
              <a:t>PhasorController</a:t>
            </a:r>
            <a:r>
              <a:rPr dirty="0"/>
              <a:t> uses deterministic PLC engines for real-time grid control — but relies on manual imperative programming rather than automated synthesis, which severs traceability between the physical model and the implementation.</a:t>
            </a:r>
          </a:p>
          <a:p>
            <a:pPr lvl="1"/>
            <a:r>
              <a:rPr b="1" dirty="0"/>
              <a:t>Terna</a:t>
            </a:r>
            <a:r>
              <a:rPr dirty="0"/>
              <a:t> proposes online PSS tuning from estimation; our own prior work argues for continuous controller redesign.</a:t>
            </a:r>
          </a:p>
          <a:p>
            <a:r>
              <a:rPr dirty="0"/>
              <a:t>Model exchange</a:t>
            </a:r>
          </a:p>
          <a:p>
            <a:pPr lvl="1"/>
            <a:r>
              <a:rPr b="1" dirty="0"/>
              <a:t>The IEEE/CIGRE DLLs Guideline (ICDMS)</a:t>
            </a:r>
            <a:r>
              <a:rPr dirty="0"/>
              <a:t> distributes vendor algorithms as precompiled DLLs — still black boxes, likely hand-written, not suitable for real-time simulation, so CHiL testing stays limited.</a:t>
            </a:r>
          </a:p>
          <a:p>
            <a:pPr lvl="1"/>
            <a:r>
              <a:rPr b="1" dirty="0"/>
              <a:t>Modelica and FMI</a:t>
            </a:r>
            <a:r>
              <a:rPr dirty="0"/>
              <a:t> have been used to run OpenIPSL models directly on </a:t>
            </a:r>
            <a:r>
              <a:rPr dirty="0" err="1"/>
              <a:t>dSPACE</a:t>
            </a:r>
            <a:r>
              <a:rPr dirty="0"/>
              <a:t> hardware.</a:t>
            </a:r>
          </a:p>
          <a:p>
            <a:r>
              <a:rPr dirty="0" err="1">
                <a:solidFill>
                  <a:schemeClr val="accent1"/>
                </a:solidFill>
              </a:rPr>
              <a:t>eFMI</a:t>
            </a:r>
            <a:r>
              <a:rPr dirty="0">
                <a:solidFill>
                  <a:schemeClr val="accent1"/>
                </a:solidFill>
              </a:rPr>
              <a:t> is proven in automotive applications; its use in power system control is first explored in this paper.</a:t>
            </a:r>
          </a:p>
        </p:txBody>
      </p:sp>
      <p:sp>
        <p:nvSpPr>
          <p:cNvPr id="122" name="Footer"/>
          <p:cNvSpPr>
            <a:spLocks noGrp="1"/>
          </p:cNvSpPr>
          <p:nvPr>
            <p:ph type="ftr" sz="quarter" idx="11"/>
          </p:nvPr>
        </p:nvSpPr>
        <p:spPr>
          <a:xfrm>
            <a:off x="6400800" y="6675120"/>
            <a:ext cx="5486400" cy="16459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</a:defRPr>
            </a:lvl1pPr>
          </a:lstStyle>
          <a:p>
            <a:r>
              <a:t>American Modelica &amp; FMI Conference 2026 · Georgia Tech, Atlanta · 12–14 Oct 2026</a:t>
            </a:r>
          </a:p>
        </p:txBody>
      </p:sp>
      <p:sp>
        <p:nvSpPr>
          <p:cNvPr id="123" name="Slide Number"/>
          <p:cNvSpPr>
            <a:spLocks noGrp="1"/>
          </p:cNvSpPr>
          <p:nvPr>
            <p:ph type="sldNum" sz="quarter" idx="12"/>
          </p:nvPr>
        </p:nvSpPr>
        <p:spPr>
          <a:xfrm>
            <a:off x="11018520" y="6501384"/>
            <a:ext cx="868680" cy="20116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B20 · Acknowledgments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lvl="1"/>
            <a:r>
              <a:rPr b="1"/>
              <a:t>Fabio Ballari and the CATIA® Champions program at Dassault Systèmes®</a:t>
            </a:r>
            <a:r>
              <a:t>, for complimentary access to the 3DEXPERIENCE® platform and its Systems Software Production Engineer capabilities, which enabled the early development of this work.</a:t>
            </a:r>
          </a:p>
          <a:p>
            <a:pPr lvl="1"/>
            <a:r>
              <a:rPr b="1"/>
              <a:t>Dr. Christopher R. Laughman, Mitsubishi Electric Research Laboratories</a:t>
            </a:r>
            <a:r>
              <a:t>, for an unrestricted gift grant to Rensselaer Polytechnic Institute that funded the embedded hardware behind this project.</a:t>
            </a:r>
          </a:p>
          <a:p>
            <a:pPr lvl="1"/>
            <a:r>
              <a:rPr b="1"/>
              <a:t>Daniel Marjamäki and Magnus Janagård, Cppcheck Solutions AB</a:t>
            </a:r>
            <a:r>
              <a:t>, for providing a free licence of Cppcheck Premium.</a:t>
            </a:r>
          </a:p>
        </p:txBody>
      </p:sp>
      <p:sp>
        <p:nvSpPr>
          <p:cNvPr id="122" name="Footer"/>
          <p:cNvSpPr>
            <a:spLocks noGrp="1"/>
          </p:cNvSpPr>
          <p:nvPr>
            <p:ph type="ftr" sz="quarter" idx="11"/>
          </p:nvPr>
        </p:nvSpPr>
        <p:spPr>
          <a:xfrm>
            <a:off x="6400800" y="6675120"/>
            <a:ext cx="5486400" cy="16459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</a:defRPr>
            </a:lvl1pPr>
          </a:lstStyle>
          <a:p>
            <a:r>
              <a:t>American Modelica &amp; FMI Conference 2026 · Georgia Tech, Atlanta · 12–14 Oct 2026</a:t>
            </a:r>
          </a:p>
        </p:txBody>
      </p:sp>
      <p:sp>
        <p:nvSpPr>
          <p:cNvPr id="123" name="Slide Number"/>
          <p:cNvSpPr>
            <a:spLocks noGrp="1"/>
          </p:cNvSpPr>
          <p:nvPr>
            <p:ph type="sldNum" sz="quarter" idx="12"/>
          </p:nvPr>
        </p:nvSpPr>
        <p:spPr>
          <a:xfrm>
            <a:off x="11018520" y="6501384"/>
            <a:ext cx="868680" cy="20116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B21 · Tools and versions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t>Toolchain</a:t>
            </a:r>
          </a:p>
          <a:p>
            <a:pPr lvl="1"/>
            <a:r>
              <a:rPr b="1"/>
              <a:t>Dymola® 2026x Refresh 1</a:t>
            </a:r>
            <a:r>
              <a:t> — modelling, MiL, eFMU generation, SiL. Requires the Dymola Source Code Generation option.</a:t>
            </a:r>
          </a:p>
          <a:p>
            <a:pPr lvl="1"/>
            <a:r>
              <a:rPr b="1"/>
              <a:t>Cppcheck® Premium 26.3.0</a:t>
            </a:r>
            <a:r>
              <a:t> and clang-tidy (Clang Tools 19.1.5) — code quality and MISRA C:2023.</a:t>
            </a:r>
          </a:p>
          <a:p>
            <a:pPr lvl="1"/>
            <a:r>
              <a:rPr b="1"/>
              <a:t>STM32CubeMX 6.17.0</a:t>
            </a:r>
            <a:r>
              <a:t> with STM32CubeH7 1.13.0 (HAL, LL drivers, CMSIS; no middleware used).</a:t>
            </a:r>
          </a:p>
          <a:p>
            <a:pPr lvl="1"/>
            <a:r>
              <a:rPr b="1"/>
              <a:t>STM32CubeIDE 2.1.0</a:t>
            </a:r>
            <a:r>
              <a:t> — compilation and deployment.</a:t>
            </a:r>
          </a:p>
          <a:p>
            <a:pPr lvl="1"/>
            <a:r>
              <a:rPr b="1"/>
              <a:t>WaveForms 3.25.1</a:t>
            </a:r>
            <a:r>
              <a:t> with a Digilent® Analog Discovery 3.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r>
              <a:t>Licensing</a:t>
            </a:r>
          </a:p>
          <a:p>
            <a:pPr lvl="1"/>
            <a:r>
              <a:rPr b="1"/>
              <a:t>Everything except Dymola and Cppcheck Premium is free</a:t>
            </a:r>
            <a:r>
              <a:t>.</a:t>
            </a:r>
          </a:p>
          <a:p>
            <a:pPr lvl="1"/>
            <a:r>
              <a:rPr b="1"/>
              <a:t>Cppcheck has an open-source version</a:t>
            </a:r>
            <a:r>
              <a:t> that could have been used; its MISRA C:2023 and SEI CERT C coverage is inferior to Premium, which carries TÜV SÜD® certification against EN 50128, EN 50657, EN 50716, IEC 61508 and ISO 26262.</a:t>
            </a:r>
          </a:p>
          <a:p>
            <a:r>
              <a:t>The repository</a:t>
            </a:r>
          </a:p>
          <a:p>
            <a:pPr lvl="1"/>
            <a:r>
              <a:rPr>
                <a:latin typeface="CMU Typewriter Text"/>
              </a:rPr>
              <a:t>github.com/ALSETLab/efmi-pss-use-case</a:t>
            </a:r>
          </a:p>
          <a:p>
            <a:pPr lvl="1"/>
            <a:r>
              <a:t>3-Clause BSD. Models, eFMUs, STM32CubeIDE projects, raw measurements, post-processing scripts, and the full code-analysis logs.</a:t>
            </a:r>
          </a:p>
        </p:txBody>
      </p:sp>
      <p:sp>
        <p:nvSpPr>
          <p:cNvPr id="146" name="Footer"/>
          <p:cNvSpPr>
            <a:spLocks noGrp="1"/>
          </p:cNvSpPr>
          <p:nvPr>
            <p:ph type="ftr" sz="quarter" idx="11"/>
          </p:nvPr>
        </p:nvSpPr>
        <p:spPr>
          <a:xfrm>
            <a:off x="6400800" y="6675120"/>
            <a:ext cx="5486400" cy="16459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</a:defRPr>
            </a:lvl1pPr>
          </a:lstStyle>
          <a:p>
            <a:r>
              <a:t>American Modelica &amp; FMI Conference 2026 · Georgia Tech, Atlanta · 12–14 Oct 2026</a:t>
            </a:r>
          </a:p>
        </p:txBody>
      </p:sp>
      <p:sp>
        <p:nvSpPr>
          <p:cNvPr id="147" name="Slide Number"/>
          <p:cNvSpPr>
            <a:spLocks noGrp="1"/>
          </p:cNvSpPr>
          <p:nvPr>
            <p:ph type="sldNum" sz="quarter" idx="12"/>
          </p:nvPr>
        </p:nvSpPr>
        <p:spPr>
          <a:xfrm>
            <a:off x="11018520" y="6501384"/>
            <a:ext cx="868680" cy="20116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4184799"/>
            <a:ext cx="12191999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This work is licensed under a </a:t>
            </a: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  <a:hlinkClick r:id="rId2"/>
              </a:rPr>
              <a:t>CC BY-SA 4.0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  <a:hlinkClick r:id="rId2"/>
              </a:rPr>
              <a:t> license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1526" y="183180"/>
            <a:ext cx="4144562" cy="197435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1526" y="2665442"/>
            <a:ext cx="4144562" cy="14500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2226810"/>
            <a:ext cx="12192000" cy="2482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© 2021-2026, Luigi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Vanfretti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, Christoff Bürger,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  <a:hlinkClick r:id="rId5"/>
              </a:rPr>
              <a:t>Modelica Association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 and contributors.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743450"/>
            <a:ext cx="12191999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Modelica® is a registered trademark of the Modelica Association.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eFMI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® is a registered trademark of the Modelica Association.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FMI® is a registered trademark of the Modelica Association.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Third</a:t>
            </a:r>
            <a:r>
              <a:rPr kumimoji="0" lang="sv-S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 party marks and brands </a:t>
            </a:r>
            <a:r>
              <a:rPr kumimoji="0" lang="sv-S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are</a:t>
            </a:r>
            <a:r>
              <a:rPr kumimoji="0" lang="sv-S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 the </a:t>
            </a:r>
            <a:r>
              <a:rPr kumimoji="0" lang="sv-S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property</a:t>
            </a:r>
            <a:r>
              <a:rPr kumimoji="0" lang="sv-S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 </a:t>
            </a:r>
            <a:r>
              <a:rPr kumimoji="0" lang="sv-S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of</a:t>
            </a:r>
            <a:r>
              <a:rPr kumimoji="0" lang="sv-S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 </a:t>
            </a:r>
            <a:r>
              <a:rPr kumimoji="0" lang="sv-S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their</a:t>
            </a:r>
            <a:r>
              <a:rPr kumimoji="0" lang="sv-S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 </a:t>
            </a:r>
            <a:r>
              <a:rPr kumimoji="0" lang="sv-S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respective</a:t>
            </a:r>
            <a:r>
              <a:rPr kumimoji="0" lang="sv-S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 </a:t>
            </a:r>
            <a:r>
              <a:rPr kumimoji="0" lang="sv-S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holders</a:t>
            </a:r>
            <a:r>
              <a:rPr kumimoji="0" lang="sv-S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94757587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2"/>
  <p:tag name="COLORS" val="-2;-2;-2;-2;-1;-2"/>
</p:tagLst>
</file>

<file path=ppt/theme/theme1.xml><?xml version="1.0" encoding="utf-8"?>
<a:theme xmlns:a="http://schemas.openxmlformats.org/drawingml/2006/main" name="Simple Light">
  <a:themeElements>
    <a:clrScheme name="Grayscale">
      <a:dk1>
        <a:srgbClr val="000000"/>
      </a:dk1>
      <a:lt1>
        <a:srgbClr val="FFFFFF"/>
      </a:lt1>
      <a:dk2>
        <a:srgbClr val="33363A"/>
      </a:dk2>
      <a:lt2>
        <a:srgbClr val="F2F4F7"/>
      </a:lt2>
      <a:accent1>
        <a:srgbClr val="DB091C"/>
      </a:accent1>
      <a:accent2>
        <a:srgbClr val="0000FF"/>
      </a:accent2>
      <a:accent3>
        <a:srgbClr val="5A5F66"/>
      </a:accent3>
      <a:accent4>
        <a:srgbClr val="1F4E79"/>
      </a:accent4>
      <a:accent5>
        <a:srgbClr val="11777C"/>
      </a:accent5>
      <a:accent6>
        <a:srgbClr val="C05500"/>
      </a:accent6>
      <a:hlink>
        <a:srgbClr val="5F5F5F"/>
      </a:hlink>
      <a:folHlink>
        <a:srgbClr val="919191"/>
      </a:folHlink>
    </a:clrScheme>
    <a:fontScheme name="Office">
      <a:majorFont>
        <a:latin typeface="Geis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is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Card fill">
      <a:srgbClr val="F2F2F2"/>
    </a:custClr>
    <a:custClr name="Card line">
      <a:srgbClr val="BFBFBF"/>
    </a:custClr>
    <a:custClr name="Problem tint">
      <a:srgbClr val="FAF2F2"/>
    </a:custClr>
    <a:custClr name="Problem line">
      <a:srgbClr val="980000"/>
    </a:custClr>
    <a:custClr name="Solution tint">
      <a:srgbClr val="F2F4FA"/>
    </a:custClr>
    <a:custClr name="Solution line">
      <a:srgbClr val="0000FF"/>
    </a:custClr>
    <a:custClr name="Good tint">
      <a:srgbClr val="EEF7EE"/>
    </a:custClr>
    <a:custClr name="Good line">
      <a:srgbClr val="007733"/>
    </a:custClr>
    <a:custClr name="Code fill">
      <a:srgbClr val="F4F4EF"/>
    </a:custClr>
    <a:custClr name="Code line">
      <a:srgbClr val="CCCCC4"/>
    </a:custClr>
    <a:custClr name="KPI navy">
      <a:srgbClr val="1F4E79"/>
    </a:custClr>
    <a:custClr name="Arrow fill">
      <a:srgbClr val="F4B6B6"/>
    </a:custClr>
  </a:custClrLst>
</a:theme>
</file>

<file path=ppt/theme/theme2.xml><?xml version="1.0" encoding="utf-8"?>
<a:theme xmlns:a="http://schemas.openxmlformats.org/drawingml/2006/main" name="eFMI®">
  <a:themeElements>
    <a:clrScheme name="eFMI®">
      <a:dk1>
        <a:srgbClr val="5E676E"/>
      </a:dk1>
      <a:lt1>
        <a:srgbClr val="FFFFFF"/>
      </a:lt1>
      <a:dk2>
        <a:srgbClr val="5E676E"/>
      </a:dk2>
      <a:lt2>
        <a:srgbClr val="FFFFFF"/>
      </a:lt2>
      <a:accent1>
        <a:srgbClr val="C00000"/>
      </a:accent1>
      <a:accent2>
        <a:srgbClr val="F24D13"/>
      </a:accent2>
      <a:accent3>
        <a:srgbClr val="F9A081"/>
      </a:accent3>
      <a:accent4>
        <a:srgbClr val="C00000"/>
      </a:accent4>
      <a:accent5>
        <a:srgbClr val="F24D13"/>
      </a:accent5>
      <a:accent6>
        <a:srgbClr val="F9A081"/>
      </a:accent6>
      <a:hlink>
        <a:srgbClr val="0070C0"/>
      </a:hlink>
      <a:folHlink>
        <a:srgbClr val="0070C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arrow" w="med" len="med"/>
        </a:ln>
        <a:effectLst/>
      </a:spPr>
      <a:bodyPr vert="horz" wrap="square" lIns="90000" tIns="46800" rIns="36000" bIns="4680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rgbClr val="120C80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arrow" w="med" len="med"/>
        </a:ln>
        <a:effectLst/>
      </a:spPr>
      <a:bodyPr vert="horz" wrap="square" lIns="90000" tIns="46800" rIns="36000" bIns="4680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rgbClr val="120C80"/>
            </a:solidFill>
            <a:effectLst/>
            <a:latin typeface="Arial" charset="0"/>
            <a:cs typeface="Arial" charset="0"/>
          </a:defRPr>
        </a:defPPr>
      </a:lstStyle>
    </a:lnDef>
    <a:txDef>
      <a:spPr>
        <a:noFill/>
      </a:spPr>
      <a:bodyPr wrap="square" rtlCol="0">
        <a:spAutoFit/>
      </a:bodyPr>
      <a:lstStyle>
        <a:defPPr algn="l">
          <a:defRPr sz="1800" smtClean="0">
            <a:solidFill>
              <a:srgbClr val="5E676E"/>
            </a:solidFill>
          </a:defRPr>
        </a:defPPr>
      </a:lstStyle>
    </a:txDef>
  </a:objectDefaults>
  <a:extraClrSchemeLst>
    <a:extraClrScheme>
      <a:clrScheme name="Modelisar Template - Variant3 1">
        <a:dk1>
          <a:srgbClr val="000000"/>
        </a:dk1>
        <a:lt1>
          <a:srgbClr val="FFFFFF"/>
        </a:lt1>
        <a:dk2>
          <a:srgbClr val="263F6A"/>
        </a:dk2>
        <a:lt2>
          <a:srgbClr val="3F9AC9"/>
        </a:lt2>
        <a:accent1>
          <a:srgbClr val="D2D4D6"/>
        </a:accent1>
        <a:accent2>
          <a:srgbClr val="76787A"/>
        </a:accent2>
        <a:accent3>
          <a:srgbClr val="FFFFFF"/>
        </a:accent3>
        <a:accent4>
          <a:srgbClr val="000000"/>
        </a:accent4>
        <a:accent5>
          <a:srgbClr val="E5E6E8"/>
        </a:accent5>
        <a:accent6>
          <a:srgbClr val="6A6C6E"/>
        </a:accent6>
        <a:hlink>
          <a:srgbClr val="AFB2B4"/>
        </a:hlink>
        <a:folHlink>
          <a:srgbClr val="DFE0E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MI_Slides_Template.potx" id="{10F047D9-55E7-43FE-83BF-58446F4513A4}" vid="{A4E48E97-253A-4AA3-999E-8086CE400314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Geis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is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Geist"/>
        <a:font script="Hebr" typeface="Geis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Geis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386</TotalTime>
  <Words>9342</Words>
  <Application>Microsoft Office PowerPoint</Application>
  <PresentationFormat>Widescreen</PresentationFormat>
  <Paragraphs>756</Paragraphs>
  <Slides>43</Slides>
  <Notes>20</Notes>
  <HiddenSlides>22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43</vt:i4>
      </vt:variant>
    </vt:vector>
  </HeadingPairs>
  <TitlesOfParts>
    <vt:vector size="51" baseType="lpstr">
      <vt:lpstr>Calibri</vt:lpstr>
      <vt:lpstr>Malvinas Sans</vt:lpstr>
      <vt:lpstr>CMU Typewriter Text</vt:lpstr>
      <vt:lpstr>Arial</vt:lpstr>
      <vt:lpstr>Wingdings</vt:lpstr>
      <vt:lpstr>Geist</vt:lpstr>
      <vt:lpstr>Simple Light</vt:lpstr>
      <vt:lpstr>eFMI®</vt:lpstr>
      <vt:lpstr>Real-time Simulation and CHiL Testing of Power System Stabilizers on Microcontrollers with Modelica and eFMI</vt:lpstr>
      <vt:lpstr>The problem: Why damping control must be redesignable?</vt:lpstr>
      <vt:lpstr>The Evidence: Local oscillations — Need for new PSS and Re-design</vt:lpstr>
      <vt:lpstr>The gap: from control design to CHiL testing</vt:lpstr>
      <vt:lpstr>Our approach: one source of truth, generated down</vt:lpstr>
      <vt:lpstr>eFMI® in one slide</vt:lpstr>
      <vt:lpstr>OpenIPSL_CHIL: OpenIPSL for embedded real-time</vt:lpstr>
      <vt:lpstr>Re-factoring the controller for eFMI Export: need  µ-controller</vt:lpstr>
      <vt:lpstr>Re-factoring the Plant for eFMI Export: need  RT Simulator</vt:lpstr>
      <vt:lpstr>MiL: five variants, one answer – understanding re-factoring impact</vt:lpstr>
      <vt:lpstr>eFMU generation and SiL testing using Dymola</vt:lpstr>
      <vt:lpstr>eFMI generated code and exchange with FMI: 175× smaller FMUs</vt:lpstr>
      <vt:lpstr>Production code quality: MISRA C:2023 and SEI CERT C</vt:lpstr>
      <vt:lpstr>STM32 integration and the CHiL bench</vt:lpstr>
      <vt:lpstr>STM32 System Integration Code</vt:lpstr>
      <vt:lpstr>CHiL results: the controller does its job</vt:lpstr>
      <vt:lpstr>Closed-loop frequency response: model against hardware</vt:lpstr>
      <vt:lpstr>Real-time headroom: no overruns, with margin</vt:lpstr>
      <vt:lpstr>Conclusions — and the repository is open-source</vt:lpstr>
      <vt:lpstr>Thank you — Questions?</vt:lpstr>
      <vt:lpstr>Back-up slides</vt:lpstr>
      <vt:lpstr>B1 · OpenIPSL 3.1.0 library overview</vt:lpstr>
      <vt:lpstr>B2 · The generator unit: generator with ECS</vt:lpstr>
      <vt:lpstr>B3 · Reference simulation model for MiL</vt:lpstr>
      <vt:lpstr>B4 · CHiL setup model variants</vt:lpstr>
      <vt:lpstr>B5 · MiL error statistics, all five cases</vt:lpstr>
      <vt:lpstr>B6 · HighPassSimple — the replacement washout</vt:lpstr>
      <vt:lpstr>B7 · baseMachine — atan3 → atan2</vt:lpstr>
      <vt:lpstr>B8 · DymolaEmbedded eFMU configuration</vt:lpstr>
      <vt:lpstr>B9 · The eFMI button in Dymola’s Tools ribbon</vt:lpstr>
      <vt:lpstr>B10 · Production code export: FMI, Simulink, Arduino</vt:lpstr>
      <vt:lpstr>B11 · STM32CubeMX pin configuration (NUCLEO-L476RG)</vt:lpstr>
      <vt:lpstr>B12 · STM32CubeMX timer configuration (NUCLEO-H723ZG)</vt:lpstr>
      <vt:lpstr>B13 · The control loop in main.c</vt:lpstr>
      <vt:lpstr>B14 · Compiler and linker settings</vt:lpstr>
      <vt:lpstr>B15 · Open-loop frequency response of the controller</vt:lpstr>
      <vt:lpstr>B16 · A commercial excitation controller and its PSS</vt:lpstr>
      <vt:lpstr>B17 · The closed-loop signal injection circuit</vt:lpstr>
      <vt:lpstr>B18 · The variable-load plant variant</vt:lpstr>
      <vt:lpstr>B19 · Related work</vt:lpstr>
      <vt:lpstr>B20 · Acknowledgments</vt:lpstr>
      <vt:lpstr>B21 · Tools and versions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BÜRGER Christoff</cp:lastModifiedBy>
  <cp:revision>111</cp:revision>
  <dcterms:modified xsi:type="dcterms:W3CDTF">2026-10-28T21:17:42Z</dcterms:modified>
</cp:coreProperties>
</file>